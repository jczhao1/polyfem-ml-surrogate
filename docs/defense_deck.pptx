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1" r:id="rId6"/>
    <p:sldId id="262" r:id="rId7"/>
    <p:sldId id="263" r:id="rId8"/>
    <p:sldId id="274" r:id="rId9"/>
    <p:sldId id="264" r:id="rId10"/>
    <p:sldId id="265" r:id="rId11"/>
    <p:sldId id="266" r:id="rId12"/>
    <p:sldId id="275" r:id="rId13"/>
    <p:sldId id="260" r:id="rId14"/>
    <p:sldId id="283" r:id="rId15"/>
    <p:sldId id="282" r:id="rId16"/>
    <p:sldId id="281" r:id="rId17"/>
    <p:sldId id="267" r:id="rId18"/>
    <p:sldId id="278" r:id="rId19"/>
    <p:sldId id="268" r:id="rId20"/>
    <p:sldId id="269" r:id="rId21"/>
    <p:sldId id="270" r:id="rId22"/>
    <p:sldId id="280" r:id="rId23"/>
    <p:sldId id="271" r:id="rId24"/>
    <p:sldId id="272"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70"/>
    <p:restoredTop sz="94610"/>
  </p:normalViewPr>
  <p:slideViewPr>
    <p:cSldViewPr snapToGrid="0" snapToObjects="1">
      <p:cViewPr>
        <p:scale>
          <a:sx n="120" d="100"/>
          <a:sy n="120" d="100"/>
        </p:scale>
        <p:origin x="-280"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1308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My thesis is about making PolyFEM impact simulation practical for design search by replacing each FEM solve with a machine learning surrogate. ~20 min talk, then ~20 min questions on the thesis and the code. (Target ~1 min here.)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One-line transition, then move on. (~20 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for a non-specialist. The goal: design a lattice structure that cushions an impact, like a helmet liner or packaging. We describe that lattice with three parameters: its apex angle theta, its wall thickness h, and its material stiffness E. That is the input. Feed it to one FEM simulation, the physics solver, and out comes a score: the peak stress on the upper block, how hard the cargo on top gets hit. The picture shows one such run: a block falls, the lattice squashes and soaks up the hit, color is stress building up. The catch: one run is accurate but takes minutes, and finding a good design means searching thousands to millions of them. Too slow to do directly. (~1.5 min.)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optimizer needs two things from the simulation, and both are slow. One: a score, how good is a design, that is sigma-peak, the peak stress on the upper block, from one forward simulation, minutes. Two: a direction, which way to move the three parameters to improve, that is the gradient grad-L, the three partial derivatives dL by d-theta, d-h, d-E, and it comes from a heavier adjoint solve, about 30 minutes. Note they measure different bodies on purpose: the score watches the block on top (how hard the cargo gets hit), the direction watches the lattice below (how to reshape it). Both are far too slow for a search of millions, so I fit a fast predictor to each, taking every query from minutes to sub-millisecond. Bottom line, the thread of the whole talk: the physics sets the limit, not the size of the model. (~1.5 min.)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(~20 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predictor 1 is hard, read straight off the data, each dot is one real simulation. Shallow slope, gentle angle: the lattice just squashes, stress is steady, easy. Sharp angle: the walls fold over, that is buckling, a different way of collapsing. Right at the switch near 88 degrees, a tiny change in the design flips which way it fails, so the stress scatters wildly in that band. That is real physics, not a glitch, so every model struggles here. (~1.5 min.)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Progressive: what we did, then why. First, turn the 3 raw knobs into 22 physics clues, the most useful being how far the design sits from the 88-degree switch, which the model cannot infer on its own. Second, learn stress on a log scale so small and large designs count equally. Third, use tree models, not a big neural net, because this is a small table of numbers where trees win. Backup: dropping the clues costs 31 points, the log trick alone only 3.7, so the clues do the work. (~1.5 min.)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D1A5A-D153-310C-7B7B-CBE92D60BA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BD6CFB-8E62-40BF-03D6-8BF098695B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D0D6B2-5C29-9585-BB1E-7343EFB23530}"/>
              </a:ext>
            </a:extLst>
          </p:cNvPr>
          <p:cNvSpPr>
            <a:spLocks noGrp="1"/>
          </p:cNvSpPr>
          <p:nvPr>
            <p:ph type="body" idx="1"/>
          </p:nvPr>
        </p:nvSpPr>
        <p:spPr/>
        <p:txBody>
          <a:bodyPr/>
          <a:lstStyle/>
          <a:p>
            <a:r>
              <a:rPr lang="en-US" dirty="0"/>
              <a:t>Progressive: what we did, then why. First, turn the 3 raw knobs into 22 physics clues, the most useful being how far the design sits from the 88-degree switch, which the model cannot infer on its own. Second, learn stress on a log scale so small and large designs count equally. Third, use tree models, not a big neural net, because this is a small table of numbers where trees win. Backup: dropping the clues costs 31 points, the log trick alone only 3.7, so the clues do the work. (~1.5 min.)</a:t>
            </a:r>
          </a:p>
        </p:txBody>
      </p:sp>
      <p:sp>
        <p:nvSpPr>
          <p:cNvPr id="4" name="Slide Number Placeholder 3">
            <a:extLst>
              <a:ext uri="{FF2B5EF4-FFF2-40B4-BE49-F238E27FC236}">
                <a16:creationId xmlns:a16="http://schemas.microsoft.com/office/drawing/2014/main" id="{9E2F048D-550A-67B2-14F0-ED02A0D26BB0}"/>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10014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Predictor 2 is hard for a different reason, and the histogram shows it, this is real data. The size of the improvement signal ranges from tiny to a billion times bigger, so for one design a nudge barely matters and for another it matters enormously. It also flips direction, improve means thicker for some designs, thinner for others, the two colors. Train the normal way and the model only chases the huge values and gives most designs a useless answer. The next slide fixes exactly this. (~1.5 min.)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SLIDE. Rehearse until fluent. Instead of predicting one hard number, predict two easy things: the direction, a simple yes/no, up or down, and the size, just how many zeros. Predicting them separately means tiny and huge designs are treated fairly, because size is on a log scale. It is only a smarter way to frame the target, so it works for any model, simple trees or a neural net. This one idea added 30 points. (~2.5 min.)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predictor 2 is built, and why you can trust the numbers. One shared network with two outputs, one for direction and one for size, learning together. The honesty point matters for the committee: I never peek at the test data while tuning, otherwise the scores would look about 5 points better than they really are. And I score by a practical yes/no, is the answer close enough to use, which is fairer than a single summary number like R-squared. (~1.5 min.)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0F4A7-8D79-F8D4-482F-3B251D9065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F13650-89B7-A6FC-BE99-C17E555C7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EE4BC7-7A25-9D17-6FF8-9225295DE269}"/>
              </a:ext>
            </a:extLst>
          </p:cNvPr>
          <p:cNvSpPr>
            <a:spLocks noGrp="1"/>
          </p:cNvSpPr>
          <p:nvPr>
            <p:ph type="body" idx="1"/>
          </p:nvPr>
        </p:nvSpPr>
        <p:spPr/>
        <p:txBody>
          <a:bodyPr/>
          <a:lstStyle/>
          <a:p>
            <a:r>
              <a:rPr lang="en-US" dirty="0"/>
              <a:t>Divider. (~20 s.)</a:t>
            </a:r>
          </a:p>
        </p:txBody>
      </p:sp>
      <p:sp>
        <p:nvSpPr>
          <p:cNvPr id="4" name="Slide Number Placeholder 3">
            <a:extLst>
              <a:ext uri="{FF2B5EF4-FFF2-40B4-BE49-F238E27FC236}">
                <a16:creationId xmlns:a16="http://schemas.microsoft.com/office/drawing/2014/main" id="{A6CB60DB-2277-3ADD-6BEE-C6C64762EC26}"/>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3245093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data comes from, briefly. Every sample is one PolyFEM run of the same scenario, a block hitting a lattice, with only the three knobs changed and everything else fixed, so the designs are comparable. Counts: about 19 thousand designs scored for the forward task, and 8-to-10 thousand gradient samples. Key detail: I did not sample the knobs evenly, I sampled by the physics, densely around the 88-degree switch and coarsely where the response is smooth. Why: if you leave that band out of training, accuracy drops from 73 to 50 percent, because the model leans on nearby designs, so the tricky region has to be well covered. The simulations were generated on a CPU cluster and given to me; my work is the machine learning on top. (~1 min.)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225054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(~20 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SLIDE, the committee will push here. Overall it looks great, 74% correct, and the usual summary score is 0.97, near perfect. But split by region: away from the switch it is nearly perfect, 99%; right at the switch it falls to about 60%. The summary score looks great because the big values dominate it. That is why I report region by region, one average would have hidden this. Practice this pivot. (~2.5 min.)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 in one chart, built up step by step. Start with the plain approach, about 30%, most designs wrong. Add the split idea and it jumps to 67%, that is plus 30 points, and that is with simple trees. Then add a big neural net on top and it only reaches 69%, all that model power buys just 2 more points. The idea did the work, not a bigger model. (~2 min.)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knobs, three difficulties, all tracking the physics. The smooth knob, thickness, is easy, about 75%. The rough knob, angle, carries the buckling switch, so it collapses to about 47%. The key: trees and a neural net fail the exact same way on the hard knob. If this were about model size, a bigger model would break through, but it does not. Same failure from two very different models means it is a physical limit, not a modeling gap. (~2 min.)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closer. The rule comes straight from the regional results. Away from the buckling zone, trust the predictor. Near it, shortlist with the predictor and confirm with FEM. For the hardest knob, use it only to rank. The predictor is 10 million times faster, so it explores millions while FEM confirms the few finalists. They work together, they do not compete. Pause, then take questions. (~2.5 min.)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committee, hold on this slide for Q&amp;A. Q&amp;A prep: why not neural operators for forward; why not Bayesian/GP; why NeoHookean not plasticity; uncertainty quantification; how physics-ceiling is proven (both model families fail identically).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Users/I772771/jc/poly/slides/brand/uvic_diag_white.png"/>
          <p:cNvPicPr>
            <a:picLocks noChangeAspect="1"/>
          </p:cNvPicPr>
          <p:nvPr/>
        </p:nvPicPr>
        <p:blipFill>
          <a:blip r:embed="rId3"/>
          <a:stretch>
            <a:fillRect/>
          </a:stretch>
        </p:blipFill>
        <p:spPr>
          <a:xfrm>
            <a:off x="0" y="251209"/>
            <a:ext cx="12191695" cy="6858000"/>
          </a:xfrm>
          <a:prstGeom prst="rect">
            <a:avLst/>
          </a:prstGeom>
        </p:spPr>
      </p:pic>
      <p:pic>
        <p:nvPicPr>
          <p:cNvPr id="3" name="Image 1" descr="/Users/I772771/jc/poly/slides/brand/uvic_crest.png"/>
          <p:cNvPicPr>
            <a:picLocks noChangeAspect="1"/>
          </p:cNvPicPr>
          <p:nvPr/>
        </p:nvPicPr>
        <p:blipFill>
          <a:blip r:embed="rId4"/>
          <a:stretch>
            <a:fillRect/>
          </a:stretch>
        </p:blipFill>
        <p:spPr>
          <a:xfrm>
            <a:off x="685800" y="502920"/>
            <a:ext cx="1393902" cy="1371600"/>
          </a:xfrm>
          <a:prstGeom prst="rect">
            <a:avLst/>
          </a:prstGeom>
        </p:spPr>
      </p:pic>
      <p:sp>
        <p:nvSpPr>
          <p:cNvPr id="4" name="Text 0"/>
          <p:cNvSpPr/>
          <p:nvPr/>
        </p:nvSpPr>
        <p:spPr>
          <a:xfrm>
            <a:off x="713232" y="2240280"/>
            <a:ext cx="6858000" cy="365760"/>
          </a:xfrm>
          <a:prstGeom prst="rect">
            <a:avLst/>
          </a:prstGeom>
          <a:noFill/>
          <a:ln/>
        </p:spPr>
        <p:txBody>
          <a:bodyPr wrap="square" lIns="0" tIns="0" rIns="0" bIns="0" rtlCol="0" anchor="ctr"/>
          <a:lstStyle/>
          <a:p>
            <a:pPr marL="0" indent="0">
              <a:buNone/>
            </a:pPr>
            <a:endParaRPr lang="en-US" sz="1300" dirty="0"/>
          </a:p>
        </p:txBody>
      </p:sp>
      <p:sp>
        <p:nvSpPr>
          <p:cNvPr id="5" name="Text 1"/>
          <p:cNvSpPr/>
          <p:nvPr/>
        </p:nvSpPr>
        <p:spPr>
          <a:xfrm>
            <a:off x="713232" y="2651760"/>
            <a:ext cx="7315200" cy="2103120"/>
          </a:xfrm>
          <a:prstGeom prst="rect">
            <a:avLst/>
          </a:prstGeom>
          <a:noFill/>
          <a:ln/>
        </p:spPr>
        <p:txBody>
          <a:bodyPr wrap="square" lIns="0" tIns="0" rIns="0" bIns="0" rtlCol="0" anchor="ctr"/>
          <a:lstStyle/>
          <a:p>
            <a:pPr marL="0" indent="0">
              <a:lnSpc>
                <a:spcPct val="102000"/>
              </a:lnSpc>
              <a:buNone/>
            </a:pPr>
            <a:r>
              <a:rPr lang="en-US" sz="3200" b="1" dirty="0">
                <a:solidFill>
                  <a:srgbClr val="0073BC"/>
                </a:solidFill>
                <a:latin typeface="Cambria" pitchFamily="34" charset="0"/>
                <a:ea typeface="Cambria" pitchFamily="34" charset="-122"/>
                <a:cs typeface="Cambria" pitchFamily="34" charset="-120"/>
              </a:rPr>
              <a:t>Accelerating PolyFEM Triangular Mesh</a:t>
            </a:r>
            <a:endParaRPr lang="en-US" sz="3200" dirty="0"/>
          </a:p>
          <a:p>
            <a:pPr marL="0" indent="0">
              <a:lnSpc>
                <a:spcPct val="102000"/>
              </a:lnSpc>
              <a:buNone/>
            </a:pPr>
            <a:r>
              <a:rPr lang="en-US" sz="3200" b="1" dirty="0">
                <a:solidFill>
                  <a:srgbClr val="0073BC"/>
                </a:solidFill>
                <a:latin typeface="Cambria" pitchFamily="34" charset="0"/>
                <a:ea typeface="Cambria" pitchFamily="34" charset="-122"/>
                <a:cs typeface="Cambria" pitchFamily="34" charset="-120"/>
              </a:rPr>
              <a:t>Impact Simulation with</a:t>
            </a:r>
            <a:endParaRPr lang="en-US" sz="3200" dirty="0"/>
          </a:p>
          <a:p>
            <a:pPr marL="0" indent="0">
              <a:lnSpc>
                <a:spcPct val="102000"/>
              </a:lnSpc>
              <a:buNone/>
            </a:pPr>
            <a:r>
              <a:rPr lang="en-US" sz="3200" b="1" dirty="0">
                <a:solidFill>
                  <a:srgbClr val="0073BC"/>
                </a:solidFill>
                <a:latin typeface="Cambria" pitchFamily="34" charset="0"/>
                <a:ea typeface="Cambria" pitchFamily="34" charset="-122"/>
                <a:cs typeface="Cambria" pitchFamily="34" charset="-120"/>
              </a:rPr>
              <a:t>Machine Learning Surrogates</a:t>
            </a:r>
            <a:endParaRPr lang="en-US" sz="3200" dirty="0"/>
          </a:p>
        </p:txBody>
      </p:sp>
      <p:sp>
        <p:nvSpPr>
          <p:cNvPr id="6" name="Text 2"/>
          <p:cNvSpPr/>
          <p:nvPr/>
        </p:nvSpPr>
        <p:spPr>
          <a:xfrm>
            <a:off x="731520" y="4892040"/>
            <a:ext cx="6858000" cy="1097280"/>
          </a:xfrm>
          <a:prstGeom prst="rect">
            <a:avLst/>
          </a:prstGeom>
          <a:noFill/>
          <a:ln/>
        </p:spPr>
        <p:txBody>
          <a:bodyPr wrap="square" lIns="0" tIns="0" rIns="0" bIns="0" rtlCol="0" anchor="t"/>
          <a:lstStyle/>
          <a:p>
            <a:pPr marL="0" indent="0">
              <a:spcAft>
                <a:spcPts val="300"/>
              </a:spcAft>
              <a:buNone/>
            </a:pPr>
            <a:r>
              <a:rPr lang="en-US" sz="1700" b="1" dirty="0">
                <a:solidFill>
                  <a:srgbClr val="002858"/>
                </a:solidFill>
                <a:latin typeface="Calibri" pitchFamily="34" charset="0"/>
                <a:ea typeface="Calibri" pitchFamily="34" charset="-122"/>
                <a:cs typeface="Calibri" pitchFamily="34" charset="-120"/>
              </a:rPr>
              <a:t>Jiacheng Zhao</a:t>
            </a:r>
            <a:endParaRPr lang="en-US" sz="1700" dirty="0"/>
          </a:p>
          <a:p>
            <a:pPr marL="0" indent="0">
              <a:spcAft>
                <a:spcPts val="300"/>
              </a:spcAft>
              <a:buNone/>
            </a:pPr>
            <a:r>
              <a:rPr lang="en-US" sz="1300" dirty="0">
                <a:solidFill>
                  <a:srgbClr val="5B6472"/>
                </a:solidFill>
                <a:latin typeface="Calibri" pitchFamily="34" charset="0"/>
                <a:ea typeface="Calibri" pitchFamily="34" charset="-122"/>
                <a:cs typeface="Calibri" pitchFamily="34" charset="-120"/>
              </a:rPr>
              <a:t>Supervisor: Dr. Teseo Schneider</a:t>
            </a:r>
            <a:endParaRPr lang="en-US" sz="1700" dirty="0"/>
          </a:p>
          <a:p>
            <a:pPr marL="0" indent="0">
              <a:spcAft>
                <a:spcPts val="300"/>
              </a:spcAft>
              <a:buNone/>
            </a:pPr>
            <a:r>
              <a:rPr lang="en-US" sz="1300" dirty="0">
                <a:solidFill>
                  <a:srgbClr val="5B6472"/>
                </a:solidFill>
                <a:latin typeface="Calibri" pitchFamily="34" charset="0"/>
                <a:ea typeface="Calibri" pitchFamily="34" charset="-122"/>
                <a:cs typeface="Calibri" pitchFamily="34" charset="-120"/>
              </a:rPr>
              <a:t>University of Victoria</a:t>
            </a:r>
            <a:endParaRPr lang="en-US" sz="1700" dirty="0"/>
          </a:p>
        </p:txBody>
      </p:sp>
      <p:sp>
        <p:nvSpPr>
          <p:cNvPr id="7" name="Text 3"/>
          <p:cNvSpPr/>
          <p:nvPr/>
        </p:nvSpPr>
        <p:spPr>
          <a:xfrm>
            <a:off x="731520" y="6126480"/>
            <a:ext cx="7315200" cy="365760"/>
          </a:xfrm>
          <a:prstGeom prst="rect">
            <a:avLst/>
          </a:prstGeom>
          <a:noFill/>
          <a:ln/>
        </p:spPr>
        <p:txBody>
          <a:bodyPr wrap="square" lIns="0" tIns="0" rIns="0" bIns="0" rtlCol="0" anchor="ctr"/>
          <a:lstStyle/>
          <a:p>
            <a:pPr marL="0" indent="0">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2858"/>
        </a:solidFill>
        <a:effectLst/>
      </p:bgPr>
    </p:bg>
    <p:spTree>
      <p:nvGrpSpPr>
        <p:cNvPr id="1" name=""/>
        <p:cNvGrpSpPr/>
        <p:nvPr/>
      </p:nvGrpSpPr>
      <p:grpSpPr>
        <a:xfrm>
          <a:off x="0" y="0"/>
          <a:ext cx="0" cy="0"/>
          <a:chOff x="0" y="0"/>
          <a:chExt cx="0" cy="0"/>
        </a:xfrm>
      </p:grpSpPr>
      <p:pic>
        <p:nvPicPr>
          <p:cNvPr id="2" name="Image 0" descr="/Users/I772771/jc/poly/slides/brand/uvic_stripe_navy.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743200"/>
            <a:ext cx="10515600" cy="109728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Background</a:t>
            </a:r>
            <a:endParaRPr lang="en-US" sz="4400" dirty="0"/>
          </a:p>
        </p:txBody>
      </p:sp>
      <p:sp>
        <p:nvSpPr>
          <p:cNvPr id="4" name="Text 1"/>
          <p:cNvSpPr/>
          <p:nvPr/>
        </p:nvSpPr>
        <p:spPr>
          <a:xfrm>
            <a:off x="841248" y="3840480"/>
            <a:ext cx="10058400" cy="548640"/>
          </a:xfrm>
          <a:prstGeom prst="rect">
            <a:avLst/>
          </a:prstGeom>
          <a:noFill/>
          <a:ln/>
        </p:spPr>
        <p:txBody>
          <a:bodyPr wrap="square" lIns="0" tIns="0" rIns="0" bIns="0" rtlCol="0" anchor="ctr"/>
          <a:lstStyle/>
          <a:p>
            <a:pPr marL="0" indent="0">
              <a:buNone/>
            </a:pP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Users/I772771/jc/poly/slides/brand/uvic_stripe_white.png"/>
          <p:cNvPicPr>
            <a:picLocks noChangeAspect="1"/>
          </p:cNvPicPr>
          <p:nvPr/>
        </p:nvPicPr>
        <p:blipFill>
          <a:blip r:embed="rId3"/>
          <a:stretch>
            <a:fillRect/>
          </a:stretch>
        </p:blipFill>
        <p:spPr>
          <a:xfrm>
            <a:off x="0" y="288890"/>
            <a:ext cx="12191695" cy="6858000"/>
          </a:xfrm>
          <a:prstGeom prst="rect">
            <a:avLst/>
          </a:prstGeom>
        </p:spPr>
      </p:pic>
      <p:sp>
        <p:nvSpPr>
          <p:cNvPr id="3" name="Text 0"/>
          <p:cNvSpPr/>
          <p:nvPr/>
        </p:nvSpPr>
        <p:spPr>
          <a:xfrm>
            <a:off x="548640" y="475488"/>
            <a:ext cx="11155680" cy="777240"/>
          </a:xfrm>
          <a:prstGeom prst="rect">
            <a:avLst/>
          </a:prstGeom>
          <a:noFill/>
          <a:ln/>
        </p:spPr>
        <p:txBody>
          <a:bodyPr wrap="square" lIns="0" tIns="0" rIns="0" bIns="0" rtlCol="0" anchor="t"/>
          <a:lstStyle/>
          <a:p>
            <a:pPr marL="0" indent="0">
              <a:buNone/>
            </a:pPr>
            <a:r>
              <a:rPr lang="en-US" sz="2600" b="1" dirty="0">
                <a:solidFill>
                  <a:srgbClr val="0073BC"/>
                </a:solidFill>
                <a:latin typeface="Cambria" pitchFamily="34" charset="0"/>
                <a:ea typeface="Cambria" pitchFamily="34" charset="-122"/>
                <a:cs typeface="Cambria" pitchFamily="34" charset="-120"/>
              </a:rPr>
              <a:t>Problem   </a:t>
            </a:r>
            <a:r>
              <a:rPr lang="en-US" sz="2600" b="1" dirty="0">
                <a:solidFill>
                  <a:srgbClr val="1A1A2E"/>
                </a:solidFill>
                <a:latin typeface="Cambria" pitchFamily="34" charset="0"/>
                <a:ea typeface="Cambria" pitchFamily="34" charset="-122"/>
                <a:cs typeface="Cambria" pitchFamily="34" charset="-120"/>
              </a:rPr>
              <a:t>A mesh cushioning the impact from block</a:t>
            </a:r>
            <a:endParaRPr lang="en-US" sz="2600" dirty="0"/>
          </a:p>
        </p:txBody>
      </p:sp>
      <p:sp>
        <p:nvSpPr>
          <p:cNvPr id="4" name="Text 1"/>
          <p:cNvSpPr/>
          <p:nvPr/>
        </p:nvSpPr>
        <p:spPr>
          <a:xfrm>
            <a:off x="548640" y="6199632"/>
            <a:ext cx="82296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Jiacheng Zhao · MSc Defense · University of Victoria</a:t>
            </a:r>
            <a:endParaRPr lang="en-US" sz="900" dirty="0"/>
          </a:p>
        </p:txBody>
      </p:sp>
      <p:sp>
        <p:nvSpPr>
          <p:cNvPr id="5" name="Text 2"/>
          <p:cNvSpPr/>
          <p:nvPr/>
        </p:nvSpPr>
        <p:spPr>
          <a:xfrm>
            <a:off x="11338560" y="619963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
        <p:nvSpPr>
          <p:cNvPr id="6" name="Text 3"/>
          <p:cNvSpPr/>
          <p:nvPr/>
        </p:nvSpPr>
        <p:spPr>
          <a:xfrm>
            <a:off x="640080" y="1371600"/>
            <a:ext cx="10881360" cy="365760"/>
          </a:xfrm>
          <a:prstGeom prst="rect">
            <a:avLst/>
          </a:prstGeom>
          <a:noFill/>
          <a:ln/>
        </p:spPr>
        <p:txBody>
          <a:bodyPr wrap="square" lIns="0" tIns="0" rIns="0" bIns="0" rtlCol="0" anchor="ctr"/>
          <a:lstStyle/>
          <a:p>
            <a:pPr marL="0" indent="0" algn="ctr">
              <a:buNone/>
            </a:pPr>
            <a:r>
              <a:rPr lang="en-US" sz="1500" b="1" dirty="0">
                <a:solidFill>
                  <a:srgbClr val="FF0000"/>
                </a:solidFill>
                <a:latin typeface="Calibri" pitchFamily="34" charset="0"/>
                <a:ea typeface="Calibri" pitchFamily="34" charset="-122"/>
                <a:cs typeface="Calibri" pitchFamily="34" charset="-120"/>
              </a:rPr>
              <a:t>apex angle θ,  wall thickness h,  material stiffness E.</a:t>
            </a:r>
            <a:endParaRPr lang="en-US" sz="1500" b="1" dirty="0">
              <a:solidFill>
                <a:srgbClr val="FF0000"/>
              </a:solidFill>
            </a:endParaRPr>
          </a:p>
        </p:txBody>
      </p:sp>
      <p:sp>
        <p:nvSpPr>
          <p:cNvPr id="7" name="Shape 4"/>
          <p:cNvSpPr/>
          <p:nvPr/>
        </p:nvSpPr>
        <p:spPr>
          <a:xfrm>
            <a:off x="640080" y="1965960"/>
            <a:ext cx="3063240" cy="1234440"/>
          </a:xfrm>
          <a:prstGeom prst="roundRect">
            <a:avLst>
              <a:gd name="adj" fmla="val 5926"/>
            </a:avLst>
          </a:prstGeom>
          <a:solidFill>
            <a:srgbClr val="EAF1F8"/>
          </a:solidFill>
          <a:ln w="19050">
            <a:solidFill>
              <a:srgbClr val="0073BC"/>
            </a:solidFill>
            <a:prstDash val="solid"/>
          </a:ln>
        </p:spPr>
        <p:txBody>
          <a:bodyPr/>
          <a:lstStyle/>
          <a:p>
            <a:endParaRPr lang="en-US"/>
          </a:p>
        </p:txBody>
      </p:sp>
      <p:sp>
        <p:nvSpPr>
          <p:cNvPr id="8" name="Text 5"/>
          <p:cNvSpPr/>
          <p:nvPr/>
        </p:nvSpPr>
        <p:spPr>
          <a:xfrm>
            <a:off x="777240" y="1965960"/>
            <a:ext cx="2788920" cy="1234440"/>
          </a:xfrm>
          <a:prstGeom prst="rect">
            <a:avLst/>
          </a:prstGeom>
          <a:noFill/>
          <a:ln/>
        </p:spPr>
        <p:txBody>
          <a:bodyPr wrap="square" lIns="0" tIns="0" rIns="0" bIns="0" rtlCol="0" anchor="ctr"/>
          <a:lstStyle/>
          <a:p>
            <a:pPr marL="0" indent="0" algn="ctr">
              <a:spcAft>
                <a:spcPts val="400"/>
              </a:spcAft>
              <a:buNone/>
            </a:pPr>
            <a:r>
              <a:rPr lang="en-US" sz="1600" b="1" dirty="0">
                <a:solidFill>
                  <a:srgbClr val="FF0000"/>
                </a:solidFill>
                <a:latin typeface="Calibri" pitchFamily="34" charset="0"/>
                <a:ea typeface="Calibri" pitchFamily="34" charset="-122"/>
                <a:cs typeface="Calibri" pitchFamily="34" charset="-120"/>
              </a:rPr>
              <a:t>INPUT</a:t>
            </a:r>
            <a:endParaRPr lang="en-US" sz="1600" dirty="0"/>
          </a:p>
          <a:p>
            <a:pPr marL="0" indent="0" algn="ctr">
              <a:spcAft>
                <a:spcPts val="400"/>
              </a:spcAft>
              <a:buNone/>
            </a:pPr>
            <a:r>
              <a:rPr lang="en-US" sz="1500" dirty="0">
                <a:solidFill>
                  <a:srgbClr val="FF0000"/>
                </a:solidFill>
                <a:latin typeface="Calibri" pitchFamily="34" charset="0"/>
                <a:ea typeface="Calibri" pitchFamily="34" charset="-122"/>
                <a:cs typeface="Calibri" pitchFamily="34" charset="-120"/>
              </a:rPr>
              <a:t>3 params </a:t>
            </a:r>
            <a:r>
              <a:rPr lang="en-US" sz="1500" dirty="0">
                <a:solidFill>
                  <a:srgbClr val="5B6472"/>
                </a:solidFill>
                <a:latin typeface="Calibri" pitchFamily="34" charset="0"/>
                <a:ea typeface="Calibri" pitchFamily="34" charset="-122"/>
                <a:cs typeface="Calibri" pitchFamily="34" charset="-120"/>
              </a:rPr>
              <a:t>(θ, h, E) of </a:t>
            </a:r>
            <a:r>
              <a:rPr lang="en-US" sz="1500" b="1" dirty="0">
                <a:solidFill>
                  <a:srgbClr val="FF0000"/>
                </a:solidFill>
                <a:latin typeface="Calibri" pitchFamily="34" charset="0"/>
                <a:ea typeface="Calibri" pitchFamily="34" charset="-122"/>
                <a:cs typeface="Calibri" pitchFamily="34" charset="-120"/>
              </a:rPr>
              <a:t>Body 1 Mesh</a:t>
            </a:r>
            <a:endParaRPr lang="en-US" sz="1500" b="1" dirty="0">
              <a:solidFill>
                <a:srgbClr val="FF0000"/>
              </a:solidFill>
            </a:endParaRPr>
          </a:p>
        </p:txBody>
      </p:sp>
      <p:sp>
        <p:nvSpPr>
          <p:cNvPr id="9" name="Shape 6"/>
          <p:cNvSpPr/>
          <p:nvPr/>
        </p:nvSpPr>
        <p:spPr>
          <a:xfrm>
            <a:off x="3794760" y="2350008"/>
            <a:ext cx="457200" cy="457200"/>
          </a:xfrm>
          <a:prstGeom prst="rightArrow">
            <a:avLst/>
          </a:prstGeom>
          <a:solidFill>
            <a:srgbClr val="0073BC"/>
          </a:solidFill>
          <a:ln/>
        </p:spPr>
        <p:txBody>
          <a:bodyPr/>
          <a:lstStyle/>
          <a:p>
            <a:endParaRPr lang="en-US"/>
          </a:p>
        </p:txBody>
      </p:sp>
      <p:sp>
        <p:nvSpPr>
          <p:cNvPr id="10" name="Text 7"/>
          <p:cNvSpPr/>
          <p:nvPr/>
        </p:nvSpPr>
        <p:spPr>
          <a:xfrm>
            <a:off x="3474720" y="1920240"/>
            <a:ext cx="1097280" cy="274320"/>
          </a:xfrm>
          <a:prstGeom prst="rect">
            <a:avLst/>
          </a:prstGeom>
          <a:noFill/>
          <a:ln/>
        </p:spPr>
        <p:txBody>
          <a:bodyPr wrap="square" lIns="0" tIns="0" rIns="0" bIns="0" rtlCol="0" anchor="ctr"/>
          <a:lstStyle/>
          <a:p>
            <a:pPr marL="0" indent="0" algn="ctr">
              <a:buNone/>
            </a:pPr>
            <a:endParaRPr lang="en-US" sz="1000" dirty="0"/>
          </a:p>
        </p:txBody>
      </p:sp>
      <p:sp>
        <p:nvSpPr>
          <p:cNvPr id="11" name="Shape 8"/>
          <p:cNvSpPr/>
          <p:nvPr/>
        </p:nvSpPr>
        <p:spPr>
          <a:xfrm>
            <a:off x="4343400" y="1965960"/>
            <a:ext cx="3063240" cy="1234440"/>
          </a:xfrm>
          <a:prstGeom prst="roundRect">
            <a:avLst>
              <a:gd name="adj" fmla="val 5926"/>
            </a:avLst>
          </a:prstGeom>
          <a:solidFill>
            <a:srgbClr val="EAF1F8"/>
          </a:solidFill>
          <a:ln w="19050">
            <a:solidFill>
              <a:srgbClr val="002858"/>
            </a:solidFill>
            <a:prstDash val="solid"/>
          </a:ln>
        </p:spPr>
        <p:txBody>
          <a:bodyPr/>
          <a:lstStyle/>
          <a:p>
            <a:endParaRPr lang="en-US"/>
          </a:p>
        </p:txBody>
      </p:sp>
      <p:sp>
        <p:nvSpPr>
          <p:cNvPr id="12" name="Text 9"/>
          <p:cNvSpPr/>
          <p:nvPr/>
        </p:nvSpPr>
        <p:spPr>
          <a:xfrm>
            <a:off x="4480560" y="2240280"/>
            <a:ext cx="2788920" cy="960120"/>
          </a:xfrm>
          <a:prstGeom prst="rect">
            <a:avLst/>
          </a:prstGeom>
          <a:noFill/>
          <a:ln/>
        </p:spPr>
        <p:txBody>
          <a:bodyPr wrap="square" lIns="0" tIns="0" rIns="0" bIns="0" rtlCol="0" anchor="ctr"/>
          <a:lstStyle/>
          <a:p>
            <a:pPr marL="0" indent="0" algn="ctr">
              <a:spcAft>
                <a:spcPts val="400"/>
              </a:spcAft>
              <a:buNone/>
            </a:pPr>
            <a:r>
              <a:rPr lang="en-US" sz="1600" b="1" dirty="0">
                <a:solidFill>
                  <a:srgbClr val="1A1A2E"/>
                </a:solidFill>
                <a:latin typeface="Calibri" pitchFamily="34" charset="0"/>
                <a:ea typeface="Calibri" pitchFamily="34" charset="-122"/>
                <a:cs typeface="Calibri" pitchFamily="34" charset="-120"/>
              </a:rPr>
              <a:t>FEM simulation</a:t>
            </a:r>
            <a:endParaRPr lang="en-US" sz="1600" dirty="0"/>
          </a:p>
          <a:p>
            <a:pPr marL="0" indent="0" algn="ctr">
              <a:spcAft>
                <a:spcPts val="400"/>
              </a:spcAft>
              <a:buNone/>
            </a:pPr>
            <a:endParaRPr lang="en-US" sz="1600" dirty="0"/>
          </a:p>
        </p:txBody>
      </p:sp>
      <p:sp>
        <p:nvSpPr>
          <p:cNvPr id="13" name="Shape 10"/>
          <p:cNvSpPr/>
          <p:nvPr/>
        </p:nvSpPr>
        <p:spPr>
          <a:xfrm>
            <a:off x="7498080" y="2350008"/>
            <a:ext cx="457200" cy="457200"/>
          </a:xfrm>
          <a:prstGeom prst="rightArrow">
            <a:avLst/>
          </a:prstGeom>
          <a:solidFill>
            <a:srgbClr val="0073BC"/>
          </a:solidFill>
          <a:ln/>
        </p:spPr>
        <p:txBody>
          <a:bodyPr/>
          <a:lstStyle/>
          <a:p>
            <a:endParaRPr lang="en-US"/>
          </a:p>
        </p:txBody>
      </p:sp>
      <p:sp>
        <p:nvSpPr>
          <p:cNvPr id="14" name="Text 11"/>
          <p:cNvSpPr/>
          <p:nvPr/>
        </p:nvSpPr>
        <p:spPr>
          <a:xfrm>
            <a:off x="7178040" y="1920240"/>
            <a:ext cx="1097280" cy="274320"/>
          </a:xfrm>
          <a:prstGeom prst="rect">
            <a:avLst/>
          </a:prstGeom>
          <a:noFill/>
          <a:ln/>
        </p:spPr>
        <p:txBody>
          <a:bodyPr wrap="square" lIns="0" tIns="0" rIns="0" bIns="0" rtlCol="0" anchor="ctr"/>
          <a:lstStyle/>
          <a:p>
            <a:pPr marL="0" indent="0" algn="ctr">
              <a:buNone/>
            </a:pPr>
            <a:endParaRPr lang="en-US" sz="1000" dirty="0"/>
          </a:p>
        </p:txBody>
      </p:sp>
      <p:sp>
        <p:nvSpPr>
          <p:cNvPr id="15" name="Shape 12"/>
          <p:cNvSpPr/>
          <p:nvPr/>
        </p:nvSpPr>
        <p:spPr>
          <a:xfrm>
            <a:off x="8046720" y="1965960"/>
            <a:ext cx="3063240" cy="1234440"/>
          </a:xfrm>
          <a:prstGeom prst="roundRect">
            <a:avLst>
              <a:gd name="adj" fmla="val 5926"/>
            </a:avLst>
          </a:prstGeom>
          <a:solidFill>
            <a:srgbClr val="EAF1F8"/>
          </a:solidFill>
          <a:ln w="19050">
            <a:solidFill>
              <a:srgbClr val="0073BC"/>
            </a:solidFill>
            <a:prstDash val="solid"/>
          </a:ln>
        </p:spPr>
        <p:txBody>
          <a:bodyPr/>
          <a:lstStyle/>
          <a:p>
            <a:endParaRPr lang="en-US"/>
          </a:p>
        </p:txBody>
      </p:sp>
      <p:sp>
        <p:nvSpPr>
          <p:cNvPr id="16" name="Text 13"/>
          <p:cNvSpPr/>
          <p:nvPr/>
        </p:nvSpPr>
        <p:spPr>
          <a:xfrm>
            <a:off x="8183880" y="1965960"/>
            <a:ext cx="2788920" cy="1234440"/>
          </a:xfrm>
          <a:prstGeom prst="rect">
            <a:avLst/>
          </a:prstGeom>
          <a:noFill/>
          <a:ln/>
        </p:spPr>
        <p:txBody>
          <a:bodyPr wrap="square" lIns="0" tIns="0" rIns="0" bIns="0" rtlCol="0" anchor="ctr"/>
          <a:lstStyle/>
          <a:p>
            <a:pPr marL="0" indent="0" algn="ctr">
              <a:spcAft>
                <a:spcPts val="400"/>
              </a:spcAft>
              <a:buNone/>
            </a:pPr>
            <a:r>
              <a:rPr lang="en-US" sz="1600" b="1" dirty="0">
                <a:solidFill>
                  <a:srgbClr val="FF0000"/>
                </a:solidFill>
                <a:latin typeface="Calibri" pitchFamily="34" charset="0"/>
                <a:ea typeface="Calibri" pitchFamily="34" charset="-122"/>
                <a:cs typeface="Calibri" pitchFamily="34" charset="-120"/>
              </a:rPr>
              <a:t>OUTPUT</a:t>
            </a:r>
            <a:endParaRPr lang="en-US" sz="1600" dirty="0">
              <a:solidFill>
                <a:srgbClr val="FF0000"/>
              </a:solidFill>
            </a:endParaRPr>
          </a:p>
          <a:p>
            <a:pPr marL="0" indent="0" algn="ctr">
              <a:spcAft>
                <a:spcPts val="400"/>
              </a:spcAft>
              <a:buNone/>
            </a:pPr>
            <a:r>
              <a:rPr lang="en-US" sz="1500" dirty="0">
                <a:solidFill>
                  <a:srgbClr val="FF0000"/>
                </a:solidFill>
                <a:latin typeface="Calibri" pitchFamily="34" charset="0"/>
                <a:ea typeface="Calibri" pitchFamily="34" charset="-122"/>
                <a:cs typeface="Calibri" pitchFamily="34" charset="-120"/>
              </a:rPr>
              <a:t>Peak Stress </a:t>
            </a:r>
            <a:r>
              <a:rPr lang="en-US" sz="1500" dirty="0">
                <a:solidFill>
                  <a:srgbClr val="5B6472"/>
                </a:solidFill>
                <a:latin typeface="Calibri" pitchFamily="34" charset="0"/>
                <a:ea typeface="Calibri" pitchFamily="34" charset="-122"/>
                <a:cs typeface="Calibri" pitchFamily="34" charset="-120"/>
              </a:rPr>
              <a:t>of </a:t>
            </a:r>
            <a:r>
              <a:rPr lang="en-US" sz="1500" dirty="0">
                <a:solidFill>
                  <a:srgbClr val="FF0000"/>
                </a:solidFill>
                <a:latin typeface="Calibri" pitchFamily="34" charset="0"/>
                <a:ea typeface="Calibri" pitchFamily="34" charset="-122"/>
                <a:cs typeface="Calibri" pitchFamily="34" charset="-120"/>
              </a:rPr>
              <a:t>Body 2 Block</a:t>
            </a:r>
            <a:endParaRPr lang="en-US" sz="1500" dirty="0">
              <a:solidFill>
                <a:srgbClr val="FF0000"/>
              </a:solidFill>
            </a:endParaRPr>
          </a:p>
        </p:txBody>
      </p:sp>
      <p:pic>
        <p:nvPicPr>
          <p:cNvPr id="17" name="Image 1" descr="/Users/I772771/jc/poly/slides/defense_assets/figs/blocks.png"/>
          <p:cNvPicPr>
            <a:picLocks noChangeAspect="1"/>
          </p:cNvPicPr>
          <p:nvPr/>
        </p:nvPicPr>
        <p:blipFill>
          <a:blip r:embed="rId4"/>
          <a:stretch>
            <a:fillRect/>
          </a:stretch>
        </p:blipFill>
        <p:spPr>
          <a:xfrm>
            <a:off x="1700560" y="3611880"/>
            <a:ext cx="3242850" cy="2148840"/>
          </a:xfrm>
          <a:prstGeom prst="rect">
            <a:avLst/>
          </a:prstGeom>
        </p:spPr>
      </p:pic>
      <p:sp>
        <p:nvSpPr>
          <p:cNvPr id="18" name="Text 14"/>
          <p:cNvSpPr/>
          <p:nvPr/>
        </p:nvSpPr>
        <p:spPr>
          <a:xfrm>
            <a:off x="502920" y="5806440"/>
            <a:ext cx="5577840" cy="320040"/>
          </a:xfrm>
          <a:prstGeom prst="rect">
            <a:avLst/>
          </a:prstGeom>
          <a:noFill/>
          <a:ln/>
        </p:spPr>
        <p:txBody>
          <a:bodyPr wrap="square" lIns="0" tIns="0" rIns="0" bIns="0"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block falls   →   lattice squashes   →   soaks it up   (color = stress building up)</a:t>
            </a:r>
            <a:endParaRPr lang="en-US" sz="1100" dirty="0"/>
          </a:p>
        </p:txBody>
      </p:sp>
      <p:sp>
        <p:nvSpPr>
          <p:cNvPr id="19" name="Text 15"/>
          <p:cNvSpPr/>
          <p:nvPr/>
        </p:nvSpPr>
        <p:spPr>
          <a:xfrm>
            <a:off x="6400800" y="3611880"/>
            <a:ext cx="5303520" cy="868680"/>
          </a:xfrm>
          <a:prstGeom prst="rect">
            <a:avLst/>
          </a:prstGeom>
          <a:noFill/>
          <a:ln/>
        </p:spPr>
        <p:txBody>
          <a:bodyPr wrap="square" lIns="0" tIns="0" rIns="0" bIns="0" rtlCol="0" anchor="t"/>
          <a:lstStyle/>
          <a:p>
            <a:pPr marL="203200" indent="-203200">
              <a:spcAft>
                <a:spcPts val="300"/>
              </a:spcAft>
              <a:buSzPct val="100000"/>
              <a:buChar char="▪"/>
            </a:pPr>
            <a:r>
              <a:rPr lang="en-US" sz="1700" b="1" dirty="0">
                <a:solidFill>
                  <a:srgbClr val="1A1A2E"/>
                </a:solidFill>
                <a:latin typeface="Calibri" pitchFamily="34" charset="0"/>
                <a:ea typeface="Calibri" pitchFamily="34" charset="-122"/>
                <a:cs typeface="Calibri" pitchFamily="34" charset="-120"/>
              </a:rPr>
              <a:t>Accurate, because it solves full physics</a:t>
            </a:r>
          </a:p>
          <a:p>
            <a:pPr marL="203200" indent="-203200">
              <a:spcAft>
                <a:spcPts val="300"/>
              </a:spcAft>
              <a:buSzPct val="100000"/>
              <a:buChar char="▪"/>
            </a:pPr>
            <a:r>
              <a:rPr lang="en-US" sz="1700" b="1" dirty="0">
                <a:solidFill>
                  <a:srgbClr val="1A1A2E"/>
                </a:solidFill>
                <a:latin typeface="Calibri" pitchFamily="34" charset="0"/>
                <a:cs typeface="Calibri" pitchFamily="34" charset="-120"/>
              </a:rPr>
              <a:t>50-100 simulations for each scenario </a:t>
            </a:r>
          </a:p>
          <a:p>
            <a:pPr marL="203200" indent="-203200">
              <a:spcAft>
                <a:spcPts val="300"/>
              </a:spcAft>
              <a:buSzPct val="100000"/>
              <a:buChar char="▪"/>
            </a:pPr>
            <a:r>
              <a:rPr lang="en-US" sz="1700" b="1" dirty="0">
                <a:solidFill>
                  <a:srgbClr val="1A1A2E"/>
                </a:solidFill>
                <a:latin typeface="Calibri" pitchFamily="34" charset="0"/>
                <a:cs typeface="Calibri" pitchFamily="34" charset="-120"/>
              </a:rPr>
              <a:t>Gradient even longer (~30 mins per)</a:t>
            </a:r>
          </a:p>
          <a:p>
            <a:pPr marL="203200" indent="-203200">
              <a:spcAft>
                <a:spcPts val="300"/>
              </a:spcAft>
              <a:buSzPct val="100000"/>
              <a:buChar char="▪"/>
            </a:pPr>
            <a:r>
              <a:rPr lang="en-US" sz="1700" b="1" dirty="0">
                <a:solidFill>
                  <a:srgbClr val="FF0000"/>
                </a:solidFill>
                <a:latin typeface="Calibri" pitchFamily="34" charset="0"/>
                <a:cs typeface="Calibri" pitchFamily="34" charset="-120"/>
              </a:rPr>
              <a:t>Time-consuming</a:t>
            </a:r>
            <a:endParaRPr lang="en-US" sz="1700" dirty="0">
              <a:solidFill>
                <a:srgbClr val="FF0000"/>
              </a:solidFill>
            </a:endParaRPr>
          </a:p>
        </p:txBody>
      </p:sp>
      <p:sp>
        <p:nvSpPr>
          <p:cNvPr id="20" name="Text 16"/>
          <p:cNvSpPr/>
          <p:nvPr/>
        </p:nvSpPr>
        <p:spPr>
          <a:xfrm>
            <a:off x="6400800" y="4526280"/>
            <a:ext cx="5303520" cy="868680"/>
          </a:xfrm>
          <a:prstGeom prst="rect">
            <a:avLst/>
          </a:prstGeom>
          <a:noFill/>
          <a:ln/>
        </p:spPr>
        <p:txBody>
          <a:bodyPr wrap="square" lIns="0" tIns="0" rIns="0" bIns="0" rtlCol="0" anchor="t"/>
          <a:lstStyle/>
          <a:p>
            <a:pPr marL="203200" indent="-203200">
              <a:spcAft>
                <a:spcPts val="300"/>
              </a:spcAft>
              <a:buSzPct val="100000"/>
              <a:buChar char="▪"/>
            </a:pPr>
            <a:endParaRPr lang="en-US" sz="1700" dirty="0"/>
          </a:p>
        </p:txBody>
      </p:sp>
      <p:sp>
        <p:nvSpPr>
          <p:cNvPr id="22" name="TextBox 21">
            <a:extLst>
              <a:ext uri="{FF2B5EF4-FFF2-40B4-BE49-F238E27FC236}">
                <a16:creationId xmlns:a16="http://schemas.microsoft.com/office/drawing/2014/main" id="{9A0D48E6-E0D8-B045-3EC3-1CC650DDA370}"/>
              </a:ext>
            </a:extLst>
          </p:cNvPr>
          <p:cNvSpPr txBox="1"/>
          <p:nvPr/>
        </p:nvSpPr>
        <p:spPr>
          <a:xfrm>
            <a:off x="361741" y="3717890"/>
            <a:ext cx="1338819" cy="323165"/>
          </a:xfrm>
          <a:prstGeom prst="rect">
            <a:avLst/>
          </a:prstGeom>
          <a:noFill/>
        </p:spPr>
        <p:txBody>
          <a:bodyPr wrap="square" rtlCol="0">
            <a:spAutoFit/>
          </a:bodyPr>
          <a:lstStyle/>
          <a:p>
            <a:r>
              <a:rPr lang="en-US" sz="1500" b="1" dirty="0">
                <a:solidFill>
                  <a:srgbClr val="FF0000"/>
                </a:solidFill>
              </a:rPr>
              <a:t>Body 2 Block</a:t>
            </a:r>
          </a:p>
        </p:txBody>
      </p:sp>
      <p:sp>
        <p:nvSpPr>
          <p:cNvPr id="23" name="TextBox 22">
            <a:extLst>
              <a:ext uri="{FF2B5EF4-FFF2-40B4-BE49-F238E27FC236}">
                <a16:creationId xmlns:a16="http://schemas.microsoft.com/office/drawing/2014/main" id="{7C2B6AD2-1DA9-8787-8ADC-4285AEDA510E}"/>
              </a:ext>
            </a:extLst>
          </p:cNvPr>
          <p:cNvSpPr txBox="1"/>
          <p:nvPr/>
        </p:nvSpPr>
        <p:spPr>
          <a:xfrm>
            <a:off x="361741" y="4202522"/>
            <a:ext cx="1338819" cy="323165"/>
          </a:xfrm>
          <a:prstGeom prst="rect">
            <a:avLst/>
          </a:prstGeom>
          <a:noFill/>
        </p:spPr>
        <p:txBody>
          <a:bodyPr wrap="square" rtlCol="0">
            <a:spAutoFit/>
          </a:bodyPr>
          <a:lstStyle/>
          <a:p>
            <a:r>
              <a:rPr lang="en-US" sz="1500" b="1" dirty="0">
                <a:solidFill>
                  <a:srgbClr val="FF0000"/>
                </a:solidFill>
              </a:rPr>
              <a:t>Body 1 Mesh</a:t>
            </a:r>
          </a:p>
        </p:txBody>
      </p:sp>
      <p:cxnSp>
        <p:nvCxnSpPr>
          <p:cNvPr id="25" name="Straight Arrow Connector 24">
            <a:extLst>
              <a:ext uri="{FF2B5EF4-FFF2-40B4-BE49-F238E27FC236}">
                <a16:creationId xmlns:a16="http://schemas.microsoft.com/office/drawing/2014/main" id="{F2BAB64A-6EA1-D769-C889-81DCEA2D53AE}"/>
              </a:ext>
            </a:extLst>
          </p:cNvPr>
          <p:cNvCxnSpPr/>
          <p:nvPr/>
        </p:nvCxnSpPr>
        <p:spPr>
          <a:xfrm>
            <a:off x="1457011" y="3879472"/>
            <a:ext cx="32154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CB84BE0-8567-ADEE-4BE0-324B82CEC5D6}"/>
              </a:ext>
            </a:extLst>
          </p:cNvPr>
          <p:cNvCxnSpPr/>
          <p:nvPr/>
        </p:nvCxnSpPr>
        <p:spPr>
          <a:xfrm>
            <a:off x="1507253" y="4364104"/>
            <a:ext cx="271305"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Users/I772771/jc/poly/slides/brand/uvic_stripe_white.png"/>
          <p:cNvPicPr>
            <a:picLocks noChangeAspect="1"/>
          </p:cNvPicPr>
          <p:nvPr/>
        </p:nvPicPr>
        <p:blipFill>
          <a:blip r:embed="rId3"/>
          <a:stretch>
            <a:fillRect/>
          </a:stretch>
        </p:blipFill>
        <p:spPr>
          <a:xfrm>
            <a:off x="305" y="281354"/>
            <a:ext cx="12191695" cy="6858000"/>
          </a:xfrm>
          <a:prstGeom prst="rect">
            <a:avLst/>
          </a:prstGeom>
        </p:spPr>
      </p:pic>
      <p:sp>
        <p:nvSpPr>
          <p:cNvPr id="3" name="Text 0"/>
          <p:cNvSpPr/>
          <p:nvPr/>
        </p:nvSpPr>
        <p:spPr>
          <a:xfrm>
            <a:off x="548640" y="475488"/>
            <a:ext cx="11155680" cy="777240"/>
          </a:xfrm>
          <a:prstGeom prst="rect">
            <a:avLst/>
          </a:prstGeom>
          <a:noFill/>
          <a:ln/>
        </p:spPr>
        <p:txBody>
          <a:bodyPr wrap="square" lIns="0" tIns="0" rIns="0" bIns="0" rtlCol="0" anchor="t"/>
          <a:lstStyle/>
          <a:p>
            <a:pPr marL="0" indent="0">
              <a:buNone/>
            </a:pPr>
            <a:r>
              <a:rPr lang="en-US" sz="2600" b="1" dirty="0">
                <a:solidFill>
                  <a:srgbClr val="0073BC"/>
                </a:solidFill>
                <a:latin typeface="Cambria" pitchFamily="34" charset="0"/>
                <a:ea typeface="Cambria" pitchFamily="34" charset="-122"/>
                <a:cs typeface="Cambria" pitchFamily="34" charset="-120"/>
              </a:rPr>
              <a:t>Problem   </a:t>
            </a:r>
            <a:r>
              <a:rPr lang="en-US" sz="2600" b="1" dirty="0">
                <a:solidFill>
                  <a:srgbClr val="1A1A2E"/>
                </a:solidFill>
                <a:latin typeface="Cambria" pitchFamily="34" charset="0"/>
                <a:ea typeface="Cambria" pitchFamily="34" charset="-122"/>
                <a:cs typeface="Cambria" pitchFamily="34" charset="-120"/>
              </a:rPr>
              <a:t>Stress and Gradient Both Slow</a:t>
            </a:r>
            <a:endParaRPr lang="en-US" sz="2600" dirty="0"/>
          </a:p>
        </p:txBody>
      </p:sp>
      <p:sp>
        <p:nvSpPr>
          <p:cNvPr id="4" name="Text 1"/>
          <p:cNvSpPr/>
          <p:nvPr/>
        </p:nvSpPr>
        <p:spPr>
          <a:xfrm>
            <a:off x="548640" y="6199632"/>
            <a:ext cx="82296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Jiacheng Zhao · MSc Defense · University of Victoria</a:t>
            </a:r>
            <a:endParaRPr lang="en-US" sz="900" dirty="0"/>
          </a:p>
        </p:txBody>
      </p:sp>
      <p:sp>
        <p:nvSpPr>
          <p:cNvPr id="5" name="Text 2"/>
          <p:cNvSpPr/>
          <p:nvPr/>
        </p:nvSpPr>
        <p:spPr>
          <a:xfrm>
            <a:off x="11338560" y="619963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640080" y="1942705"/>
            <a:ext cx="5212080" cy="2880360"/>
          </a:xfrm>
          <a:prstGeom prst="roundRect">
            <a:avLst>
              <a:gd name="adj" fmla="val 2540"/>
            </a:avLst>
          </a:prstGeom>
          <a:solidFill>
            <a:srgbClr val="EAF1F8"/>
          </a:solidFill>
          <a:ln w="19050">
            <a:solidFill>
              <a:srgbClr val="0073BC"/>
            </a:solidFill>
            <a:prstDash val="solid"/>
          </a:ln>
        </p:spPr>
        <p:txBody>
          <a:bodyPr/>
          <a:lstStyle/>
          <a:p>
            <a:endParaRPr lang="en-US"/>
          </a:p>
        </p:txBody>
      </p:sp>
      <p:sp>
        <p:nvSpPr>
          <p:cNvPr id="8" name="Text 5"/>
          <p:cNvSpPr/>
          <p:nvPr/>
        </p:nvSpPr>
        <p:spPr>
          <a:xfrm>
            <a:off x="914400" y="2194560"/>
            <a:ext cx="4663440" cy="365760"/>
          </a:xfrm>
          <a:prstGeom prst="rect">
            <a:avLst/>
          </a:prstGeom>
          <a:noFill/>
          <a:ln/>
        </p:spPr>
        <p:txBody>
          <a:bodyPr wrap="square" lIns="0" tIns="0" rIns="0" bIns="0" rtlCol="0" anchor="ctr"/>
          <a:lstStyle/>
          <a:p>
            <a:pPr marL="0" indent="0">
              <a:buNone/>
            </a:pPr>
            <a:r>
              <a:rPr lang="en-US" sz="2000" b="1" dirty="0">
                <a:solidFill>
                  <a:srgbClr val="FF0000"/>
                </a:solidFill>
                <a:latin typeface="Calibri" pitchFamily="34" charset="0"/>
                <a:ea typeface="Calibri" pitchFamily="34" charset="-122"/>
                <a:cs typeface="Calibri" pitchFamily="34" charset="-120"/>
              </a:rPr>
              <a:t>Stress  ·  Forward</a:t>
            </a:r>
            <a:endParaRPr lang="en-US" sz="2000" dirty="0">
              <a:solidFill>
                <a:srgbClr val="FF0000"/>
              </a:solidFill>
            </a:endParaRPr>
          </a:p>
        </p:txBody>
      </p:sp>
      <p:sp>
        <p:nvSpPr>
          <p:cNvPr id="9" name="Text 6"/>
          <p:cNvSpPr/>
          <p:nvPr/>
        </p:nvSpPr>
        <p:spPr>
          <a:xfrm>
            <a:off x="914400" y="2697480"/>
            <a:ext cx="4663440" cy="457200"/>
          </a:xfrm>
          <a:prstGeom prst="rect">
            <a:avLst/>
          </a:prstGeom>
          <a:noFill/>
          <a:ln/>
        </p:spPr>
        <p:txBody>
          <a:bodyPr wrap="square" lIns="0" tIns="0" rIns="0" bIns="0"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(θ, h, E)  →  σ_peak  (upper block)</a:t>
            </a:r>
            <a:endParaRPr lang="en-US" sz="1500" dirty="0"/>
          </a:p>
        </p:txBody>
      </p:sp>
      <p:sp>
        <p:nvSpPr>
          <p:cNvPr id="10" name="Text 7"/>
          <p:cNvSpPr/>
          <p:nvPr/>
        </p:nvSpPr>
        <p:spPr>
          <a:xfrm>
            <a:off x="914400" y="3291840"/>
            <a:ext cx="4663440" cy="1280160"/>
          </a:xfrm>
          <a:prstGeom prst="rect">
            <a:avLst/>
          </a:prstGeom>
          <a:noFill/>
          <a:ln/>
        </p:spPr>
        <p:txBody>
          <a:bodyPr wrap="square" lIns="0" tIns="0" rIns="0" bIns="0" rtlCol="0" anchor="t"/>
          <a:lstStyle/>
          <a:p>
            <a:pPr marL="0" indent="0">
              <a:spcAft>
                <a:spcPts val="800"/>
              </a:spcAft>
              <a:buNone/>
            </a:pPr>
            <a:r>
              <a:rPr lang="en-US" sz="1500" dirty="0">
                <a:solidFill>
                  <a:srgbClr val="FF0000"/>
                </a:solidFill>
                <a:latin typeface="Calibri" pitchFamily="34" charset="0"/>
                <a:ea typeface="Calibri" pitchFamily="34" charset="-122"/>
                <a:cs typeface="Calibri" pitchFamily="34" charset="-120"/>
              </a:rPr>
              <a:t>Minutes per</a:t>
            </a:r>
            <a:endParaRPr lang="en-US" sz="1500" dirty="0">
              <a:solidFill>
                <a:srgbClr val="FF0000"/>
              </a:solidFill>
            </a:endParaRPr>
          </a:p>
          <a:p>
            <a:pPr marL="0" indent="0">
              <a:spcAft>
                <a:spcPts val="800"/>
              </a:spcAft>
              <a:buNone/>
            </a:pPr>
            <a:r>
              <a:rPr lang="en-US" sz="1500" dirty="0">
                <a:solidFill>
                  <a:srgbClr val="5B6472"/>
                </a:solidFill>
                <a:latin typeface="Calibri" pitchFamily="34" charset="0"/>
                <a:ea typeface="Calibri" pitchFamily="34" charset="-122"/>
                <a:cs typeface="Calibri" pitchFamily="34" charset="-120"/>
              </a:rPr>
              <a:t>Measures the block on top: how hard it gets hit.</a:t>
            </a:r>
            <a:endParaRPr lang="en-US" sz="1500" dirty="0"/>
          </a:p>
        </p:txBody>
      </p:sp>
      <p:sp>
        <p:nvSpPr>
          <p:cNvPr id="11" name="Shape 8"/>
          <p:cNvSpPr/>
          <p:nvPr/>
        </p:nvSpPr>
        <p:spPr>
          <a:xfrm>
            <a:off x="6309360" y="1965960"/>
            <a:ext cx="5212080" cy="2880360"/>
          </a:xfrm>
          <a:prstGeom prst="roundRect">
            <a:avLst>
              <a:gd name="adj" fmla="val 2540"/>
            </a:avLst>
          </a:prstGeom>
          <a:solidFill>
            <a:srgbClr val="EAF1F8"/>
          </a:solidFill>
          <a:ln w="19050">
            <a:solidFill>
              <a:srgbClr val="FDB813"/>
            </a:solidFill>
            <a:prstDash val="solid"/>
          </a:ln>
        </p:spPr>
        <p:txBody>
          <a:bodyPr/>
          <a:lstStyle/>
          <a:p>
            <a:endParaRPr lang="en-US"/>
          </a:p>
        </p:txBody>
      </p:sp>
      <p:sp>
        <p:nvSpPr>
          <p:cNvPr id="12" name="Text 9"/>
          <p:cNvSpPr/>
          <p:nvPr/>
        </p:nvSpPr>
        <p:spPr>
          <a:xfrm>
            <a:off x="6583680" y="2194560"/>
            <a:ext cx="4663440" cy="365760"/>
          </a:xfrm>
          <a:prstGeom prst="rect">
            <a:avLst/>
          </a:prstGeom>
          <a:noFill/>
          <a:ln/>
        </p:spPr>
        <p:txBody>
          <a:bodyPr wrap="square" lIns="0" tIns="0" rIns="0" bIns="0" rtlCol="0" anchor="ctr"/>
          <a:lstStyle/>
          <a:p>
            <a:r>
              <a:rPr lang="en-US" sz="2000" b="1" dirty="0">
                <a:solidFill>
                  <a:srgbClr val="FF0000"/>
                </a:solidFill>
                <a:latin typeface="Calibri" pitchFamily="34" charset="0"/>
                <a:ea typeface="Calibri" pitchFamily="34" charset="-122"/>
                <a:cs typeface="Calibri" pitchFamily="34" charset="-120"/>
              </a:rPr>
              <a:t>Gradient · Backward</a:t>
            </a:r>
            <a:endParaRPr lang="en-US" sz="2000" dirty="0">
              <a:solidFill>
                <a:srgbClr val="FF0000"/>
              </a:solidFill>
            </a:endParaRPr>
          </a:p>
        </p:txBody>
      </p:sp>
      <p:sp>
        <p:nvSpPr>
          <p:cNvPr id="13" name="Text 10"/>
          <p:cNvSpPr/>
          <p:nvPr/>
        </p:nvSpPr>
        <p:spPr>
          <a:xfrm>
            <a:off x="6583680" y="2697480"/>
            <a:ext cx="4663440" cy="457200"/>
          </a:xfrm>
          <a:prstGeom prst="rect">
            <a:avLst/>
          </a:prstGeom>
          <a:noFill/>
          <a:ln/>
        </p:spPr>
        <p:txBody>
          <a:bodyPr wrap="square" lIns="0" tIns="0" rIns="0" bIns="0"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(θ, h, E)  →  ∇L = (∂L/∂θ, ∂L/∂h, ∂L/∂E)</a:t>
            </a:r>
            <a:endParaRPr lang="en-US" sz="1500" dirty="0"/>
          </a:p>
        </p:txBody>
      </p:sp>
      <p:sp>
        <p:nvSpPr>
          <p:cNvPr id="14" name="Text 11"/>
          <p:cNvSpPr/>
          <p:nvPr/>
        </p:nvSpPr>
        <p:spPr>
          <a:xfrm>
            <a:off x="6583680" y="3291840"/>
            <a:ext cx="4937760" cy="1280160"/>
          </a:xfrm>
          <a:prstGeom prst="rect">
            <a:avLst/>
          </a:prstGeom>
          <a:noFill/>
          <a:ln/>
        </p:spPr>
        <p:txBody>
          <a:bodyPr wrap="square" lIns="0" tIns="0" rIns="0" bIns="0" rtlCol="0" anchor="t"/>
          <a:lstStyle/>
          <a:p>
            <a:pPr marL="0" indent="0">
              <a:spcAft>
                <a:spcPts val="800"/>
              </a:spcAft>
              <a:buNone/>
            </a:pPr>
            <a:r>
              <a:rPr lang="en-US" sz="1500" dirty="0">
                <a:solidFill>
                  <a:srgbClr val="FF0000"/>
                </a:solidFill>
                <a:latin typeface="Calibri" pitchFamily="34" charset="0"/>
                <a:ea typeface="Calibri" pitchFamily="34" charset="-122"/>
                <a:cs typeface="Calibri" pitchFamily="34" charset="-120"/>
              </a:rPr>
              <a:t>30 mins</a:t>
            </a:r>
            <a:r>
              <a:rPr lang="en-US" sz="1500" dirty="0">
                <a:solidFill>
                  <a:srgbClr val="5B6472"/>
                </a:solidFill>
                <a:latin typeface="Calibri" pitchFamily="34" charset="0"/>
                <a:ea typeface="Calibri" pitchFamily="34" charset="-122"/>
                <a:cs typeface="Calibri" pitchFamily="34" charset="-120"/>
              </a:rPr>
              <a:t> per</a:t>
            </a:r>
            <a:endParaRPr lang="en-US" sz="1500" dirty="0"/>
          </a:p>
          <a:p>
            <a:pPr marL="0" indent="0">
              <a:spcAft>
                <a:spcPts val="800"/>
              </a:spcAft>
              <a:buNone/>
            </a:pPr>
            <a:r>
              <a:rPr lang="en-US" sz="1500" dirty="0">
                <a:solidFill>
                  <a:srgbClr val="5B6472"/>
                </a:solidFill>
                <a:latin typeface="Calibri" pitchFamily="34" charset="0"/>
                <a:ea typeface="Calibri" pitchFamily="34" charset="-122"/>
                <a:cs typeface="Calibri" pitchFamily="34" charset="-120"/>
              </a:rPr>
              <a:t>Measures the lattice below: how to reshape it to absorb better.</a:t>
            </a:r>
            <a:endParaRPr lang="en-US" sz="1500" dirty="0"/>
          </a:p>
        </p:txBody>
      </p:sp>
      <p:pic>
        <p:nvPicPr>
          <p:cNvPr id="20" name="Image 1" descr="/Users/I772771/jc/poly/slides/defense_assets/figs/blocks.png">
            <a:extLst>
              <a:ext uri="{FF2B5EF4-FFF2-40B4-BE49-F238E27FC236}">
                <a16:creationId xmlns:a16="http://schemas.microsoft.com/office/drawing/2014/main" id="{2CABC316-2F6D-A309-DE78-4D6CD3808A5D}"/>
              </a:ext>
            </a:extLst>
          </p:cNvPr>
          <p:cNvPicPr>
            <a:picLocks noChangeAspect="1"/>
          </p:cNvPicPr>
          <p:nvPr/>
        </p:nvPicPr>
        <p:blipFill>
          <a:blip r:embed="rId4"/>
          <a:stretch>
            <a:fillRect/>
          </a:stretch>
        </p:blipFill>
        <p:spPr>
          <a:xfrm>
            <a:off x="4530908" y="4278392"/>
            <a:ext cx="3242850" cy="2148840"/>
          </a:xfrm>
          <a:prstGeom prst="rect">
            <a:avLst/>
          </a:prstGeom>
        </p:spPr>
      </p:pic>
      <p:sp>
        <p:nvSpPr>
          <p:cNvPr id="21" name="TextBox 20">
            <a:extLst>
              <a:ext uri="{FF2B5EF4-FFF2-40B4-BE49-F238E27FC236}">
                <a16:creationId xmlns:a16="http://schemas.microsoft.com/office/drawing/2014/main" id="{15FB5CB6-079B-2C03-D114-A4DA9A0B49FB}"/>
              </a:ext>
            </a:extLst>
          </p:cNvPr>
          <p:cNvSpPr txBox="1"/>
          <p:nvPr/>
        </p:nvSpPr>
        <p:spPr>
          <a:xfrm>
            <a:off x="3090036" y="4378428"/>
            <a:ext cx="1338819" cy="323165"/>
          </a:xfrm>
          <a:prstGeom prst="rect">
            <a:avLst/>
          </a:prstGeom>
          <a:noFill/>
        </p:spPr>
        <p:txBody>
          <a:bodyPr wrap="square" rtlCol="0">
            <a:spAutoFit/>
          </a:bodyPr>
          <a:lstStyle/>
          <a:p>
            <a:r>
              <a:rPr lang="en-US" sz="1500" dirty="0">
                <a:solidFill>
                  <a:srgbClr val="FF0000"/>
                </a:solidFill>
              </a:rPr>
              <a:t>Body 2 Block</a:t>
            </a:r>
          </a:p>
        </p:txBody>
      </p:sp>
      <p:sp>
        <p:nvSpPr>
          <p:cNvPr id="22" name="TextBox 21">
            <a:extLst>
              <a:ext uri="{FF2B5EF4-FFF2-40B4-BE49-F238E27FC236}">
                <a16:creationId xmlns:a16="http://schemas.microsoft.com/office/drawing/2014/main" id="{FD7037FE-6469-CBD9-9601-4ECEF76379AB}"/>
              </a:ext>
            </a:extLst>
          </p:cNvPr>
          <p:cNvSpPr txBox="1"/>
          <p:nvPr/>
        </p:nvSpPr>
        <p:spPr>
          <a:xfrm>
            <a:off x="3090036" y="4863060"/>
            <a:ext cx="1338819" cy="323165"/>
          </a:xfrm>
          <a:prstGeom prst="rect">
            <a:avLst/>
          </a:prstGeom>
          <a:noFill/>
        </p:spPr>
        <p:txBody>
          <a:bodyPr wrap="square" rtlCol="0">
            <a:spAutoFit/>
          </a:bodyPr>
          <a:lstStyle/>
          <a:p>
            <a:r>
              <a:rPr lang="en-US" sz="1500" dirty="0">
                <a:solidFill>
                  <a:srgbClr val="FF0000"/>
                </a:solidFill>
              </a:rPr>
              <a:t>Body 1 Mesh</a:t>
            </a:r>
          </a:p>
        </p:txBody>
      </p:sp>
      <p:cxnSp>
        <p:nvCxnSpPr>
          <p:cNvPr id="23" name="Straight Arrow Connector 22">
            <a:extLst>
              <a:ext uri="{FF2B5EF4-FFF2-40B4-BE49-F238E27FC236}">
                <a16:creationId xmlns:a16="http://schemas.microsoft.com/office/drawing/2014/main" id="{09ED7968-B967-89A6-2089-39BF6488D061}"/>
              </a:ext>
            </a:extLst>
          </p:cNvPr>
          <p:cNvCxnSpPr/>
          <p:nvPr/>
        </p:nvCxnSpPr>
        <p:spPr>
          <a:xfrm>
            <a:off x="4185306" y="4540010"/>
            <a:ext cx="32154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069FF7A-853F-8899-2380-E7ED6643DEE2}"/>
              </a:ext>
            </a:extLst>
          </p:cNvPr>
          <p:cNvCxnSpPr/>
          <p:nvPr/>
        </p:nvCxnSpPr>
        <p:spPr>
          <a:xfrm>
            <a:off x="4235548" y="5024642"/>
            <a:ext cx="271305"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 3">
            <a:extLst>
              <a:ext uri="{FF2B5EF4-FFF2-40B4-BE49-F238E27FC236}">
                <a16:creationId xmlns:a16="http://schemas.microsoft.com/office/drawing/2014/main" id="{DB639A49-3F4D-5574-AE9A-B8E2EDE97F8A}"/>
              </a:ext>
            </a:extLst>
          </p:cNvPr>
          <p:cNvSpPr/>
          <p:nvPr/>
        </p:nvSpPr>
        <p:spPr>
          <a:xfrm>
            <a:off x="640080" y="1371600"/>
            <a:ext cx="10881360" cy="365760"/>
          </a:xfrm>
          <a:prstGeom prst="rect">
            <a:avLst/>
          </a:prstGeom>
          <a:noFill/>
          <a:ln/>
        </p:spPr>
        <p:txBody>
          <a:bodyPr wrap="square" lIns="0" tIns="0" rIns="0" bIns="0" rtlCol="0" anchor="ctr"/>
          <a:lstStyle/>
          <a:p>
            <a:pPr marL="0" indent="0" algn="ctr">
              <a:buNone/>
            </a:pPr>
            <a:r>
              <a:rPr lang="en-US" sz="1500" dirty="0">
                <a:solidFill>
                  <a:srgbClr val="1A1A2E"/>
                </a:solidFill>
                <a:latin typeface="Calibri" pitchFamily="34" charset="0"/>
                <a:ea typeface="Calibri" pitchFamily="34" charset="-122"/>
                <a:cs typeface="Calibri" pitchFamily="34" charset="-120"/>
              </a:rPr>
              <a:t>3 params:  </a:t>
            </a:r>
            <a:r>
              <a:rPr lang="en-US" sz="1500" b="1" dirty="0">
                <a:solidFill>
                  <a:srgbClr val="002858"/>
                </a:solidFill>
                <a:latin typeface="Calibri" pitchFamily="34" charset="0"/>
                <a:ea typeface="Calibri" pitchFamily="34" charset="-122"/>
                <a:cs typeface="Calibri" pitchFamily="34" charset="-120"/>
              </a:rPr>
              <a:t>apex angle θ,  wall thickness h,  material stiffness 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02858"/>
        </a:solidFill>
        <a:effectLst/>
      </p:bgPr>
    </p:bg>
    <p:spTree>
      <p:nvGrpSpPr>
        <p:cNvPr id="1" name=""/>
        <p:cNvGrpSpPr/>
        <p:nvPr/>
      </p:nvGrpSpPr>
      <p:grpSpPr>
        <a:xfrm>
          <a:off x="0" y="0"/>
          <a:ext cx="0" cy="0"/>
          <a:chOff x="0" y="0"/>
          <a:chExt cx="0" cy="0"/>
        </a:xfrm>
      </p:grpSpPr>
      <p:pic>
        <p:nvPicPr>
          <p:cNvPr id="2" name="Image 0" descr="/Users/I772771/jc/poly/slides/brand/uvic_stripe_navy.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743200"/>
            <a:ext cx="10515600" cy="109728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Methodology</a:t>
            </a:r>
            <a:endParaRPr lang="en-US" sz="4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Users/I772771/jc/poly/slides/brand/uvic_stripe_white.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48640" y="475488"/>
            <a:ext cx="11155680" cy="777240"/>
          </a:xfrm>
          <a:prstGeom prst="rect">
            <a:avLst/>
          </a:prstGeom>
          <a:noFill/>
          <a:ln/>
        </p:spPr>
        <p:txBody>
          <a:bodyPr wrap="square" lIns="0" tIns="0" rIns="0" bIns="0" rtlCol="0" anchor="t"/>
          <a:lstStyle/>
          <a:p>
            <a:r>
              <a:rPr lang="en-CA" sz="2600" b="1" dirty="0">
                <a:solidFill>
                  <a:srgbClr val="0073BC"/>
                </a:solidFill>
                <a:latin typeface="Cambria" pitchFamily="34" charset="0"/>
              </a:rPr>
              <a:t>Challenge for </a:t>
            </a:r>
            <a:r>
              <a:rPr lang="en-CA" sz="2600" b="1" dirty="0">
                <a:solidFill>
                  <a:srgbClr val="FF0000"/>
                </a:solidFill>
                <a:latin typeface="Cambria" pitchFamily="34" charset="0"/>
              </a:rPr>
              <a:t>Forward </a:t>
            </a:r>
            <a:r>
              <a:rPr lang="en-CA" sz="2600" b="1" dirty="0">
                <a:latin typeface="Cambria" pitchFamily="34" charset="0"/>
              </a:rPr>
              <a:t>(Stress Prediction): </a:t>
            </a:r>
          </a:p>
          <a:p>
            <a:r>
              <a:rPr lang="en-CA" sz="2600" b="1" dirty="0">
                <a:solidFill>
                  <a:srgbClr val="FF0000"/>
                </a:solidFill>
                <a:latin typeface="Cambria" pitchFamily="34" charset="0"/>
              </a:rPr>
              <a:t>Rapid Variation </a:t>
            </a:r>
            <a:r>
              <a:rPr lang="en-CA" sz="2600" b="1" dirty="0">
                <a:latin typeface="Cambria" pitchFamily="34" charset="0"/>
              </a:rPr>
              <a:t>near </a:t>
            </a:r>
            <a:r>
              <a:rPr lang="en-CA" sz="2600" b="1" dirty="0" err="1">
                <a:latin typeface="Cambria" pitchFamily="34" charset="0"/>
              </a:rPr>
              <a:t>θ</a:t>
            </a:r>
            <a:r>
              <a:rPr lang="en-CA" sz="2600" b="1" dirty="0">
                <a:latin typeface="Cambria" pitchFamily="34" charset="0"/>
              </a:rPr>
              <a:t>  88°</a:t>
            </a:r>
            <a:endParaRPr lang="en-CA" sz="2600" b="1" dirty="0">
              <a:solidFill>
                <a:srgbClr val="FF0000"/>
              </a:solidFill>
              <a:latin typeface="Cambria" pitchFamily="34" charset="0"/>
            </a:endParaRPr>
          </a:p>
          <a:p>
            <a:pPr marL="0" indent="0">
              <a:buNone/>
            </a:pPr>
            <a:endParaRPr lang="en-US" sz="2600" dirty="0"/>
          </a:p>
        </p:txBody>
      </p:sp>
      <p:sp>
        <p:nvSpPr>
          <p:cNvPr id="4" name="Text 1"/>
          <p:cNvSpPr/>
          <p:nvPr/>
        </p:nvSpPr>
        <p:spPr>
          <a:xfrm>
            <a:off x="548640" y="6199632"/>
            <a:ext cx="82296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Jiacheng Zhao · MSc Defense · University of Victoria</a:t>
            </a:r>
            <a:endParaRPr lang="en-US" sz="900" dirty="0"/>
          </a:p>
        </p:txBody>
      </p:sp>
      <p:sp>
        <p:nvSpPr>
          <p:cNvPr id="5" name="Text 2"/>
          <p:cNvSpPr/>
          <p:nvPr/>
        </p:nvSpPr>
        <p:spPr>
          <a:xfrm>
            <a:off x="11338560" y="619963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pic>
        <p:nvPicPr>
          <p:cNvPr id="6" name="Image 1" descr="/Users/I772771/jc/poly/slides/defense_assets/figs/fig_stress_vs_theta.png"/>
          <p:cNvPicPr>
            <a:picLocks noChangeAspect="1"/>
          </p:cNvPicPr>
          <p:nvPr/>
        </p:nvPicPr>
        <p:blipFill>
          <a:blip r:embed="rId4"/>
          <a:stretch>
            <a:fillRect/>
          </a:stretch>
        </p:blipFill>
        <p:spPr>
          <a:xfrm>
            <a:off x="502920" y="2039815"/>
            <a:ext cx="6309360" cy="3235569"/>
          </a:xfrm>
          <a:prstGeom prst="rect">
            <a:avLst/>
          </a:prstGeom>
        </p:spPr>
      </p:pic>
      <p:sp>
        <p:nvSpPr>
          <p:cNvPr id="7" name="Text 3"/>
          <p:cNvSpPr/>
          <p:nvPr/>
        </p:nvSpPr>
        <p:spPr>
          <a:xfrm>
            <a:off x="502920" y="5806440"/>
            <a:ext cx="6309360" cy="320040"/>
          </a:xfrm>
          <a:prstGeom prst="rect">
            <a:avLst/>
          </a:prstGeom>
          <a:noFill/>
          <a:ln/>
        </p:spPr>
        <p:txBody>
          <a:bodyPr wrap="square" lIns="0" tIns="0" rIns="0" bIns="0"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Each dot is one real simulation.  The shaded band is the switch.</a:t>
            </a:r>
            <a:endParaRPr lang="en-US" sz="1100" dirty="0"/>
          </a:p>
        </p:txBody>
      </p:sp>
      <p:sp>
        <p:nvSpPr>
          <p:cNvPr id="8" name="Text 4"/>
          <p:cNvSpPr/>
          <p:nvPr/>
        </p:nvSpPr>
        <p:spPr>
          <a:xfrm>
            <a:off x="7040880" y="1920240"/>
            <a:ext cx="4663440" cy="3931920"/>
          </a:xfrm>
          <a:prstGeom prst="rect">
            <a:avLst/>
          </a:prstGeom>
          <a:noFill/>
          <a:ln/>
        </p:spPr>
        <p:txBody>
          <a:bodyPr wrap="square" lIns="0" tIns="0" rIns="0" bIns="0" rtlCol="0" anchor="t"/>
          <a:lstStyle/>
          <a:p>
            <a:pPr marL="228600" indent="-228600">
              <a:buSzPct val="100000"/>
              <a:buChar char="▪"/>
            </a:pPr>
            <a:r>
              <a:rPr lang="en-US" sz="1800" dirty="0">
                <a:solidFill>
                  <a:srgbClr val="1A1A2E"/>
                </a:solidFill>
                <a:latin typeface="Calibri" pitchFamily="34" charset="0"/>
                <a:ea typeface="Calibri" pitchFamily="34" charset="-122"/>
                <a:cs typeface="Calibri" pitchFamily="34" charset="-120"/>
              </a:rPr>
              <a:t>Small angle: lattice just squashes, stress steady</a:t>
            </a:r>
            <a:endParaRPr lang="en-US" sz="1800" dirty="0"/>
          </a:p>
          <a:p>
            <a:pPr marL="228600" indent="-228600">
              <a:spcBef>
                <a:spcPts val="1000"/>
              </a:spcBef>
              <a:buSzPct val="100000"/>
              <a:buChar char="▪"/>
            </a:pPr>
            <a:r>
              <a:rPr lang="en-US" sz="1800" dirty="0">
                <a:solidFill>
                  <a:srgbClr val="1A1A2E"/>
                </a:solidFill>
                <a:latin typeface="Calibri" pitchFamily="34" charset="0"/>
                <a:ea typeface="Calibri" pitchFamily="34" charset="-122"/>
                <a:cs typeface="Calibri" pitchFamily="34" charset="-120"/>
              </a:rPr>
              <a:t>Sharp angle: the walls fold over</a:t>
            </a:r>
            <a:endParaRPr lang="en-US" sz="1800" dirty="0"/>
          </a:p>
          <a:p>
            <a:pPr marL="228600" indent="-228600">
              <a:spcBef>
                <a:spcPts val="1000"/>
              </a:spcBef>
              <a:buSzPct val="100000"/>
              <a:buChar char="▪"/>
            </a:pPr>
            <a:r>
              <a:rPr lang="en-US" sz="1800" dirty="0">
                <a:solidFill>
                  <a:srgbClr val="1A1A2E"/>
                </a:solidFill>
                <a:latin typeface="Calibri" pitchFamily="34" charset="0"/>
                <a:ea typeface="Calibri" pitchFamily="34" charset="-122"/>
                <a:cs typeface="Calibri" pitchFamily="34" charset="-120"/>
              </a:rPr>
              <a:t>At the switch </a:t>
            </a:r>
            <a:r>
              <a:rPr lang="en-US" sz="1800" dirty="0">
                <a:solidFill>
                  <a:srgbClr val="FF0000"/>
                </a:solidFill>
                <a:latin typeface="Calibri" pitchFamily="34" charset="0"/>
                <a:ea typeface="Calibri" pitchFamily="34" charset="-122"/>
                <a:cs typeface="Calibri" pitchFamily="34" charset="-120"/>
              </a:rPr>
              <a:t>(~88°) </a:t>
            </a:r>
            <a:r>
              <a:rPr lang="en-US" dirty="0">
                <a:solidFill>
                  <a:srgbClr val="FF0000"/>
                </a:solidFill>
                <a:latin typeface="Calibri" pitchFamily="34" charset="0"/>
                <a:ea typeface="Calibri" pitchFamily="34" charset="-122"/>
                <a:cs typeface="Calibri" pitchFamily="34" charset="-120"/>
              </a:rPr>
              <a:t>it </a:t>
            </a:r>
            <a:r>
              <a:rPr lang="en-US" sz="1800" dirty="0">
                <a:solidFill>
                  <a:srgbClr val="FF0000"/>
                </a:solidFill>
                <a:latin typeface="Calibri" pitchFamily="34" charset="0"/>
                <a:ea typeface="Calibri" pitchFamily="34" charset="-122"/>
                <a:cs typeface="Calibri" pitchFamily="34" charset="-120"/>
              </a:rPr>
              <a:t>goes wild</a:t>
            </a:r>
            <a:endParaRPr lang="en-US" sz="1800" dirty="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Users/I772771/jc/poly/slides/brand/uvic_stripe_white.png"/>
          <p:cNvPicPr>
            <a:picLocks noChangeAspect="1"/>
          </p:cNvPicPr>
          <p:nvPr/>
        </p:nvPicPr>
        <p:blipFill>
          <a:blip r:embed="rId3"/>
          <a:stretch>
            <a:fillRect/>
          </a:stretch>
        </p:blipFill>
        <p:spPr>
          <a:xfrm>
            <a:off x="0" y="74428"/>
            <a:ext cx="12191695" cy="6858000"/>
          </a:xfrm>
          <a:prstGeom prst="rect">
            <a:avLst/>
          </a:prstGeom>
        </p:spPr>
      </p:pic>
      <p:sp>
        <p:nvSpPr>
          <p:cNvPr id="3" name="Text 0"/>
          <p:cNvSpPr/>
          <p:nvPr/>
        </p:nvSpPr>
        <p:spPr>
          <a:xfrm>
            <a:off x="548640" y="475488"/>
            <a:ext cx="11155680" cy="777240"/>
          </a:xfrm>
          <a:prstGeom prst="rect">
            <a:avLst/>
          </a:prstGeom>
          <a:noFill/>
          <a:ln/>
        </p:spPr>
        <p:txBody>
          <a:bodyPr wrap="square" lIns="0" tIns="0" rIns="0" bIns="0" rtlCol="0" anchor="t"/>
          <a:lstStyle/>
          <a:p>
            <a:r>
              <a:rPr lang="en-US" sz="2600" b="1" dirty="0">
                <a:solidFill>
                  <a:srgbClr val="0073BC"/>
                </a:solidFill>
                <a:latin typeface="Cambria" pitchFamily="34" charset="0"/>
                <a:ea typeface="Cambria" pitchFamily="34" charset="-122"/>
                <a:cs typeface="Cambria" pitchFamily="34" charset="-120"/>
              </a:rPr>
              <a:t>Solution for </a:t>
            </a:r>
            <a:r>
              <a:rPr lang="en-CA" sz="2600" b="1" dirty="0">
                <a:solidFill>
                  <a:srgbClr val="FF0000"/>
                </a:solidFill>
                <a:latin typeface="Cambria" pitchFamily="34" charset="0"/>
              </a:rPr>
              <a:t>Forward (Stress Prediction):</a:t>
            </a:r>
            <a:r>
              <a:rPr lang="en-US" sz="2600" b="1" dirty="0">
                <a:latin typeface="Cambria" pitchFamily="34" charset="0"/>
                <a:ea typeface="Cambria" pitchFamily="34" charset="-122"/>
                <a:cs typeface="Cambria" pitchFamily="34" charset="-120"/>
              </a:rPr>
              <a:t> </a:t>
            </a:r>
          </a:p>
          <a:p>
            <a:r>
              <a:rPr lang="en-US" sz="2600" b="1" dirty="0">
                <a:solidFill>
                  <a:srgbClr val="FF0000"/>
                </a:solidFill>
                <a:latin typeface="Cambria" pitchFamily="34" charset="0"/>
                <a:ea typeface="Cambria" pitchFamily="34" charset="-122"/>
                <a:cs typeface="Cambria" pitchFamily="34" charset="-120"/>
              </a:rPr>
              <a:t>Feature </a:t>
            </a:r>
            <a:r>
              <a:rPr lang="en-US" sz="2600" b="1" dirty="0" err="1">
                <a:solidFill>
                  <a:srgbClr val="FF0000"/>
                </a:solidFill>
                <a:latin typeface="Cambria" pitchFamily="34" charset="0"/>
                <a:ea typeface="Cambria" pitchFamily="34" charset="-122"/>
                <a:cs typeface="Cambria" pitchFamily="34" charset="-120"/>
              </a:rPr>
              <a:t>Enginnering</a:t>
            </a:r>
            <a:endParaRPr lang="en-US" sz="2600" b="1" dirty="0">
              <a:solidFill>
                <a:srgbClr val="FF0000"/>
              </a:solidFill>
            </a:endParaRPr>
          </a:p>
        </p:txBody>
      </p:sp>
      <p:sp>
        <p:nvSpPr>
          <p:cNvPr id="4" name="Text 1"/>
          <p:cNvSpPr/>
          <p:nvPr/>
        </p:nvSpPr>
        <p:spPr>
          <a:xfrm>
            <a:off x="548640" y="6199632"/>
            <a:ext cx="82296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Jiacheng Zhao · MSc Defense · University of Victoria</a:t>
            </a:r>
            <a:endParaRPr lang="en-US" sz="900" dirty="0"/>
          </a:p>
        </p:txBody>
      </p:sp>
      <p:sp>
        <p:nvSpPr>
          <p:cNvPr id="5" name="Text 2"/>
          <p:cNvSpPr/>
          <p:nvPr/>
        </p:nvSpPr>
        <p:spPr>
          <a:xfrm>
            <a:off x="11338560" y="619963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pic>
        <p:nvPicPr>
          <p:cNvPr id="6" name="Image 1" descr="/Users/I772771/jc/poly/slides/defense_assets/figs/fig_forward_pipeline.png"/>
          <p:cNvPicPr>
            <a:picLocks noChangeAspect="1"/>
          </p:cNvPicPr>
          <p:nvPr/>
        </p:nvPicPr>
        <p:blipFill>
          <a:blip r:embed="rId4"/>
          <a:stretch>
            <a:fillRect/>
          </a:stretch>
        </p:blipFill>
        <p:spPr>
          <a:xfrm>
            <a:off x="1954530" y="1508760"/>
            <a:ext cx="8252460" cy="2286000"/>
          </a:xfrm>
          <a:prstGeom prst="rect">
            <a:avLst/>
          </a:prstGeom>
        </p:spPr>
      </p:pic>
      <p:sp>
        <p:nvSpPr>
          <p:cNvPr id="8" name="Text 4"/>
          <p:cNvSpPr/>
          <p:nvPr/>
        </p:nvSpPr>
        <p:spPr>
          <a:xfrm>
            <a:off x="640080" y="4160520"/>
            <a:ext cx="10881360" cy="2039112"/>
          </a:xfrm>
          <a:prstGeom prst="rect">
            <a:avLst/>
          </a:prstGeom>
          <a:noFill/>
          <a:ln/>
        </p:spPr>
        <p:txBody>
          <a:bodyPr wrap="square" lIns="0" tIns="0" rIns="0" bIns="0" rtlCol="0" anchor="t"/>
          <a:lstStyle/>
          <a:p>
            <a:pPr marL="228600" indent="-228600">
              <a:buSzPct val="100000"/>
              <a:buChar char="▪"/>
            </a:pPr>
            <a:r>
              <a:rPr lang="en-US" sz="2000" dirty="0">
                <a:solidFill>
                  <a:srgbClr val="1A1A2E"/>
                </a:solidFill>
                <a:latin typeface="Calibri" pitchFamily="34" charset="0"/>
                <a:ea typeface="Calibri" pitchFamily="34" charset="-122"/>
                <a:cs typeface="Calibri" pitchFamily="34" charset="-120"/>
              </a:rPr>
              <a:t>Turn 3 params into 22 physics features, </a:t>
            </a:r>
            <a:r>
              <a:rPr lang="en-US" sz="2000" dirty="0">
                <a:solidFill>
                  <a:srgbClr val="1A1A2E"/>
                </a:solidFill>
                <a:latin typeface="Cambria" pitchFamily="34" charset="0"/>
                <a:ea typeface="Calibri" pitchFamily="34" charset="-122"/>
                <a:cs typeface="Calibri" pitchFamily="34" charset="-120"/>
              </a:rPr>
              <a:t>h</a:t>
            </a:r>
            <a:r>
              <a:rPr lang="en-US" sz="2000" dirty="0">
                <a:solidFill>
                  <a:srgbClr val="1A1A2E"/>
                </a:solidFill>
                <a:latin typeface="Cambria" pitchFamily="34" charset="0"/>
                <a:ea typeface="Cambria" pitchFamily="34" charset="-122"/>
                <a:cs typeface="Cambria" pitchFamily="34" charset="-120"/>
              </a:rPr>
              <a:t>int from physics clues</a:t>
            </a:r>
            <a:endParaRPr lang="en-US" sz="2000" dirty="0"/>
          </a:p>
          <a:p>
            <a:pPr marL="228600" indent="-228600">
              <a:spcBef>
                <a:spcPts val="1000"/>
              </a:spcBef>
              <a:buSzPct val="100000"/>
              <a:buFontTx/>
              <a:buChar char="▪"/>
            </a:pPr>
            <a:r>
              <a:rPr lang="en-US" sz="2000" b="1" dirty="0">
                <a:solidFill>
                  <a:srgbClr val="FF0000"/>
                </a:solidFill>
                <a:latin typeface="Calibri" pitchFamily="34" charset="0"/>
                <a:ea typeface="Calibri" pitchFamily="34" charset="-122"/>
                <a:cs typeface="Calibri" pitchFamily="34" charset="-120"/>
              </a:rPr>
              <a:t>3 raw params + 12 engineered + 7 one-hot</a:t>
            </a:r>
          </a:p>
          <a:p>
            <a:pPr marL="228600" indent="-228600">
              <a:spcBef>
                <a:spcPts val="1000"/>
              </a:spcBef>
              <a:buSzPct val="100000"/>
              <a:buFontTx/>
              <a:buChar char="▪"/>
            </a:pPr>
            <a:r>
              <a:rPr lang="en-US" sz="2000" dirty="0">
                <a:solidFill>
                  <a:srgbClr val="1A1A2E"/>
                </a:solidFill>
                <a:latin typeface="Calibri" pitchFamily="34" charset="0"/>
                <a:ea typeface="Calibri" pitchFamily="34" charset="-122"/>
                <a:cs typeface="Calibri" pitchFamily="34" charset="-120"/>
              </a:rPr>
              <a:t>Learn stress on a log scale</a:t>
            </a:r>
            <a:endParaRPr lang="en-US" sz="2000" b="1" dirty="0">
              <a:solidFill>
                <a:srgbClr val="FF0000"/>
              </a:solidFill>
              <a:latin typeface="Calibri" pitchFamily="34" charset="0"/>
              <a:ea typeface="Calibri" pitchFamily="34" charset="-122"/>
              <a:cs typeface="Calibri" pitchFamily="34" charset="-120"/>
            </a:endParaRPr>
          </a:p>
          <a:p>
            <a:pPr marL="228600" indent="-228600">
              <a:spcBef>
                <a:spcPts val="1000"/>
              </a:spcBef>
              <a:buSzPct val="100000"/>
              <a:buChar char="▪"/>
            </a:pPr>
            <a:endParaRPr lang="en-US" sz="2000" dirty="0">
              <a:solidFill>
                <a:srgbClr val="1A1A2E"/>
              </a:solidFill>
              <a:latin typeface="Calibri" pitchFamily="34" charset="0"/>
              <a:ea typeface="Calibri" pitchFamily="34" charset="-122"/>
              <a:cs typeface="Calibri" pitchFamily="34" charset="-120"/>
            </a:endParaRPr>
          </a:p>
          <a:p>
            <a:pPr marL="228600" indent="-228600">
              <a:spcBef>
                <a:spcPts val="1000"/>
              </a:spcBef>
              <a:buSzPct val="100000"/>
              <a:buChar char="▪"/>
            </a:pPr>
            <a:endParaRPr lang="en-US" sz="1600" dirty="0"/>
          </a:p>
        </p:txBody>
      </p:sp>
      <p:pic>
        <p:nvPicPr>
          <p:cNvPr id="7" name="Picture 6">
            <a:extLst>
              <a:ext uri="{FF2B5EF4-FFF2-40B4-BE49-F238E27FC236}">
                <a16:creationId xmlns:a16="http://schemas.microsoft.com/office/drawing/2014/main" id="{274B6F2B-D17F-1241-BA47-3E5EB1C05B15}"/>
              </a:ext>
            </a:extLst>
          </p:cNvPr>
          <p:cNvPicPr>
            <a:picLocks noChangeAspect="1"/>
          </p:cNvPicPr>
          <p:nvPr/>
        </p:nvPicPr>
        <p:blipFill>
          <a:blip r:embed="rId5"/>
          <a:stretch>
            <a:fillRect/>
          </a:stretch>
        </p:blipFill>
        <p:spPr>
          <a:xfrm>
            <a:off x="6897370" y="3922776"/>
            <a:ext cx="5041900" cy="2514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0FF90-3BF1-F86E-B374-0790BFED0BD6}"/>
            </a:ext>
          </a:extLst>
        </p:cNvPr>
        <p:cNvGrpSpPr/>
        <p:nvPr/>
      </p:nvGrpSpPr>
      <p:grpSpPr>
        <a:xfrm>
          <a:off x="0" y="0"/>
          <a:ext cx="0" cy="0"/>
          <a:chOff x="0" y="0"/>
          <a:chExt cx="0" cy="0"/>
        </a:xfrm>
      </p:grpSpPr>
      <p:pic>
        <p:nvPicPr>
          <p:cNvPr id="2" name="Image 0" descr="/Users/I772771/jc/poly/slides/brand/uvic_stripe_white.png">
            <a:extLst>
              <a:ext uri="{FF2B5EF4-FFF2-40B4-BE49-F238E27FC236}">
                <a16:creationId xmlns:a16="http://schemas.microsoft.com/office/drawing/2014/main" id="{7F1CA56C-FF0E-E764-D577-28DE59EFF6C6}"/>
              </a:ext>
            </a:extLst>
          </p:cNvPr>
          <p:cNvPicPr>
            <a:picLocks noChangeAspect="1"/>
          </p:cNvPicPr>
          <p:nvPr/>
        </p:nvPicPr>
        <p:blipFill>
          <a:blip r:embed="rId3"/>
          <a:stretch>
            <a:fillRect/>
          </a:stretch>
        </p:blipFill>
        <p:spPr>
          <a:xfrm>
            <a:off x="30632" y="0"/>
            <a:ext cx="12191695" cy="6858000"/>
          </a:xfrm>
          <a:prstGeom prst="rect">
            <a:avLst/>
          </a:prstGeom>
        </p:spPr>
      </p:pic>
      <p:sp>
        <p:nvSpPr>
          <p:cNvPr id="3" name="Text 0">
            <a:extLst>
              <a:ext uri="{FF2B5EF4-FFF2-40B4-BE49-F238E27FC236}">
                <a16:creationId xmlns:a16="http://schemas.microsoft.com/office/drawing/2014/main" id="{81958F80-8CD9-FDD6-7C04-90F2FC1AB3D2}"/>
              </a:ext>
            </a:extLst>
          </p:cNvPr>
          <p:cNvSpPr/>
          <p:nvPr/>
        </p:nvSpPr>
        <p:spPr>
          <a:xfrm>
            <a:off x="548640" y="475488"/>
            <a:ext cx="11155680" cy="777240"/>
          </a:xfrm>
          <a:prstGeom prst="rect">
            <a:avLst/>
          </a:prstGeom>
          <a:noFill/>
          <a:ln/>
        </p:spPr>
        <p:txBody>
          <a:bodyPr wrap="square" lIns="0" tIns="0" rIns="0" bIns="0" rtlCol="0" anchor="t"/>
          <a:lstStyle/>
          <a:p>
            <a:r>
              <a:rPr lang="en-US" sz="2600" b="1" dirty="0">
                <a:solidFill>
                  <a:srgbClr val="0073BC"/>
                </a:solidFill>
                <a:latin typeface="Cambria" pitchFamily="34" charset="0"/>
                <a:ea typeface="Cambria" pitchFamily="34" charset="-122"/>
                <a:cs typeface="Cambria" pitchFamily="34" charset="-120"/>
              </a:rPr>
              <a:t>Methods </a:t>
            </a:r>
            <a:r>
              <a:rPr lang="en-CA" sz="2600" b="1" dirty="0">
                <a:solidFill>
                  <a:srgbClr val="FF0000"/>
                </a:solidFill>
                <a:latin typeface="Cambria" pitchFamily="34" charset="0"/>
              </a:rPr>
              <a:t>Forward (Stress Prediction)</a:t>
            </a:r>
          </a:p>
          <a:p>
            <a:r>
              <a:rPr lang="en-US" sz="2600" b="1" dirty="0">
                <a:solidFill>
                  <a:srgbClr val="FF0000"/>
                </a:solidFill>
                <a:latin typeface="Cambria" pitchFamily="34" charset="0"/>
                <a:ea typeface="Cambria" pitchFamily="34" charset="-122"/>
                <a:cs typeface="Cambria" pitchFamily="34" charset="-120"/>
              </a:rPr>
              <a:t>2 routes </a:t>
            </a:r>
            <a:endParaRPr lang="en-US" sz="2600" dirty="0"/>
          </a:p>
        </p:txBody>
      </p:sp>
      <p:sp>
        <p:nvSpPr>
          <p:cNvPr id="4" name="Text 1">
            <a:extLst>
              <a:ext uri="{FF2B5EF4-FFF2-40B4-BE49-F238E27FC236}">
                <a16:creationId xmlns:a16="http://schemas.microsoft.com/office/drawing/2014/main" id="{F0023AB8-0315-4D1C-8FD7-1FD6DB6459F3}"/>
              </a:ext>
            </a:extLst>
          </p:cNvPr>
          <p:cNvSpPr/>
          <p:nvPr/>
        </p:nvSpPr>
        <p:spPr>
          <a:xfrm>
            <a:off x="548640" y="6199632"/>
            <a:ext cx="82296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Jiacheng Zhao · MSc Defense · University of Victoria</a:t>
            </a:r>
            <a:endParaRPr lang="en-US" sz="900" dirty="0"/>
          </a:p>
        </p:txBody>
      </p:sp>
      <p:sp>
        <p:nvSpPr>
          <p:cNvPr id="5" name="Text 2">
            <a:extLst>
              <a:ext uri="{FF2B5EF4-FFF2-40B4-BE49-F238E27FC236}">
                <a16:creationId xmlns:a16="http://schemas.microsoft.com/office/drawing/2014/main" id="{78034A26-7706-1622-6B69-36F2F35A7460}"/>
              </a:ext>
            </a:extLst>
          </p:cNvPr>
          <p:cNvSpPr/>
          <p:nvPr/>
        </p:nvSpPr>
        <p:spPr>
          <a:xfrm>
            <a:off x="11338560" y="619963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pic>
        <p:nvPicPr>
          <p:cNvPr id="6" name="Image 1" descr="/Users/I772771/jc/poly/slides/defense_assets/figs/fig_forward_pipeline.png">
            <a:extLst>
              <a:ext uri="{FF2B5EF4-FFF2-40B4-BE49-F238E27FC236}">
                <a16:creationId xmlns:a16="http://schemas.microsoft.com/office/drawing/2014/main" id="{22D217AD-EE7C-454A-0C22-BD34B4290F65}"/>
              </a:ext>
            </a:extLst>
          </p:cNvPr>
          <p:cNvPicPr>
            <a:picLocks noChangeAspect="1"/>
          </p:cNvPicPr>
          <p:nvPr/>
        </p:nvPicPr>
        <p:blipFill>
          <a:blip r:embed="rId4"/>
          <a:stretch>
            <a:fillRect/>
          </a:stretch>
        </p:blipFill>
        <p:spPr>
          <a:xfrm>
            <a:off x="2000249" y="1373886"/>
            <a:ext cx="8252460" cy="2286000"/>
          </a:xfrm>
          <a:prstGeom prst="rect">
            <a:avLst/>
          </a:prstGeom>
        </p:spPr>
      </p:pic>
      <p:sp>
        <p:nvSpPr>
          <p:cNvPr id="7" name="Text 3">
            <a:extLst>
              <a:ext uri="{FF2B5EF4-FFF2-40B4-BE49-F238E27FC236}">
                <a16:creationId xmlns:a16="http://schemas.microsoft.com/office/drawing/2014/main" id="{246AFEF4-5B88-6B7B-A51D-A102218EE785}"/>
              </a:ext>
            </a:extLst>
          </p:cNvPr>
          <p:cNvSpPr/>
          <p:nvPr/>
        </p:nvSpPr>
        <p:spPr>
          <a:xfrm>
            <a:off x="640080" y="3351276"/>
            <a:ext cx="11064240" cy="320040"/>
          </a:xfrm>
          <a:prstGeom prst="rect">
            <a:avLst/>
          </a:prstGeom>
          <a:noFill/>
          <a:ln/>
        </p:spPr>
        <p:txBody>
          <a:bodyPr wrap="square" lIns="0" tIns="0" rIns="0" bIns="0" rtlCol="0" anchor="ctr"/>
          <a:lstStyle/>
          <a:p>
            <a:pPr marL="0" indent="0" algn="ctr">
              <a:buNone/>
            </a:pPr>
            <a:endParaRPr lang="en-US" sz="1200" dirty="0"/>
          </a:p>
        </p:txBody>
      </p:sp>
      <p:sp>
        <p:nvSpPr>
          <p:cNvPr id="8" name="Text 4">
            <a:extLst>
              <a:ext uri="{FF2B5EF4-FFF2-40B4-BE49-F238E27FC236}">
                <a16:creationId xmlns:a16="http://schemas.microsoft.com/office/drawing/2014/main" id="{9AC8F461-5EF7-AE9C-4F11-32556672A00F}"/>
              </a:ext>
            </a:extLst>
          </p:cNvPr>
          <p:cNvSpPr/>
          <p:nvPr/>
        </p:nvSpPr>
        <p:spPr>
          <a:xfrm>
            <a:off x="685800" y="3803904"/>
            <a:ext cx="10881360" cy="2039112"/>
          </a:xfrm>
          <a:prstGeom prst="rect">
            <a:avLst/>
          </a:prstGeom>
          <a:noFill/>
          <a:ln/>
        </p:spPr>
        <p:txBody>
          <a:bodyPr wrap="square" lIns="0" tIns="0" rIns="0" bIns="0" rtlCol="0" anchor="t"/>
          <a:lstStyle/>
          <a:p>
            <a:pPr marL="228600" indent="-228600">
              <a:spcBef>
                <a:spcPts val="1000"/>
              </a:spcBef>
              <a:buSzPct val="100000"/>
              <a:buChar char="▪"/>
            </a:pPr>
            <a:r>
              <a:rPr lang="en-CA" sz="2000" b="1" dirty="0">
                <a:solidFill>
                  <a:srgbClr val="1A1A2E"/>
                </a:solidFill>
                <a:latin typeface="Calibri" pitchFamily="34" charset="0"/>
                <a:cs typeface="Calibri" pitchFamily="34" charset="-120"/>
              </a:rPr>
              <a:t>Method 1 (Time-series → Peak Stress Value): </a:t>
            </a:r>
          </a:p>
          <a:p>
            <a:pPr marL="685800" lvl="1" indent="-228600">
              <a:spcBef>
                <a:spcPts val="1000"/>
              </a:spcBef>
              <a:buSzPct val="100000"/>
              <a:buChar char="▪"/>
            </a:pPr>
            <a:r>
              <a:rPr lang="en-CA" sz="1600" dirty="0">
                <a:solidFill>
                  <a:srgbClr val="1A1A2E"/>
                </a:solidFill>
                <a:latin typeface="Calibri" pitchFamily="34" charset="0"/>
                <a:cs typeface="Calibri" pitchFamily="34" charset="-120"/>
              </a:rPr>
              <a:t>MLP (Fully connected neural network), </a:t>
            </a:r>
          </a:p>
          <a:p>
            <a:pPr marL="685800" lvl="1" indent="-228600">
              <a:spcBef>
                <a:spcPts val="1000"/>
              </a:spcBef>
              <a:buSzPct val="100000"/>
              <a:buChar char="▪"/>
            </a:pPr>
            <a:r>
              <a:rPr lang="en-CA" sz="1600" dirty="0" err="1">
                <a:solidFill>
                  <a:srgbClr val="1A1A2E"/>
                </a:solidFill>
                <a:latin typeface="Calibri" pitchFamily="34" charset="0"/>
                <a:cs typeface="Calibri" pitchFamily="34" charset="-120"/>
              </a:rPr>
              <a:t>DeepONet</a:t>
            </a:r>
            <a:r>
              <a:rPr lang="en-CA" sz="1600" dirty="0">
                <a:solidFill>
                  <a:srgbClr val="1A1A2E"/>
                </a:solidFill>
                <a:latin typeface="Calibri" pitchFamily="34" charset="0"/>
                <a:cs typeface="Calibri" pitchFamily="34" charset="-120"/>
              </a:rPr>
              <a:t> (predict a </a:t>
            </a:r>
            <a:r>
              <a:rPr lang="en-CA" sz="1600">
                <a:solidFill>
                  <a:srgbClr val="1A1A2E"/>
                </a:solidFill>
                <a:latin typeface="Calibri" pitchFamily="34" charset="0"/>
                <a:cs typeface="Calibri" pitchFamily="34" charset="-120"/>
              </a:rPr>
              <a:t>time series)</a:t>
            </a:r>
            <a:endParaRPr lang="en-CA" sz="1600" dirty="0">
              <a:solidFill>
                <a:srgbClr val="1A1A2E"/>
              </a:solidFill>
              <a:latin typeface="Calibri" pitchFamily="34" charset="0"/>
              <a:cs typeface="Calibri" pitchFamily="34" charset="-120"/>
            </a:endParaRPr>
          </a:p>
          <a:p>
            <a:pPr marL="228600" indent="-228600">
              <a:spcBef>
                <a:spcPts val="1000"/>
              </a:spcBef>
              <a:buSzPct val="100000"/>
              <a:buFontTx/>
              <a:buChar char="▪"/>
            </a:pPr>
            <a:r>
              <a:rPr lang="en-CA" sz="2000" b="1" dirty="0">
                <a:solidFill>
                  <a:srgbClr val="1A1A2E"/>
                </a:solidFill>
                <a:latin typeface="Calibri" pitchFamily="34" charset="0"/>
                <a:cs typeface="Calibri" pitchFamily="34" charset="-120"/>
              </a:rPr>
              <a:t>Method 2 (Directly predict Peak Stress Value): </a:t>
            </a:r>
          </a:p>
          <a:p>
            <a:pPr marL="685800" lvl="1" indent="-228600">
              <a:spcBef>
                <a:spcPts val="1000"/>
              </a:spcBef>
              <a:buSzPct val="100000"/>
              <a:buFontTx/>
              <a:buChar char="▪"/>
            </a:pPr>
            <a:r>
              <a:rPr lang="en-CA" sz="1600" dirty="0" err="1">
                <a:solidFill>
                  <a:srgbClr val="1A1A2E"/>
                </a:solidFill>
                <a:latin typeface="Calibri" pitchFamily="34" charset="0"/>
                <a:cs typeface="Calibri" pitchFamily="34" charset="-120"/>
              </a:rPr>
              <a:t>XGBoost</a:t>
            </a:r>
            <a:r>
              <a:rPr lang="en-CA" sz="1600" dirty="0">
                <a:solidFill>
                  <a:srgbClr val="1A1A2E"/>
                </a:solidFill>
                <a:latin typeface="Calibri" pitchFamily="34" charset="0"/>
                <a:cs typeface="Calibri" pitchFamily="34" charset="-120"/>
              </a:rPr>
              <a:t> (Gradient </a:t>
            </a:r>
            <a:r>
              <a:rPr lang="en-CA" sz="1600" dirty="0" err="1">
                <a:solidFill>
                  <a:srgbClr val="1A1A2E"/>
                </a:solidFill>
                <a:latin typeface="Calibri" pitchFamily="34" charset="0"/>
                <a:cs typeface="Calibri" pitchFamily="34" charset="-120"/>
              </a:rPr>
              <a:t>Boostied</a:t>
            </a:r>
            <a:r>
              <a:rPr lang="en-CA" sz="1600" dirty="0">
                <a:solidFill>
                  <a:srgbClr val="1A1A2E"/>
                </a:solidFill>
                <a:latin typeface="Calibri" pitchFamily="34" charset="0"/>
                <a:cs typeface="Calibri" pitchFamily="34" charset="-120"/>
              </a:rPr>
              <a:t> Decision Tree), Random Forest </a:t>
            </a:r>
          </a:p>
          <a:p>
            <a:pPr marL="685800" lvl="1" indent="-228600">
              <a:spcBef>
                <a:spcPts val="1000"/>
              </a:spcBef>
              <a:buSzPct val="100000"/>
              <a:buFontTx/>
              <a:buChar char="▪"/>
            </a:pPr>
            <a:r>
              <a:rPr lang="en-CA" sz="1600" dirty="0">
                <a:solidFill>
                  <a:srgbClr val="1A1A2E"/>
                </a:solidFill>
                <a:latin typeface="Calibri" pitchFamily="34" charset="0"/>
                <a:cs typeface="Calibri" pitchFamily="34" charset="-120"/>
              </a:rPr>
              <a:t>GBR(Gradient Boosting Regressor), SVR (support vector regression), MLP</a:t>
            </a:r>
            <a:endParaRPr lang="en-US" sz="1600" dirty="0">
              <a:solidFill>
                <a:srgbClr val="1A1A2E"/>
              </a:solidFill>
              <a:latin typeface="Calibri" pitchFamily="34" charset="0"/>
              <a:cs typeface="Calibri" pitchFamily="34" charset="-120"/>
            </a:endParaRPr>
          </a:p>
          <a:p>
            <a:pPr marL="228600" indent="-228600">
              <a:spcBef>
                <a:spcPts val="1000"/>
              </a:spcBef>
              <a:buSzPct val="100000"/>
              <a:buChar char="▪"/>
            </a:pPr>
            <a:endParaRPr lang="en-US" sz="1600" dirty="0"/>
          </a:p>
        </p:txBody>
      </p:sp>
    </p:spTree>
    <p:extLst>
      <p:ext uri="{BB962C8B-B14F-4D97-AF65-F5344CB8AC3E}">
        <p14:creationId xmlns:p14="http://schemas.microsoft.com/office/powerpoint/2010/main" val="2574742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Users/I772771/jc/poly/slides/brand/uvic_stripe_white.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48640" y="475488"/>
            <a:ext cx="11155680" cy="777240"/>
          </a:xfrm>
          <a:prstGeom prst="rect">
            <a:avLst/>
          </a:prstGeom>
          <a:noFill/>
          <a:ln/>
        </p:spPr>
        <p:txBody>
          <a:bodyPr wrap="square" lIns="0" tIns="0" rIns="0" bIns="0" rtlCol="0" anchor="t"/>
          <a:lstStyle/>
          <a:p>
            <a:r>
              <a:rPr lang="en-CA" sz="2600" b="1" dirty="0">
                <a:solidFill>
                  <a:srgbClr val="0073BC"/>
                </a:solidFill>
                <a:latin typeface="Cambria" pitchFamily="34" charset="0"/>
              </a:rPr>
              <a:t>Challenge for</a:t>
            </a:r>
            <a:r>
              <a:rPr lang="en-CA" sz="2800" b="1" dirty="0"/>
              <a:t> </a:t>
            </a:r>
            <a:r>
              <a:rPr lang="en-CA" sz="2800" b="1" dirty="0">
                <a:solidFill>
                  <a:srgbClr val="FF0000"/>
                </a:solidFill>
              </a:rPr>
              <a:t>Gradients:</a:t>
            </a:r>
            <a:r>
              <a:rPr lang="en-CA" sz="2800" b="1" dirty="0"/>
              <a:t> Span </a:t>
            </a:r>
            <a:r>
              <a:rPr lang="en-CA" sz="2800" b="1" dirty="0">
                <a:solidFill>
                  <a:srgbClr val="FF0000"/>
                </a:solidFill>
              </a:rPr>
              <a:t>unevenly</a:t>
            </a:r>
            <a:endParaRPr lang="en-US" sz="2600" dirty="0">
              <a:solidFill>
                <a:srgbClr val="FF0000"/>
              </a:solidFill>
            </a:endParaRPr>
          </a:p>
          <a:p>
            <a:pPr marL="0" indent="0">
              <a:buNone/>
            </a:pPr>
            <a:endParaRPr lang="en-US" sz="2600" dirty="0"/>
          </a:p>
        </p:txBody>
      </p:sp>
      <p:sp>
        <p:nvSpPr>
          <p:cNvPr id="4" name="Text 1"/>
          <p:cNvSpPr/>
          <p:nvPr/>
        </p:nvSpPr>
        <p:spPr>
          <a:xfrm>
            <a:off x="548640" y="6199632"/>
            <a:ext cx="82296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Jiacheng Zhao · MSc Defense · University of Victoria</a:t>
            </a:r>
            <a:endParaRPr lang="en-US" sz="900" dirty="0"/>
          </a:p>
        </p:txBody>
      </p:sp>
      <p:sp>
        <p:nvSpPr>
          <p:cNvPr id="5" name="Text 2"/>
          <p:cNvSpPr/>
          <p:nvPr/>
        </p:nvSpPr>
        <p:spPr>
          <a:xfrm>
            <a:off x="11338560" y="619963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pic>
        <p:nvPicPr>
          <p:cNvPr id="6" name="Image 1" descr="/Users/I772771/jc/poly/slides/defense_assets/figs/fig_gradient_dynamic_range.png"/>
          <p:cNvPicPr>
            <a:picLocks noChangeAspect="1"/>
          </p:cNvPicPr>
          <p:nvPr/>
        </p:nvPicPr>
        <p:blipFill>
          <a:blip r:embed="rId4"/>
          <a:stretch>
            <a:fillRect/>
          </a:stretch>
        </p:blipFill>
        <p:spPr>
          <a:xfrm>
            <a:off x="2195703" y="1508760"/>
            <a:ext cx="7770114" cy="2514600"/>
          </a:xfrm>
          <a:prstGeom prst="rect">
            <a:avLst/>
          </a:prstGeom>
        </p:spPr>
      </p:pic>
      <p:sp>
        <p:nvSpPr>
          <p:cNvPr id="7" name="Text 3"/>
          <p:cNvSpPr/>
          <p:nvPr/>
        </p:nvSpPr>
        <p:spPr>
          <a:xfrm>
            <a:off x="548640" y="4023360"/>
            <a:ext cx="11064240" cy="320040"/>
          </a:xfrm>
          <a:prstGeom prst="rect">
            <a:avLst/>
          </a:prstGeom>
          <a:noFill/>
          <a:ln/>
        </p:spPr>
        <p:txBody>
          <a:bodyPr wrap="square" lIns="0" tIns="0" rIns="0" bIns="0"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Real data: each bar counts simulations of a given size.  Left = tiny, right = huge.  Blue = push up, red = push down.</a:t>
            </a:r>
            <a:endParaRPr lang="en-US" sz="1100" dirty="0"/>
          </a:p>
        </p:txBody>
      </p:sp>
      <p:sp>
        <p:nvSpPr>
          <p:cNvPr id="8" name="Text 4"/>
          <p:cNvSpPr/>
          <p:nvPr/>
        </p:nvSpPr>
        <p:spPr>
          <a:xfrm>
            <a:off x="640080" y="4389120"/>
            <a:ext cx="10881360" cy="1737360"/>
          </a:xfrm>
          <a:prstGeom prst="rect">
            <a:avLst/>
          </a:prstGeom>
          <a:noFill/>
          <a:ln/>
        </p:spPr>
        <p:txBody>
          <a:bodyPr wrap="square" lIns="0" tIns="0" rIns="0" bIns="0" rtlCol="0" anchor="t"/>
          <a:lstStyle/>
          <a:p>
            <a:pPr marL="228600" indent="-228600">
              <a:buSzPct val="100000"/>
              <a:buChar char="▪"/>
            </a:pPr>
            <a:r>
              <a:rPr lang="en-CA" b="1" dirty="0"/>
              <a:t>Gradients span a billion in size and flip sign</a:t>
            </a:r>
          </a:p>
          <a:p>
            <a:pPr marL="228600" indent="-228600">
              <a:buSzPct val="100000"/>
              <a:buChar char="▪"/>
            </a:pPr>
            <a:r>
              <a:rPr lang="en-CA" b="1" dirty="0"/>
              <a:t>Plain model chases only the </a:t>
            </a:r>
            <a:r>
              <a:rPr lang="en-CA" b="1" dirty="0" err="1"/>
              <a:t>bigges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Users/I772771/jc/poly/slides/brand/uvic_stripe_white.png"/>
          <p:cNvPicPr>
            <a:picLocks noChangeAspect="1"/>
          </p:cNvPicPr>
          <p:nvPr/>
        </p:nvPicPr>
        <p:blipFill>
          <a:blip r:embed="rId3"/>
          <a:stretch>
            <a:fillRect/>
          </a:stretch>
        </p:blipFill>
        <p:spPr>
          <a:xfrm>
            <a:off x="0" y="274320"/>
            <a:ext cx="12191695" cy="6858000"/>
          </a:xfrm>
          <a:prstGeom prst="rect">
            <a:avLst/>
          </a:prstGeom>
        </p:spPr>
      </p:pic>
      <p:sp>
        <p:nvSpPr>
          <p:cNvPr id="3" name="Text 0"/>
          <p:cNvSpPr/>
          <p:nvPr/>
        </p:nvSpPr>
        <p:spPr>
          <a:xfrm>
            <a:off x="548640" y="475488"/>
            <a:ext cx="11155680" cy="777240"/>
          </a:xfrm>
          <a:prstGeom prst="rect">
            <a:avLst/>
          </a:prstGeom>
          <a:noFill/>
          <a:ln/>
        </p:spPr>
        <p:txBody>
          <a:bodyPr wrap="square" lIns="0" tIns="0" rIns="0" bIns="0" rtlCol="0" anchor="t"/>
          <a:lstStyle/>
          <a:p>
            <a:r>
              <a:rPr lang="en-US" sz="2600" b="1" dirty="0">
                <a:solidFill>
                  <a:srgbClr val="0073BC"/>
                </a:solidFill>
                <a:latin typeface="Cambria" pitchFamily="34" charset="0"/>
                <a:ea typeface="Cambria" pitchFamily="34" charset="-122"/>
                <a:cs typeface="Cambria" pitchFamily="34" charset="-120"/>
              </a:rPr>
              <a:t>Solution for </a:t>
            </a:r>
            <a:r>
              <a:rPr lang="en-US" sz="2600" b="1" dirty="0">
                <a:solidFill>
                  <a:srgbClr val="FF0000"/>
                </a:solidFill>
                <a:latin typeface="Cambria" pitchFamily="34" charset="0"/>
                <a:ea typeface="Cambria" pitchFamily="34" charset="-122"/>
                <a:cs typeface="Cambria" pitchFamily="34" charset="-120"/>
              </a:rPr>
              <a:t>Gradient: </a:t>
            </a:r>
            <a:r>
              <a:rPr lang="en-US" sz="2600" b="1" dirty="0">
                <a:solidFill>
                  <a:srgbClr val="1A1A2E"/>
                </a:solidFill>
                <a:latin typeface="Cambria" pitchFamily="34" charset="0"/>
                <a:ea typeface="Cambria" pitchFamily="34" charset="-122"/>
                <a:cs typeface="Cambria" pitchFamily="34" charset="-120"/>
              </a:rPr>
              <a:t>Sign + log-magnitude</a:t>
            </a:r>
            <a:endParaRPr lang="en-US" sz="2600" dirty="0"/>
          </a:p>
        </p:txBody>
      </p:sp>
      <p:sp>
        <p:nvSpPr>
          <p:cNvPr id="4" name="Text 1"/>
          <p:cNvSpPr/>
          <p:nvPr/>
        </p:nvSpPr>
        <p:spPr>
          <a:xfrm>
            <a:off x="548640" y="6199632"/>
            <a:ext cx="82296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Jiacheng Zhao · MSc Defense · University of Victoria</a:t>
            </a:r>
            <a:endParaRPr lang="en-US" sz="900" dirty="0"/>
          </a:p>
        </p:txBody>
      </p:sp>
      <p:sp>
        <p:nvSpPr>
          <p:cNvPr id="5" name="Text 2"/>
          <p:cNvSpPr/>
          <p:nvPr/>
        </p:nvSpPr>
        <p:spPr>
          <a:xfrm>
            <a:off x="11338560" y="619963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pic>
        <p:nvPicPr>
          <p:cNvPr id="6" name="Image 1" descr="/Users/I772771/jc/poly/slides/defense_assets/figs/fig_decomposition_flow.png"/>
          <p:cNvPicPr>
            <a:picLocks noChangeAspect="1"/>
          </p:cNvPicPr>
          <p:nvPr/>
        </p:nvPicPr>
        <p:blipFill>
          <a:blip r:embed="rId4"/>
          <a:stretch>
            <a:fillRect/>
          </a:stretch>
        </p:blipFill>
        <p:spPr>
          <a:xfrm>
            <a:off x="2798750" y="1463040"/>
            <a:ext cx="6564020" cy="2240280"/>
          </a:xfrm>
          <a:prstGeom prst="rect">
            <a:avLst/>
          </a:prstGeom>
        </p:spPr>
      </p:pic>
      <p:sp>
        <p:nvSpPr>
          <p:cNvPr id="7" name="Text 3"/>
          <p:cNvSpPr/>
          <p:nvPr/>
        </p:nvSpPr>
        <p:spPr>
          <a:xfrm>
            <a:off x="548640" y="3749040"/>
            <a:ext cx="11064240" cy="502920"/>
          </a:xfrm>
          <a:prstGeom prst="rect">
            <a:avLst/>
          </a:prstGeom>
          <a:noFill/>
          <a:ln/>
        </p:spPr>
        <p:txBody>
          <a:bodyPr wrap="square" lIns="0" tIns="0" rIns="0" bIns="0" rtlCol="0" anchor="ctr"/>
          <a:lstStyle/>
          <a:p>
            <a:pPr marL="0" indent="0" algn="ctr">
              <a:buNone/>
            </a:pPr>
            <a:r>
              <a:rPr lang="en-US" sz="2100" b="1" dirty="0">
                <a:solidFill>
                  <a:srgbClr val="002858"/>
                </a:solidFill>
                <a:latin typeface="Cambria" pitchFamily="34" charset="0"/>
                <a:ea typeface="Cambria" pitchFamily="34" charset="-122"/>
                <a:cs typeface="Cambria" pitchFamily="34" charset="-120"/>
              </a:rPr>
              <a:t>1 hard number   =  Sign +   log-magnitude</a:t>
            </a:r>
            <a:endParaRPr lang="en-US" sz="2100" dirty="0"/>
          </a:p>
        </p:txBody>
      </p:sp>
      <p:sp>
        <p:nvSpPr>
          <p:cNvPr id="8" name="Text 4"/>
          <p:cNvSpPr/>
          <p:nvPr/>
        </p:nvSpPr>
        <p:spPr>
          <a:xfrm>
            <a:off x="3657600" y="4520628"/>
            <a:ext cx="7863840" cy="1651571"/>
          </a:xfrm>
          <a:prstGeom prst="rect">
            <a:avLst/>
          </a:prstGeom>
          <a:noFill/>
          <a:ln/>
        </p:spPr>
        <p:txBody>
          <a:bodyPr wrap="square" lIns="0" tIns="0" rIns="0" bIns="0" rtlCol="0" anchor="t"/>
          <a:lstStyle/>
          <a:p>
            <a:pPr marL="228600" indent="-228600">
              <a:buSzPct val="100000"/>
              <a:buChar char="▪"/>
            </a:pPr>
            <a:r>
              <a:rPr lang="en-US" b="1" dirty="0">
                <a:solidFill>
                  <a:srgbClr val="1A1A2E"/>
                </a:solidFill>
                <a:latin typeface="Calibri" pitchFamily="34" charset="0"/>
                <a:cs typeface="Calibri" pitchFamily="34" charset="-120"/>
              </a:rPr>
              <a:t>Predict sign and magnitude separately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Users/I772771/jc/poly/slides/brand/uvic_stripe_white.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48640" y="475488"/>
            <a:ext cx="11155680" cy="777240"/>
          </a:xfrm>
          <a:prstGeom prst="rect">
            <a:avLst/>
          </a:prstGeom>
          <a:noFill/>
          <a:ln/>
        </p:spPr>
        <p:txBody>
          <a:bodyPr wrap="square" lIns="0" tIns="0" rIns="0" bIns="0" rtlCol="0" anchor="t"/>
          <a:lstStyle/>
          <a:p>
            <a:pPr marL="0" indent="0">
              <a:buNone/>
            </a:pPr>
            <a:r>
              <a:rPr lang="en-US" sz="2600" b="1" dirty="0">
                <a:solidFill>
                  <a:srgbClr val="0073BC"/>
                </a:solidFill>
                <a:latin typeface="Cambria" pitchFamily="34" charset="0"/>
                <a:ea typeface="Cambria" pitchFamily="34" charset="-122"/>
                <a:cs typeface="Cambria" pitchFamily="34" charset="-120"/>
              </a:rPr>
              <a:t>Method </a:t>
            </a:r>
            <a:r>
              <a:rPr lang="en-US" sz="2600" b="1" dirty="0">
                <a:latin typeface="Cambria" pitchFamily="34" charset="0"/>
                <a:ea typeface="Cambria" pitchFamily="34" charset="-122"/>
                <a:cs typeface="Cambria" pitchFamily="34" charset="-120"/>
              </a:rPr>
              <a:t>for </a:t>
            </a:r>
            <a:r>
              <a:rPr lang="en-US" sz="2600" b="1" dirty="0">
                <a:solidFill>
                  <a:srgbClr val="FF0000"/>
                </a:solidFill>
                <a:latin typeface="Cambria" pitchFamily="34" charset="0"/>
                <a:ea typeface="Cambria" pitchFamily="34" charset="-122"/>
                <a:cs typeface="Cambria" pitchFamily="34" charset="-120"/>
              </a:rPr>
              <a:t>Gradient</a:t>
            </a:r>
            <a:r>
              <a:rPr lang="en-US" sz="2600" b="1" dirty="0">
                <a:solidFill>
                  <a:srgbClr val="1A1A2E"/>
                </a:solidFill>
                <a:latin typeface="Cambria" pitchFamily="34" charset="0"/>
                <a:ea typeface="Cambria" pitchFamily="34" charset="-122"/>
                <a:cs typeface="Cambria" pitchFamily="34" charset="-120"/>
              </a:rPr>
              <a:t>: </a:t>
            </a:r>
            <a:r>
              <a:rPr lang="en-US" sz="2600" b="1" dirty="0" err="1">
                <a:solidFill>
                  <a:srgbClr val="1A1A2E"/>
                </a:solidFill>
                <a:latin typeface="Cambria" pitchFamily="34" charset="0"/>
                <a:ea typeface="Cambria" pitchFamily="34" charset="-122"/>
                <a:cs typeface="Cambria" pitchFamily="34" charset="-120"/>
              </a:rPr>
              <a:t>Multihead</a:t>
            </a:r>
            <a:r>
              <a:rPr lang="en-US" sz="2600" b="1" dirty="0">
                <a:solidFill>
                  <a:srgbClr val="1A1A2E"/>
                </a:solidFill>
                <a:latin typeface="Cambria" pitchFamily="34" charset="0"/>
                <a:ea typeface="Cambria" pitchFamily="34" charset="-122"/>
                <a:cs typeface="Cambria" pitchFamily="34" charset="-120"/>
              </a:rPr>
              <a:t> Neural Network, </a:t>
            </a:r>
            <a:r>
              <a:rPr lang="en-US" sz="2600" b="1" dirty="0" err="1">
                <a:solidFill>
                  <a:srgbClr val="1A1A2E"/>
                </a:solidFill>
                <a:latin typeface="Cambria" pitchFamily="34" charset="0"/>
                <a:ea typeface="Cambria" pitchFamily="34" charset="-122"/>
                <a:cs typeface="Cambria" pitchFamily="34" charset="-120"/>
              </a:rPr>
              <a:t>XGBoost</a:t>
            </a:r>
            <a:endParaRPr lang="en-US" sz="2600" dirty="0"/>
          </a:p>
        </p:txBody>
      </p:sp>
      <p:sp>
        <p:nvSpPr>
          <p:cNvPr id="4" name="Text 1"/>
          <p:cNvSpPr/>
          <p:nvPr/>
        </p:nvSpPr>
        <p:spPr>
          <a:xfrm>
            <a:off x="548640" y="6199632"/>
            <a:ext cx="82296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Jiacheng Zhao · MSc Defense · University of Victoria</a:t>
            </a:r>
            <a:endParaRPr lang="en-US" sz="900" dirty="0"/>
          </a:p>
        </p:txBody>
      </p:sp>
      <p:sp>
        <p:nvSpPr>
          <p:cNvPr id="5" name="Text 2"/>
          <p:cNvSpPr/>
          <p:nvPr/>
        </p:nvSpPr>
        <p:spPr>
          <a:xfrm>
            <a:off x="11338560" y="619963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pic>
        <p:nvPicPr>
          <p:cNvPr id="6" name="Image 1" descr="/Users/I772771/jc/poly/slides/defense_assets/figs/fig_multihead_arch.png"/>
          <p:cNvPicPr>
            <a:picLocks noChangeAspect="1"/>
          </p:cNvPicPr>
          <p:nvPr/>
        </p:nvPicPr>
        <p:blipFill>
          <a:blip r:embed="rId4"/>
          <a:stretch>
            <a:fillRect/>
          </a:stretch>
        </p:blipFill>
        <p:spPr>
          <a:xfrm>
            <a:off x="502920" y="1523131"/>
            <a:ext cx="5669280" cy="2636874"/>
          </a:xfrm>
          <a:prstGeom prst="rect">
            <a:avLst/>
          </a:prstGeom>
        </p:spPr>
      </p:pic>
      <p:sp>
        <p:nvSpPr>
          <p:cNvPr id="7" name="Text 3"/>
          <p:cNvSpPr/>
          <p:nvPr/>
        </p:nvSpPr>
        <p:spPr>
          <a:xfrm>
            <a:off x="6446520" y="2650732"/>
            <a:ext cx="5038746" cy="3018547"/>
          </a:xfrm>
          <a:prstGeom prst="rect">
            <a:avLst/>
          </a:prstGeom>
          <a:noFill/>
          <a:ln/>
        </p:spPr>
        <p:txBody>
          <a:bodyPr wrap="square" lIns="0" tIns="0" rIns="0" bIns="0" rtlCol="0" anchor="t"/>
          <a:lstStyle/>
          <a:p>
            <a:pPr marL="228600" indent="-228600">
              <a:buSzPct val="100000"/>
              <a:buChar char="▪"/>
            </a:pPr>
            <a:r>
              <a:rPr lang="en-US" sz="2000" b="1" dirty="0">
                <a:latin typeface="Calibri" pitchFamily="34" charset="0"/>
                <a:ea typeface="Calibri" pitchFamily="34" charset="-122"/>
                <a:cs typeface="Calibri" pitchFamily="34" charset="-120"/>
              </a:rPr>
              <a:t>4 Methods</a:t>
            </a:r>
          </a:p>
          <a:p>
            <a:pPr marL="685800" lvl="1" indent="-228600">
              <a:buSzPct val="100000"/>
              <a:buFontTx/>
              <a:buChar char="▪"/>
            </a:pPr>
            <a:r>
              <a:rPr lang="en-US" dirty="0" err="1"/>
              <a:t>Autograd</a:t>
            </a:r>
            <a:r>
              <a:rPr lang="en-US" dirty="0"/>
              <a:t> baseline (</a:t>
            </a:r>
            <a:r>
              <a:rPr lang="en-US" dirty="0" err="1"/>
              <a:t>Pytorch</a:t>
            </a:r>
            <a:r>
              <a:rPr lang="en-US" dirty="0"/>
              <a:t>, when forwarding)</a:t>
            </a:r>
          </a:p>
          <a:p>
            <a:pPr marL="685800" lvl="1" indent="-228600">
              <a:buSzPct val="100000"/>
              <a:buFontTx/>
              <a:buChar char="▪"/>
            </a:pPr>
            <a:r>
              <a:rPr lang="en-CA" dirty="0"/>
              <a:t>Sobolev training (Joint supervised learning of values + gradients together)</a:t>
            </a:r>
          </a:p>
          <a:p>
            <a:pPr marL="685800" lvl="1" indent="-228600">
              <a:buSzPct val="100000"/>
              <a:buChar char="▪"/>
            </a:pPr>
            <a:r>
              <a:rPr lang="en-CA" dirty="0" err="1"/>
              <a:t>XGBoost</a:t>
            </a:r>
            <a:r>
              <a:rPr lang="en-CA" dirty="0"/>
              <a:t> w/ decomp</a:t>
            </a:r>
          </a:p>
          <a:p>
            <a:pPr marL="685800" lvl="1" indent="-228600">
              <a:buSzPct val="100000"/>
              <a:buFontTx/>
              <a:buChar char="▪"/>
            </a:pPr>
            <a:r>
              <a:rPr lang="en-CA" dirty="0" err="1"/>
              <a:t>Multihead</a:t>
            </a:r>
            <a:r>
              <a:rPr lang="en-CA" dirty="0"/>
              <a:t> NN w/ decomp</a:t>
            </a:r>
          </a:p>
          <a:p>
            <a:pPr marL="228600" indent="-228600">
              <a:buSzPct val="100000"/>
              <a:buFontTx/>
              <a:buChar char="▪"/>
            </a:pPr>
            <a:r>
              <a:rPr lang="en-US" b="1" dirty="0">
                <a:solidFill>
                  <a:srgbClr val="FF0000"/>
                </a:solidFill>
                <a:latin typeface="Calibri" pitchFamily="34" charset="0"/>
                <a:ea typeface="Calibri" pitchFamily="34" charset="-122"/>
                <a:cs typeface="Calibri" pitchFamily="34" charset="-120"/>
              </a:rPr>
              <a:t>3 raw params + 12 engineered = 15 for </a:t>
            </a:r>
            <a:r>
              <a:rPr lang="en-US" b="1" dirty="0" err="1">
                <a:solidFill>
                  <a:srgbClr val="FF0000"/>
                </a:solidFill>
                <a:latin typeface="Calibri" pitchFamily="34" charset="0"/>
                <a:ea typeface="Calibri" pitchFamily="34" charset="-122"/>
                <a:cs typeface="Calibri" pitchFamily="34" charset="-120"/>
              </a:rPr>
              <a:t>XGBoost</a:t>
            </a:r>
            <a:endParaRPr lang="en-US" b="1" dirty="0">
              <a:solidFill>
                <a:srgbClr val="FF0000"/>
              </a:solidFill>
              <a:latin typeface="Calibri" pitchFamily="34" charset="0"/>
              <a:ea typeface="Calibri" pitchFamily="34" charset="-122"/>
              <a:cs typeface="Calibri" pitchFamily="34" charset="-120"/>
            </a:endParaRPr>
          </a:p>
          <a:p>
            <a:pPr marL="228600" indent="-228600">
              <a:buSzPct val="100000"/>
              <a:buFontTx/>
              <a:buChar char="▪"/>
            </a:pPr>
            <a:r>
              <a:rPr lang="en-US" b="1" dirty="0">
                <a:solidFill>
                  <a:srgbClr val="FF0000"/>
                </a:solidFill>
                <a:latin typeface="Calibri" pitchFamily="34" charset="0"/>
                <a:ea typeface="Calibri" pitchFamily="34" charset="-122"/>
                <a:cs typeface="Calibri" pitchFamily="34" charset="-120"/>
              </a:rPr>
              <a:t>Multi NN only 3 params input</a:t>
            </a:r>
          </a:p>
          <a:p>
            <a:pPr marL="685800" lvl="1" indent="-228600">
              <a:buSzPct val="100000"/>
              <a:buFontTx/>
              <a:buChar char="▪"/>
            </a:pPr>
            <a:endParaRPr lang="en-CA" dirty="0"/>
          </a:p>
          <a:p>
            <a:pPr marL="685800" lvl="1" indent="-228600">
              <a:buSzPct val="100000"/>
              <a:buFontTx/>
              <a:buChar char="▪"/>
            </a:pPr>
            <a:endParaRPr lang="en-CA" dirty="0"/>
          </a:p>
          <a:p>
            <a:pPr marL="228600" indent="-228600">
              <a:buSzPct val="100000"/>
              <a:buChar char="▪"/>
            </a:pPr>
            <a:endParaRPr lang="en-US" sz="2000" dirty="0"/>
          </a:p>
        </p:txBody>
      </p:sp>
      <p:pic>
        <p:nvPicPr>
          <p:cNvPr id="8" name="Picture 7">
            <a:extLst>
              <a:ext uri="{FF2B5EF4-FFF2-40B4-BE49-F238E27FC236}">
                <a16:creationId xmlns:a16="http://schemas.microsoft.com/office/drawing/2014/main" id="{2D20BF1A-455A-1BBF-B583-EBE2E6CBEDDF}"/>
              </a:ext>
            </a:extLst>
          </p:cNvPr>
          <p:cNvPicPr>
            <a:picLocks noChangeAspect="1"/>
          </p:cNvPicPr>
          <p:nvPr/>
        </p:nvPicPr>
        <p:blipFill>
          <a:blip r:embed="rId5"/>
          <a:stretch>
            <a:fillRect/>
          </a:stretch>
        </p:blipFill>
        <p:spPr>
          <a:xfrm>
            <a:off x="502920" y="4105914"/>
            <a:ext cx="5041900" cy="2514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05918-AA85-6C05-9077-04925C26D062}"/>
            </a:ext>
          </a:extLst>
        </p:cNvPr>
        <p:cNvGrpSpPr/>
        <p:nvPr/>
      </p:nvGrpSpPr>
      <p:grpSpPr>
        <a:xfrm>
          <a:off x="0" y="0"/>
          <a:ext cx="0" cy="0"/>
          <a:chOff x="0" y="0"/>
          <a:chExt cx="0" cy="0"/>
        </a:xfrm>
      </p:grpSpPr>
      <p:pic>
        <p:nvPicPr>
          <p:cNvPr id="2" name="Image 0" descr="/Users/I772771/jc/poly/slides/brand/uvic_stripe_navy.png">
            <a:extLst>
              <a:ext uri="{FF2B5EF4-FFF2-40B4-BE49-F238E27FC236}">
                <a16:creationId xmlns:a16="http://schemas.microsoft.com/office/drawing/2014/main" id="{2B43783E-6DB0-29CD-5F2A-A6BE3CF8D6AA}"/>
              </a:ext>
            </a:extLst>
          </p:cNvPr>
          <p:cNvPicPr>
            <a:picLocks noChangeAspect="1"/>
          </p:cNvPicPr>
          <p:nvPr/>
        </p:nvPicPr>
        <p:blipFill>
          <a:blip r:embed="rId3"/>
          <a:stretch>
            <a:fillRect/>
          </a:stretch>
        </p:blipFill>
        <p:spPr>
          <a:xfrm>
            <a:off x="0" y="0"/>
            <a:ext cx="12191695" cy="6858000"/>
          </a:xfrm>
          <a:prstGeom prst="rect">
            <a:avLst/>
          </a:prstGeom>
        </p:spPr>
      </p:pic>
      <p:sp>
        <p:nvSpPr>
          <p:cNvPr id="3" name="Text 0">
            <a:extLst>
              <a:ext uri="{FF2B5EF4-FFF2-40B4-BE49-F238E27FC236}">
                <a16:creationId xmlns:a16="http://schemas.microsoft.com/office/drawing/2014/main" id="{2F7A3371-E9B7-74E9-EDCA-E5EF7A48EAC7}"/>
              </a:ext>
            </a:extLst>
          </p:cNvPr>
          <p:cNvSpPr/>
          <p:nvPr/>
        </p:nvSpPr>
        <p:spPr>
          <a:xfrm>
            <a:off x="822960" y="2743200"/>
            <a:ext cx="10515600" cy="109728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rPr>
              <a:t>Experiments</a:t>
            </a:r>
            <a:endParaRPr lang="en-US" sz="4400" dirty="0"/>
          </a:p>
        </p:txBody>
      </p:sp>
      <p:sp>
        <p:nvSpPr>
          <p:cNvPr id="4" name="Text 1">
            <a:extLst>
              <a:ext uri="{FF2B5EF4-FFF2-40B4-BE49-F238E27FC236}">
                <a16:creationId xmlns:a16="http://schemas.microsoft.com/office/drawing/2014/main" id="{EAA3C745-277C-4806-3AC5-2240CD7706C0}"/>
              </a:ext>
            </a:extLst>
          </p:cNvPr>
          <p:cNvSpPr/>
          <p:nvPr/>
        </p:nvSpPr>
        <p:spPr>
          <a:xfrm>
            <a:off x="841248" y="3840480"/>
            <a:ext cx="10058400" cy="548640"/>
          </a:xfrm>
          <a:prstGeom prst="rect">
            <a:avLst/>
          </a:prstGeom>
          <a:noFill/>
          <a:ln/>
        </p:spPr>
        <p:txBody>
          <a:bodyPr wrap="square" lIns="0" tIns="0" rIns="0" bIns="0" rtlCol="0" anchor="ctr"/>
          <a:lstStyle/>
          <a:p>
            <a:pPr marL="0" indent="0">
              <a:buNone/>
            </a:pPr>
            <a:endParaRPr lang="en-US" sz="1600" dirty="0"/>
          </a:p>
        </p:txBody>
      </p:sp>
    </p:spTree>
    <p:extLst>
      <p:ext uri="{BB962C8B-B14F-4D97-AF65-F5344CB8AC3E}">
        <p14:creationId xmlns:p14="http://schemas.microsoft.com/office/powerpoint/2010/main" val="206466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Users/I772771/jc/poly/slides/brand/uvic_stripe_white.png"/>
          <p:cNvPicPr>
            <a:picLocks noChangeAspect="1"/>
          </p:cNvPicPr>
          <p:nvPr/>
        </p:nvPicPr>
        <p:blipFill>
          <a:blip r:embed="rId3"/>
          <a:stretch>
            <a:fillRect/>
          </a:stretch>
        </p:blipFill>
        <p:spPr>
          <a:xfrm>
            <a:off x="87086" y="-13063"/>
            <a:ext cx="12191695" cy="6858000"/>
          </a:xfrm>
          <a:prstGeom prst="rect">
            <a:avLst/>
          </a:prstGeom>
        </p:spPr>
      </p:pic>
      <p:sp>
        <p:nvSpPr>
          <p:cNvPr id="3" name="Text 0"/>
          <p:cNvSpPr/>
          <p:nvPr/>
        </p:nvSpPr>
        <p:spPr>
          <a:xfrm>
            <a:off x="548640" y="475488"/>
            <a:ext cx="11155680" cy="777240"/>
          </a:xfrm>
          <a:prstGeom prst="rect">
            <a:avLst/>
          </a:prstGeom>
          <a:noFill/>
          <a:ln/>
        </p:spPr>
        <p:txBody>
          <a:bodyPr wrap="square" lIns="0" tIns="0" rIns="0" bIns="0" rtlCol="0" anchor="t"/>
          <a:lstStyle/>
          <a:p>
            <a:pPr marL="0" indent="0">
              <a:buNone/>
            </a:pPr>
            <a:r>
              <a:rPr lang="en-US" sz="2600" b="1" dirty="0">
                <a:solidFill>
                  <a:srgbClr val="0073BC"/>
                </a:solidFill>
                <a:latin typeface="Cambria" pitchFamily="34" charset="0"/>
                <a:ea typeface="Cambria" pitchFamily="34" charset="-122"/>
                <a:cs typeface="Cambria" pitchFamily="34" charset="-120"/>
              </a:rPr>
              <a:t>Dataset</a:t>
            </a:r>
            <a:endParaRPr lang="en-US" sz="2600" dirty="0"/>
          </a:p>
        </p:txBody>
      </p:sp>
      <p:sp>
        <p:nvSpPr>
          <p:cNvPr id="4" name="Text 1"/>
          <p:cNvSpPr/>
          <p:nvPr/>
        </p:nvSpPr>
        <p:spPr>
          <a:xfrm>
            <a:off x="548640" y="6199632"/>
            <a:ext cx="82296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Jiacheng Zhao · MSc Defense · University of Victoria</a:t>
            </a:r>
            <a:endParaRPr lang="en-US" sz="900" dirty="0"/>
          </a:p>
        </p:txBody>
      </p:sp>
      <p:sp>
        <p:nvSpPr>
          <p:cNvPr id="5" name="Text 2"/>
          <p:cNvSpPr/>
          <p:nvPr/>
        </p:nvSpPr>
        <p:spPr>
          <a:xfrm>
            <a:off x="11338560" y="619963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
        <p:nvSpPr>
          <p:cNvPr id="7" name="Text 4"/>
          <p:cNvSpPr/>
          <p:nvPr/>
        </p:nvSpPr>
        <p:spPr>
          <a:xfrm>
            <a:off x="1417168" y="2070463"/>
            <a:ext cx="2926080" cy="640080"/>
          </a:xfrm>
          <a:prstGeom prst="rect">
            <a:avLst/>
          </a:prstGeom>
          <a:noFill/>
          <a:ln/>
        </p:spPr>
        <p:txBody>
          <a:bodyPr wrap="square" lIns="0" tIns="0" rIns="0" bIns="0" rtlCol="0" anchor="ctr"/>
          <a:lstStyle/>
          <a:p>
            <a:pPr marL="0" indent="0" algn="ctr">
              <a:buNone/>
            </a:pPr>
            <a:r>
              <a:rPr lang="en-US" sz="4000" b="1" dirty="0">
                <a:solidFill>
                  <a:srgbClr val="0073BC"/>
                </a:solidFill>
                <a:latin typeface="Cambria" pitchFamily="34" charset="0"/>
                <a:ea typeface="Cambria" pitchFamily="34" charset="-122"/>
                <a:cs typeface="Cambria" pitchFamily="34" charset="-120"/>
              </a:rPr>
              <a:t>18887</a:t>
            </a:r>
            <a:endParaRPr lang="en-US" sz="4000" dirty="0"/>
          </a:p>
        </p:txBody>
      </p:sp>
      <p:sp>
        <p:nvSpPr>
          <p:cNvPr id="8" name="Text 5"/>
          <p:cNvSpPr/>
          <p:nvPr/>
        </p:nvSpPr>
        <p:spPr>
          <a:xfrm>
            <a:off x="1097280" y="2807208"/>
            <a:ext cx="2926080" cy="457200"/>
          </a:xfrm>
          <a:prstGeom prst="rect">
            <a:avLst/>
          </a:prstGeom>
          <a:noFill/>
          <a:ln/>
        </p:spPr>
        <p:txBody>
          <a:bodyPr wrap="square" lIns="0" tIns="0" rIns="0" bIns="0" rtlCol="0" anchor="ctr"/>
          <a:lstStyle/>
          <a:p>
            <a:pPr marL="0" indent="0" algn="ctr">
              <a:buNone/>
            </a:pPr>
            <a:endParaRPr lang="en-US" sz="1200" dirty="0"/>
          </a:p>
        </p:txBody>
      </p:sp>
      <p:sp>
        <p:nvSpPr>
          <p:cNvPr id="9" name="Text 6"/>
          <p:cNvSpPr/>
          <p:nvPr/>
        </p:nvSpPr>
        <p:spPr>
          <a:xfrm>
            <a:off x="4506686" y="2076994"/>
            <a:ext cx="2926080" cy="640080"/>
          </a:xfrm>
          <a:prstGeom prst="rect">
            <a:avLst/>
          </a:prstGeom>
          <a:noFill/>
          <a:ln/>
        </p:spPr>
        <p:txBody>
          <a:bodyPr wrap="square" lIns="0" tIns="0" rIns="0" bIns="0" rtlCol="0" anchor="ctr"/>
          <a:lstStyle/>
          <a:p>
            <a:pPr marL="0" indent="0" algn="ctr">
              <a:buNone/>
            </a:pPr>
            <a:r>
              <a:rPr lang="en-US" sz="4000" b="1" dirty="0">
                <a:solidFill>
                  <a:srgbClr val="B37F00"/>
                </a:solidFill>
                <a:latin typeface="Cambria" pitchFamily="34" charset="0"/>
                <a:ea typeface="Cambria" pitchFamily="34" charset="-122"/>
                <a:cs typeface="Cambria" pitchFamily="34" charset="-120"/>
              </a:rPr>
              <a:t>8606</a:t>
            </a:r>
            <a:endParaRPr lang="en-US" sz="4000" dirty="0"/>
          </a:p>
        </p:txBody>
      </p:sp>
      <p:sp>
        <p:nvSpPr>
          <p:cNvPr id="10" name="Text 7"/>
          <p:cNvSpPr/>
          <p:nvPr/>
        </p:nvSpPr>
        <p:spPr>
          <a:xfrm>
            <a:off x="4415246" y="2726653"/>
            <a:ext cx="2926080" cy="457200"/>
          </a:xfrm>
          <a:prstGeom prst="rect">
            <a:avLst/>
          </a:prstGeom>
          <a:noFill/>
          <a:ln/>
        </p:spPr>
        <p:txBody>
          <a:bodyPr wrap="square" lIns="0" tIns="0" rIns="0" bIns="0" rtlCol="0" anchor="ctr"/>
          <a:lstStyle/>
          <a:p>
            <a:pPr marL="0" indent="0" algn="ctr">
              <a:buNone/>
            </a:pPr>
            <a:r>
              <a:rPr lang="en-US" sz="1500" dirty="0">
                <a:solidFill>
                  <a:srgbClr val="5B6472"/>
                </a:solidFill>
                <a:latin typeface="Calibri" pitchFamily="34" charset="0"/>
                <a:ea typeface="Calibri" pitchFamily="34" charset="-122"/>
                <a:cs typeface="Calibri" pitchFamily="34" charset="-120"/>
              </a:rPr>
              <a:t>material directions (dL/dE)</a:t>
            </a:r>
            <a:endParaRPr lang="en-US" sz="1500" dirty="0"/>
          </a:p>
        </p:txBody>
      </p:sp>
      <p:sp>
        <p:nvSpPr>
          <p:cNvPr id="11" name="Text 8"/>
          <p:cNvSpPr/>
          <p:nvPr/>
        </p:nvSpPr>
        <p:spPr>
          <a:xfrm>
            <a:off x="7158446" y="2070463"/>
            <a:ext cx="2926080" cy="640080"/>
          </a:xfrm>
          <a:prstGeom prst="rect">
            <a:avLst/>
          </a:prstGeom>
          <a:noFill/>
          <a:ln/>
        </p:spPr>
        <p:txBody>
          <a:bodyPr wrap="square" lIns="0" tIns="0" rIns="0" bIns="0" rtlCol="0" anchor="ctr"/>
          <a:lstStyle/>
          <a:p>
            <a:pPr marL="0" indent="0" algn="ctr">
              <a:buNone/>
            </a:pPr>
            <a:r>
              <a:rPr lang="en-US" sz="4000" b="1" dirty="0">
                <a:solidFill>
                  <a:srgbClr val="B37F00"/>
                </a:solidFill>
                <a:latin typeface="Cambria" pitchFamily="34" charset="0"/>
                <a:ea typeface="Cambria" pitchFamily="34" charset="-122"/>
                <a:cs typeface="Cambria" pitchFamily="34" charset="-120"/>
              </a:rPr>
              <a:t>9653</a:t>
            </a:r>
            <a:endParaRPr lang="en-US" sz="4000" dirty="0"/>
          </a:p>
        </p:txBody>
      </p:sp>
      <p:sp>
        <p:nvSpPr>
          <p:cNvPr id="12" name="Text 9"/>
          <p:cNvSpPr/>
          <p:nvPr/>
        </p:nvSpPr>
        <p:spPr>
          <a:xfrm>
            <a:off x="7326238" y="2715768"/>
            <a:ext cx="2926080" cy="457200"/>
          </a:xfrm>
          <a:prstGeom prst="rect">
            <a:avLst/>
          </a:prstGeom>
          <a:noFill/>
          <a:ln/>
        </p:spPr>
        <p:txBody>
          <a:bodyPr wrap="square" lIns="0" tIns="0" rIns="0" bIns="0" rtlCol="0" anchor="ctr"/>
          <a:lstStyle/>
          <a:p>
            <a:pPr marL="0" indent="0" algn="ctr">
              <a:buNone/>
            </a:pPr>
            <a:r>
              <a:rPr lang="en-US" sz="1500" dirty="0">
                <a:solidFill>
                  <a:srgbClr val="5B6472"/>
                </a:solidFill>
                <a:latin typeface="Calibri" pitchFamily="34" charset="0"/>
                <a:ea typeface="Calibri" pitchFamily="34" charset="-122"/>
                <a:cs typeface="Calibri" pitchFamily="34" charset="-120"/>
              </a:rPr>
              <a:t>shape directions (dL/dh, dL/dθ)</a:t>
            </a:r>
            <a:endParaRPr lang="en-US" sz="1500" dirty="0"/>
          </a:p>
        </p:txBody>
      </p:sp>
      <p:sp>
        <p:nvSpPr>
          <p:cNvPr id="13" name="Text 10"/>
          <p:cNvSpPr/>
          <p:nvPr/>
        </p:nvSpPr>
        <p:spPr>
          <a:xfrm>
            <a:off x="640080" y="3429000"/>
            <a:ext cx="10881360" cy="2377440"/>
          </a:xfrm>
          <a:prstGeom prst="rect">
            <a:avLst/>
          </a:prstGeom>
          <a:noFill/>
          <a:ln/>
        </p:spPr>
        <p:txBody>
          <a:bodyPr wrap="square" lIns="0" tIns="0" rIns="0" bIns="0" rtlCol="0" anchor="t"/>
          <a:lstStyle/>
          <a:p>
            <a:pPr marL="228600" indent="-228600">
              <a:buSzPct val="100000"/>
              <a:buChar char="▪"/>
            </a:pPr>
            <a:r>
              <a:rPr lang="en-US" sz="2000" dirty="0">
                <a:solidFill>
                  <a:srgbClr val="1A1A2E"/>
                </a:solidFill>
                <a:latin typeface="Calibri" pitchFamily="34" charset="0"/>
                <a:ea typeface="Calibri" pitchFamily="34" charset="-122"/>
                <a:cs typeface="Calibri" pitchFamily="34" charset="-120"/>
              </a:rPr>
              <a:t>All data is from </a:t>
            </a:r>
            <a:r>
              <a:rPr lang="en-US" sz="2000" dirty="0" err="1">
                <a:solidFill>
                  <a:srgbClr val="1A1A2E"/>
                </a:solidFill>
                <a:latin typeface="Calibri" pitchFamily="34" charset="0"/>
                <a:ea typeface="Calibri" pitchFamily="34" charset="-122"/>
                <a:cs typeface="Calibri" pitchFamily="34" charset="-120"/>
              </a:rPr>
              <a:t>PolyFEM</a:t>
            </a:r>
            <a:r>
              <a:rPr lang="en-US" sz="2000" dirty="0">
                <a:solidFill>
                  <a:srgbClr val="1A1A2E"/>
                </a:solidFill>
                <a:latin typeface="Calibri" pitchFamily="34" charset="0"/>
                <a:ea typeface="Calibri" pitchFamily="34" charset="-122"/>
                <a:cs typeface="Calibri" pitchFamily="34" charset="-120"/>
              </a:rPr>
              <a:t> (simulator)</a:t>
            </a:r>
            <a:r>
              <a:rPr lang="zh-CN" altLang="en-US" sz="2000" dirty="0">
                <a:solidFill>
                  <a:srgbClr val="1A1A2E"/>
                </a:solidFill>
                <a:latin typeface="Calibri" pitchFamily="34" charset="0"/>
                <a:ea typeface="Calibri" pitchFamily="34" charset="-122"/>
                <a:cs typeface="Calibri" pitchFamily="34" charset="-120"/>
              </a:rPr>
              <a:t> </a:t>
            </a:r>
            <a:r>
              <a:rPr lang="en-US" altLang="zh-CN" sz="2000" dirty="0">
                <a:solidFill>
                  <a:srgbClr val="1A1A2E"/>
                </a:solidFill>
                <a:latin typeface="Calibri" pitchFamily="34" charset="0"/>
                <a:ea typeface="Calibri" pitchFamily="34" charset="-122"/>
                <a:cs typeface="Calibri" pitchFamily="34" charset="-120"/>
              </a:rPr>
              <a:t>w/ same</a:t>
            </a:r>
            <a:r>
              <a:rPr lang="en-US" sz="2000" dirty="0">
                <a:solidFill>
                  <a:srgbClr val="1A1A2E"/>
                </a:solidFill>
                <a:latin typeface="Calibri" pitchFamily="34" charset="0"/>
                <a:ea typeface="Calibri" pitchFamily="34" charset="-122"/>
                <a:cs typeface="Calibri" pitchFamily="34" charset="-120"/>
              </a:rPr>
              <a:t> </a:t>
            </a:r>
            <a:r>
              <a:rPr lang="en-US" sz="2000" dirty="0">
                <a:latin typeface="Calibri" pitchFamily="34" charset="0"/>
                <a:ea typeface="Calibri" pitchFamily="34" charset="-122"/>
                <a:cs typeface="Calibri" pitchFamily="34" charset="-120"/>
              </a:rPr>
              <a:t>setup</a:t>
            </a:r>
            <a:r>
              <a:rPr lang="en-US" sz="2000" dirty="0">
                <a:solidFill>
                  <a:srgbClr val="1A1A2E"/>
                </a:solidFill>
                <a:latin typeface="Calibri" pitchFamily="34" charset="0"/>
                <a:ea typeface="Calibri" pitchFamily="34" charset="-122"/>
                <a:cs typeface="Calibri" pitchFamily="34" charset="-120"/>
              </a:rPr>
              <a:t> </a:t>
            </a:r>
            <a:endParaRPr lang="en-US" sz="2000" dirty="0"/>
          </a:p>
          <a:p>
            <a:pPr marL="228600" indent="-228600">
              <a:spcBef>
                <a:spcPts val="1000"/>
              </a:spcBef>
              <a:buSzPct val="100000"/>
              <a:buChar char="▪"/>
            </a:pPr>
            <a:r>
              <a:rPr lang="en-US" sz="2000" dirty="0">
                <a:solidFill>
                  <a:srgbClr val="1A1A2E"/>
                </a:solidFill>
                <a:latin typeface="Calibri" pitchFamily="34" charset="0"/>
                <a:ea typeface="Calibri" pitchFamily="34" charset="-122"/>
                <a:cs typeface="Calibri" pitchFamily="34" charset="-120"/>
              </a:rPr>
              <a:t>Forward Stress Prediction, </a:t>
            </a:r>
            <a:r>
              <a:rPr lang="en-US" sz="2000" b="1" dirty="0">
                <a:solidFill>
                  <a:srgbClr val="1A1A2E"/>
                </a:solidFill>
                <a:latin typeface="Calibri" pitchFamily="34" charset="0"/>
                <a:ea typeface="Calibri" pitchFamily="34" charset="-122"/>
                <a:cs typeface="Calibri" pitchFamily="34" charset="-120"/>
              </a:rPr>
              <a:t>18887</a:t>
            </a:r>
            <a:r>
              <a:rPr lang="en-US" sz="2000" dirty="0">
                <a:solidFill>
                  <a:srgbClr val="1A1A2E"/>
                </a:solidFill>
                <a:latin typeface="Calibri" pitchFamily="34" charset="0"/>
                <a:ea typeface="Calibri" pitchFamily="34" charset="-122"/>
                <a:cs typeface="Calibri" pitchFamily="34" charset="-120"/>
              </a:rPr>
              <a:t> samples + 80/10/10 split</a:t>
            </a:r>
          </a:p>
          <a:p>
            <a:pPr marL="228600" indent="-228600">
              <a:spcBef>
                <a:spcPts val="1000"/>
              </a:spcBef>
              <a:buSzPct val="100000"/>
              <a:buChar char="▪"/>
            </a:pPr>
            <a:r>
              <a:rPr lang="en-US" sz="2000" dirty="0">
                <a:solidFill>
                  <a:srgbClr val="1A1A2E"/>
                </a:solidFill>
                <a:latin typeface="Calibri" pitchFamily="34" charset="0"/>
                <a:cs typeface="Calibri" pitchFamily="34" charset="-120"/>
              </a:rPr>
              <a:t>Gradient Prediction, </a:t>
            </a:r>
            <a:r>
              <a:rPr lang="en-US" sz="2000" b="1" dirty="0">
                <a:solidFill>
                  <a:srgbClr val="1A1A2E"/>
                </a:solidFill>
                <a:latin typeface="Calibri" pitchFamily="34" charset="0"/>
                <a:cs typeface="Calibri" pitchFamily="34" charset="-120"/>
              </a:rPr>
              <a:t>8606</a:t>
            </a:r>
            <a:r>
              <a:rPr lang="en-US" sz="2000" dirty="0">
                <a:solidFill>
                  <a:srgbClr val="1A1A2E"/>
                </a:solidFill>
                <a:latin typeface="Calibri" pitchFamily="34" charset="0"/>
                <a:cs typeface="Calibri" pitchFamily="34" charset="-120"/>
              </a:rPr>
              <a:t> (material) + 9653 (shape), 5 fold CV </a:t>
            </a:r>
            <a:endParaRPr lang="en-US" sz="2000" dirty="0"/>
          </a:p>
          <a:p>
            <a:pPr marL="228600" indent="-228600">
              <a:spcBef>
                <a:spcPts val="1000"/>
              </a:spcBef>
              <a:buSzPct val="100000"/>
              <a:buChar char="▪"/>
            </a:pPr>
            <a:r>
              <a:rPr lang="en-US" sz="2000" b="1" dirty="0">
                <a:solidFill>
                  <a:srgbClr val="1A1A2E"/>
                </a:solidFill>
                <a:latin typeface="Calibri" pitchFamily="34" charset="0"/>
                <a:ea typeface="Calibri" pitchFamily="34" charset="-122"/>
                <a:cs typeface="Calibri" pitchFamily="34" charset="-120"/>
              </a:rPr>
              <a:t>Sampling </a:t>
            </a:r>
            <a:r>
              <a:rPr lang="en-US" sz="2000" b="1" dirty="0">
                <a:solidFill>
                  <a:srgbClr val="FF0000"/>
                </a:solidFill>
                <a:latin typeface="Calibri" pitchFamily="34" charset="0"/>
                <a:ea typeface="Calibri" pitchFamily="34" charset="-122"/>
                <a:cs typeface="Calibri" pitchFamily="34" charset="-120"/>
              </a:rPr>
              <a:t>NOT evenly</a:t>
            </a:r>
            <a:r>
              <a:rPr lang="en-CA" sz="2000" b="1" dirty="0">
                <a:solidFill>
                  <a:srgbClr val="1A1A2E"/>
                </a:solidFill>
                <a:latin typeface="Calibri" pitchFamily="34" charset="0"/>
                <a:ea typeface="Calibri" pitchFamily="34" charset="-122"/>
                <a:cs typeface="Calibri" pitchFamily="34" charset="-120"/>
              </a:rPr>
              <a:t>, </a:t>
            </a:r>
            <a:r>
              <a:rPr lang="en-CA" sz="2000" b="1" dirty="0">
                <a:solidFill>
                  <a:srgbClr val="FF0000"/>
                </a:solidFill>
                <a:latin typeface="Calibri" pitchFamily="34" charset="0"/>
                <a:ea typeface="Calibri" pitchFamily="34" charset="-122"/>
                <a:cs typeface="Calibri" pitchFamily="34" charset="-120"/>
              </a:rPr>
              <a:t>denser</a:t>
            </a:r>
            <a:r>
              <a:rPr lang="en-CA" sz="2000" b="1" dirty="0">
                <a:solidFill>
                  <a:srgbClr val="1A1A2E"/>
                </a:solidFill>
                <a:latin typeface="Calibri" pitchFamily="34" charset="0"/>
                <a:ea typeface="Calibri" pitchFamily="34" charset="-122"/>
                <a:cs typeface="Calibri" pitchFamily="34" charset="-120"/>
              </a:rPr>
              <a:t> </a:t>
            </a:r>
            <a:r>
              <a:rPr lang="en-CA" sz="2000" dirty="0">
                <a:solidFill>
                  <a:srgbClr val="1A1A2E"/>
                </a:solidFill>
                <a:latin typeface="Calibri" pitchFamily="34" charset="0"/>
                <a:ea typeface="Calibri" pitchFamily="34" charset="-122"/>
                <a:cs typeface="Calibri" pitchFamily="34" charset="-120"/>
              </a:rPr>
              <a:t>around buckling bifurcation (rapid change)</a:t>
            </a:r>
            <a:endParaRPr lang="en-US" sz="2000" dirty="0"/>
          </a:p>
          <a:p>
            <a:pPr marL="228600" indent="-228600">
              <a:spcBef>
                <a:spcPts val="1000"/>
              </a:spcBef>
              <a:buSzPct val="100000"/>
              <a:buChar char="▪"/>
            </a:pPr>
            <a:r>
              <a:rPr lang="en-US" sz="2000" dirty="0" err="1">
                <a:solidFill>
                  <a:srgbClr val="1A1A2E"/>
                </a:solidFill>
                <a:latin typeface="Calibri" pitchFamily="34" charset="0"/>
                <a:cs typeface="Calibri" pitchFamily="34" charset="-120"/>
              </a:rPr>
              <a:t>e.g</a:t>
            </a:r>
            <a:r>
              <a:rPr lang="en-US" sz="2000" dirty="0">
                <a:solidFill>
                  <a:srgbClr val="1A1A2E"/>
                </a:solidFill>
                <a:latin typeface="Calibri" pitchFamily="34" charset="0"/>
                <a:cs typeface="Calibri" pitchFamily="34" charset="-120"/>
              </a:rPr>
              <a:t> Near the 88° switch (</a:t>
            </a:r>
            <a:r>
              <a:rPr lang="en-US" sz="2000" dirty="0" err="1">
                <a:solidFill>
                  <a:srgbClr val="1A1A2E"/>
                </a:solidFill>
                <a:latin typeface="Calibri" pitchFamily="34" charset="0"/>
                <a:cs typeface="Calibri" pitchFamily="34" charset="-120"/>
              </a:rPr>
              <a:t>Δθ</a:t>
            </a:r>
            <a:r>
              <a:rPr lang="en-US" sz="2000" dirty="0">
                <a:solidFill>
                  <a:srgbClr val="1A1A2E"/>
                </a:solidFill>
                <a:latin typeface="Calibri" pitchFamily="34" charset="0"/>
                <a:cs typeface="Calibri" pitchFamily="34" charset="-120"/>
              </a:rPr>
              <a:t> = 0.05°)</a:t>
            </a:r>
          </a:p>
        </p:txBody>
      </p:sp>
      <p:sp>
        <p:nvSpPr>
          <p:cNvPr id="15" name="Text 3">
            <a:extLst>
              <a:ext uri="{FF2B5EF4-FFF2-40B4-BE49-F238E27FC236}">
                <a16:creationId xmlns:a16="http://schemas.microsoft.com/office/drawing/2014/main" id="{49B2234B-F250-F238-AC9F-71E423667B18}"/>
              </a:ext>
            </a:extLst>
          </p:cNvPr>
          <p:cNvSpPr/>
          <p:nvPr/>
        </p:nvSpPr>
        <p:spPr>
          <a:xfrm>
            <a:off x="640080" y="1371600"/>
            <a:ext cx="10881360" cy="365760"/>
          </a:xfrm>
          <a:prstGeom prst="rect">
            <a:avLst/>
          </a:prstGeom>
          <a:noFill/>
          <a:ln/>
        </p:spPr>
        <p:txBody>
          <a:bodyPr wrap="square" lIns="0" tIns="0" rIns="0" bIns="0" rtlCol="0" anchor="ctr"/>
          <a:lstStyle/>
          <a:p>
            <a:pPr marL="0" indent="0" algn="ctr">
              <a:buNone/>
            </a:pPr>
            <a:r>
              <a:rPr lang="en-US" sz="2000" dirty="0">
                <a:solidFill>
                  <a:srgbClr val="FF0000"/>
                </a:solidFill>
                <a:latin typeface="Calibri" pitchFamily="34" charset="0"/>
                <a:ea typeface="Calibri" pitchFamily="34" charset="-122"/>
                <a:cs typeface="Calibri" pitchFamily="34" charset="-120"/>
              </a:rPr>
              <a:t>3 params:  </a:t>
            </a:r>
            <a:r>
              <a:rPr lang="en-US" sz="2000" b="1" dirty="0">
                <a:solidFill>
                  <a:srgbClr val="FF0000"/>
                </a:solidFill>
                <a:latin typeface="Calibri" pitchFamily="34" charset="0"/>
                <a:ea typeface="Calibri" pitchFamily="34" charset="-122"/>
                <a:cs typeface="Calibri" pitchFamily="34" charset="-120"/>
              </a:rPr>
              <a:t>apex angle θ,  wall thickness h,  material stiffness E.</a:t>
            </a:r>
            <a:endParaRPr lang="en-US" sz="2000" dirty="0">
              <a:solidFill>
                <a:srgbClr val="FF0000"/>
              </a:solidFill>
            </a:endParaRPr>
          </a:p>
        </p:txBody>
      </p:sp>
      <p:sp>
        <p:nvSpPr>
          <p:cNvPr id="6" name="Text 7">
            <a:extLst>
              <a:ext uri="{FF2B5EF4-FFF2-40B4-BE49-F238E27FC236}">
                <a16:creationId xmlns:a16="http://schemas.microsoft.com/office/drawing/2014/main" id="{F6042213-FD48-BF53-09EE-B072C5E022E1}"/>
              </a:ext>
            </a:extLst>
          </p:cNvPr>
          <p:cNvSpPr/>
          <p:nvPr/>
        </p:nvSpPr>
        <p:spPr>
          <a:xfrm>
            <a:off x="1417168" y="2730137"/>
            <a:ext cx="2926080" cy="457200"/>
          </a:xfrm>
          <a:prstGeom prst="rect">
            <a:avLst/>
          </a:prstGeom>
          <a:noFill/>
          <a:ln/>
        </p:spPr>
        <p:txBody>
          <a:bodyPr wrap="square" lIns="0" tIns="0" rIns="0" bIns="0" rtlCol="0" anchor="ctr"/>
          <a:lstStyle/>
          <a:p>
            <a:pPr marL="0" indent="0" algn="ctr">
              <a:buNone/>
            </a:pPr>
            <a:r>
              <a:rPr lang="en-US" sz="1500" dirty="0">
                <a:solidFill>
                  <a:srgbClr val="5B6472"/>
                </a:solidFill>
                <a:latin typeface="Calibri" pitchFamily="34" charset="0"/>
                <a:cs typeface="Calibri" pitchFamily="34" charset="-120"/>
              </a:rPr>
              <a:t>Stress Samples</a:t>
            </a:r>
            <a:endParaRPr lang="en-US" sz="1500" dirty="0"/>
          </a:p>
        </p:txBody>
      </p:sp>
    </p:spTree>
    <p:extLst>
      <p:ext uri="{BB962C8B-B14F-4D97-AF65-F5344CB8AC3E}">
        <p14:creationId xmlns:p14="http://schemas.microsoft.com/office/powerpoint/2010/main" val="4062680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Users/I772771/jc/poly/slides/brand/uvic_stripe_white.png"/>
          <p:cNvPicPr>
            <a:picLocks noChangeAspect="1"/>
          </p:cNvPicPr>
          <p:nvPr/>
        </p:nvPicPr>
        <p:blipFill>
          <a:blip r:embed="rId2"/>
          <a:stretch>
            <a:fillRect/>
          </a:stretch>
        </p:blipFill>
        <p:spPr>
          <a:xfrm>
            <a:off x="0" y="0"/>
            <a:ext cx="12191695" cy="6858000"/>
          </a:xfrm>
          <a:prstGeom prst="rect">
            <a:avLst/>
          </a:prstGeom>
        </p:spPr>
      </p:pic>
      <p:sp>
        <p:nvSpPr>
          <p:cNvPr id="3" name="Text 0"/>
          <p:cNvSpPr/>
          <p:nvPr/>
        </p:nvSpPr>
        <p:spPr>
          <a:xfrm>
            <a:off x="548640" y="475488"/>
            <a:ext cx="11155680" cy="777240"/>
          </a:xfrm>
          <a:prstGeom prst="rect">
            <a:avLst/>
          </a:prstGeom>
          <a:noFill/>
          <a:ln/>
        </p:spPr>
        <p:txBody>
          <a:bodyPr wrap="square" lIns="0" tIns="0" rIns="0" bIns="0" rtlCol="0" anchor="t"/>
          <a:lstStyle/>
          <a:p>
            <a:pPr marL="0" indent="0">
              <a:buNone/>
            </a:pPr>
            <a:r>
              <a:rPr sz="2600" b="1">
                <a:solidFill>
                  <a:srgbClr val="0073BC"/>
                </a:solidFill>
                <a:latin typeface="Cambria"/>
              </a:rPr>
              <a:t>Training  </a:t>
            </a:r>
            <a:r>
              <a:rPr sz="2600" b="1">
                <a:solidFill>
                  <a:srgbClr val="1A1A2E"/>
                </a:solidFill>
                <a:latin typeface="Cambria"/>
              </a:rPr>
              <a:t>loss, optimizer, model size, cost</a:t>
            </a:r>
            <a:endParaRPr lang="en-US" sz="2600" dirty="0"/>
          </a:p>
        </p:txBody>
      </p:sp>
      <p:sp>
        <p:nvSpPr>
          <p:cNvPr id="4" name="Text 1"/>
          <p:cNvSpPr/>
          <p:nvPr/>
        </p:nvSpPr>
        <p:spPr>
          <a:xfrm>
            <a:off x="548640" y="6199632"/>
            <a:ext cx="82296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Jiacheng Zhao · MSc Defense · University of Victoria</a:t>
            </a:r>
            <a:endParaRPr lang="en-US" sz="900" dirty="0"/>
          </a:p>
        </p:txBody>
      </p:sp>
      <p:sp>
        <p:nvSpPr>
          <p:cNvPr id="5" name="Text 2"/>
          <p:cNvSpPr/>
          <p:nvPr/>
        </p:nvSpPr>
        <p:spPr>
          <a:xfrm>
            <a:off x="11338560" y="6199632"/>
            <a:ext cx="457200" cy="274320"/>
          </a:xfrm>
          <a:prstGeom prst="rect">
            <a:avLst/>
          </a:prstGeom>
          <a:noFill/>
          <a:ln/>
        </p:spPr>
        <p:txBody>
          <a:bodyPr wrap="square" lIns="0" tIns="0" rIns="0" bIns="0" rtlCol="0" anchor="ctr"/>
          <a:lstStyle/>
          <a:p>
            <a:pPr marL="0" indent="0" algn="r">
              <a:buNone/>
            </a:pPr>
            <a:r>
              <a:rPr sz="900">
                <a:solidFill>
                  <a:srgbClr val="5B6472"/>
                </a:solidFill>
                <a:latin typeface="Calibri"/>
              </a:rPr>
              <a:t>6</a:t>
            </a:r>
            <a:endParaRPr lang="en-US" sz="900" dirty="0"/>
          </a:p>
        </p:txBody>
      </p:sp>
      <p:sp>
        <p:nvSpPr>
          <p:cNvPr id="7" name="Rounded Rectangle 6"/>
          <p:cNvSpPr/>
          <p:nvPr/>
        </p:nvSpPr>
        <p:spPr>
          <a:xfrm>
            <a:off x="640080" y="1783080"/>
            <a:ext cx="5349240" cy="4160520"/>
          </a:xfrm>
          <a:prstGeom prst="roundRect">
            <a:avLst/>
          </a:prstGeom>
          <a:solidFill>
            <a:srgbClr val="EAF2F9"/>
          </a:solidFill>
          <a:ln w="19050">
            <a:solidFill>
              <a:srgbClr val="0073BC"/>
            </a:solidFill>
          </a:ln>
          <a:effectLst/>
        </p:spPr>
        <p:style>
          <a:lnRef idx="1">
            <a:schemeClr val="accent1"/>
          </a:lnRef>
          <a:fillRef idx="3">
            <a:schemeClr val="accent1"/>
          </a:fillRef>
          <a:effectRef idx="2">
            <a:schemeClr val="accent1"/>
          </a:effectRef>
          <a:fontRef idx="minor">
            <a:schemeClr val="lt1"/>
          </a:fontRef>
        </p:style>
        <p:txBody>
          <a:bodyPr wrap="square" lIns="190500" tIns="152400" rIns="190500" rtlCol="0" anchor="ctr"/>
          <a:lstStyle/>
          <a:p>
            <a:pPr algn="l">
              <a:spcBef>
                <a:spcPts val="0"/>
              </a:spcBef>
            </a:pPr>
            <a:r>
              <a:rPr sz="1800" b="1" dirty="0">
                <a:solidFill>
                  <a:srgbClr val="0073BC"/>
                </a:solidFill>
                <a:latin typeface="Cambria"/>
              </a:rPr>
              <a:t>Forward</a:t>
            </a:r>
            <a:r>
              <a:rPr sz="1400" b="0" dirty="0">
                <a:solidFill>
                  <a:srgbClr val="5B6472"/>
                </a:solidFill>
                <a:latin typeface="Calibri"/>
              </a:rPr>
              <a:t>   peak stress  </a:t>
            </a:r>
            <a:r>
              <a:rPr sz="1400" b="0" dirty="0" err="1">
                <a:solidFill>
                  <a:srgbClr val="5B6472"/>
                </a:solidFill>
                <a:latin typeface="Calibri"/>
              </a:rPr>
              <a:t>σ</a:t>
            </a:r>
            <a:endParaRPr sz="1400" b="0" dirty="0">
              <a:solidFill>
                <a:srgbClr val="5B6472"/>
              </a:solidFill>
              <a:latin typeface="Calibri"/>
            </a:endParaRPr>
          </a:p>
          <a:p>
            <a:pPr algn="l">
              <a:spcBef>
                <a:spcPts val="600"/>
              </a:spcBef>
            </a:pPr>
            <a:r>
              <a:rPr sz="1200" b="0" dirty="0" err="1">
                <a:solidFill>
                  <a:srgbClr val="1A1A2E"/>
                </a:solidFill>
                <a:latin typeface="Calibri"/>
              </a:rPr>
              <a:t>XGBoost</a:t>
            </a:r>
            <a:r>
              <a:rPr sz="1200" b="0" dirty="0">
                <a:solidFill>
                  <a:srgbClr val="1A1A2E"/>
                </a:solidFill>
                <a:latin typeface="Calibri"/>
              </a:rPr>
              <a:t>  ·  22 physics features  ·  log1p target</a:t>
            </a:r>
          </a:p>
          <a:p>
            <a:pPr algn="l">
              <a:spcBef>
                <a:spcPts val="1200"/>
              </a:spcBef>
            </a:pPr>
            <a:endParaRPr sz="1000" b="1" dirty="0">
              <a:solidFill>
                <a:srgbClr val="0073BC"/>
              </a:solidFill>
              <a:latin typeface="Calibri"/>
            </a:endParaRPr>
          </a:p>
          <a:p>
            <a:pPr algn="ctr">
              <a:spcBef>
                <a:spcPts val="400"/>
              </a:spcBef>
            </a:pPr>
            <a:r>
              <a:rPr sz="1800" b="1" dirty="0">
                <a:solidFill>
                  <a:srgbClr val="1A1A2E"/>
                </a:solidFill>
                <a:latin typeface="Cambria"/>
              </a:rPr>
              <a:t>L  =  (1/N) </a:t>
            </a:r>
            <a:r>
              <a:rPr sz="1800" b="1" dirty="0" err="1">
                <a:solidFill>
                  <a:srgbClr val="1A1A2E"/>
                </a:solidFill>
                <a:latin typeface="Cambria"/>
              </a:rPr>
              <a:t>Σ</a:t>
            </a:r>
            <a:r>
              <a:rPr sz="1800" b="1" dirty="0">
                <a:solidFill>
                  <a:srgbClr val="1A1A2E"/>
                </a:solidFill>
                <a:latin typeface="Cambria"/>
              </a:rPr>
              <a:t> ( log(1+y) − </a:t>
            </a:r>
            <a:r>
              <a:rPr sz="1800" b="1" dirty="0" err="1">
                <a:solidFill>
                  <a:srgbClr val="1A1A2E"/>
                </a:solidFill>
                <a:latin typeface="Cambria"/>
              </a:rPr>
              <a:t>ẑ</a:t>
            </a:r>
            <a:r>
              <a:rPr sz="1800" b="1" dirty="0">
                <a:solidFill>
                  <a:srgbClr val="1A1A2E"/>
                </a:solidFill>
                <a:latin typeface="Cambria"/>
              </a:rPr>
              <a:t> )²</a:t>
            </a:r>
          </a:p>
          <a:p>
            <a:pPr algn="ctr">
              <a:spcBef>
                <a:spcPts val="600"/>
              </a:spcBef>
            </a:pPr>
            <a:r>
              <a:rPr sz="1100" b="0" dirty="0">
                <a:solidFill>
                  <a:srgbClr val="5B6472"/>
                </a:solidFill>
                <a:latin typeface="Calibri"/>
              </a:rPr>
              <a:t>invert:  </a:t>
            </a:r>
            <a:r>
              <a:rPr sz="1100" b="0" dirty="0" err="1">
                <a:solidFill>
                  <a:srgbClr val="5B6472"/>
                </a:solidFill>
                <a:latin typeface="Calibri"/>
              </a:rPr>
              <a:t>σ</a:t>
            </a:r>
            <a:r>
              <a:rPr sz="1100" b="0" dirty="0">
                <a:solidFill>
                  <a:srgbClr val="5B6472"/>
                </a:solidFill>
                <a:latin typeface="Calibri"/>
              </a:rPr>
              <a:t> = exp(</a:t>
            </a:r>
            <a:r>
              <a:rPr sz="1100" b="0" dirty="0" err="1">
                <a:solidFill>
                  <a:srgbClr val="5B6472"/>
                </a:solidFill>
                <a:latin typeface="Calibri"/>
              </a:rPr>
              <a:t>ẑ</a:t>
            </a:r>
            <a:r>
              <a:rPr sz="1100" b="0" dirty="0">
                <a:solidFill>
                  <a:srgbClr val="5B6472"/>
                </a:solidFill>
                <a:latin typeface="Calibri"/>
              </a:rPr>
              <a:t>) − 1      (relative error, matches Acc@10%)</a:t>
            </a:r>
          </a:p>
          <a:p>
            <a:pPr algn="l">
              <a:spcBef>
                <a:spcPts val="1600"/>
              </a:spcBef>
            </a:pPr>
            <a:r>
              <a:rPr sz="1400" b="1" dirty="0">
                <a:solidFill>
                  <a:srgbClr val="5B6472"/>
                </a:solidFill>
                <a:latin typeface="Calibri"/>
              </a:rPr>
              <a:t>SETUP</a:t>
            </a:r>
          </a:p>
          <a:p>
            <a:pPr algn="l">
              <a:spcBef>
                <a:spcPts val="300"/>
              </a:spcBef>
            </a:pPr>
            <a:r>
              <a:rPr sz="1400" b="1" dirty="0">
                <a:solidFill>
                  <a:srgbClr val="002858"/>
                </a:solidFill>
                <a:latin typeface="Calibri"/>
              </a:rPr>
              <a:t>Size   </a:t>
            </a:r>
            <a:r>
              <a:rPr sz="1400" b="0" dirty="0">
                <a:solidFill>
                  <a:srgbClr val="1A1A2E"/>
                </a:solidFill>
                <a:latin typeface="Calibri"/>
              </a:rPr>
              <a:t>5000 trees, depth 8, </a:t>
            </a:r>
            <a:r>
              <a:rPr sz="1400" b="0" dirty="0" err="1">
                <a:solidFill>
                  <a:srgbClr val="1A1A2E"/>
                </a:solidFill>
                <a:latin typeface="Calibri"/>
              </a:rPr>
              <a:t>lr</a:t>
            </a:r>
            <a:r>
              <a:rPr sz="1400" b="0" dirty="0">
                <a:solidFill>
                  <a:srgbClr val="1A1A2E"/>
                </a:solidFill>
                <a:latin typeface="Calibri"/>
              </a:rPr>
              <a:t> 0.01</a:t>
            </a:r>
          </a:p>
          <a:p>
            <a:pPr algn="l">
              <a:spcBef>
                <a:spcPts val="300"/>
              </a:spcBef>
            </a:pPr>
            <a:r>
              <a:rPr sz="1400" b="1" dirty="0">
                <a:solidFill>
                  <a:srgbClr val="002858"/>
                </a:solidFill>
                <a:latin typeface="Calibri"/>
              </a:rPr>
              <a:t>Cost   </a:t>
            </a:r>
            <a:r>
              <a:rPr sz="1400" b="0" dirty="0">
                <a:solidFill>
                  <a:srgbClr val="1A1A2E"/>
                </a:solidFill>
                <a:latin typeface="Calibri"/>
              </a:rPr>
              <a:t>train ~12 s (5-fold CV)  ·  infer &lt;0.1 </a:t>
            </a:r>
            <a:r>
              <a:rPr sz="1400" b="0" dirty="0" err="1">
                <a:solidFill>
                  <a:srgbClr val="1A1A2E"/>
                </a:solidFill>
                <a:latin typeface="Calibri"/>
              </a:rPr>
              <a:t>ms</a:t>
            </a:r>
            <a:endParaRPr sz="1400" b="0" dirty="0">
              <a:solidFill>
                <a:srgbClr val="1A1A2E"/>
              </a:solidFill>
              <a:latin typeface="Calibri"/>
            </a:endParaRPr>
          </a:p>
        </p:txBody>
      </p:sp>
      <p:sp>
        <p:nvSpPr>
          <p:cNvPr id="8" name="Rounded Rectangle 7"/>
          <p:cNvSpPr/>
          <p:nvPr/>
        </p:nvSpPr>
        <p:spPr>
          <a:xfrm>
            <a:off x="6184392" y="1783080"/>
            <a:ext cx="5367528" cy="4160520"/>
          </a:xfrm>
          <a:prstGeom prst="roundRect">
            <a:avLst/>
          </a:prstGeom>
          <a:solidFill>
            <a:srgbClr val="FAF3E2"/>
          </a:solidFill>
          <a:ln w="19050">
            <a:solidFill>
              <a:srgbClr val="B37F00"/>
            </a:solidFill>
          </a:ln>
          <a:effectLst/>
        </p:spPr>
        <p:style>
          <a:lnRef idx="1">
            <a:schemeClr val="accent1"/>
          </a:lnRef>
          <a:fillRef idx="3">
            <a:schemeClr val="accent1"/>
          </a:fillRef>
          <a:effectRef idx="2">
            <a:schemeClr val="accent1"/>
          </a:effectRef>
          <a:fontRef idx="minor">
            <a:schemeClr val="lt1"/>
          </a:fontRef>
        </p:style>
        <p:txBody>
          <a:bodyPr wrap="square" lIns="190500" tIns="152400" rIns="190500" rtlCol="0" anchor="ctr"/>
          <a:lstStyle/>
          <a:p>
            <a:pPr algn="l">
              <a:spcBef>
                <a:spcPts val="0"/>
              </a:spcBef>
            </a:pPr>
            <a:r>
              <a:rPr sz="2000" b="1" dirty="0">
                <a:solidFill>
                  <a:srgbClr val="B37F00"/>
                </a:solidFill>
                <a:latin typeface="Cambria"/>
              </a:rPr>
              <a:t>Gradient</a:t>
            </a:r>
            <a:r>
              <a:rPr sz="1400" b="0" dirty="0">
                <a:solidFill>
                  <a:srgbClr val="5B6472"/>
                </a:solidFill>
                <a:latin typeface="Calibri"/>
              </a:rPr>
              <a:t>   dL/</a:t>
            </a:r>
            <a:r>
              <a:rPr sz="1400" b="0" dirty="0" err="1">
                <a:solidFill>
                  <a:srgbClr val="5B6472"/>
                </a:solidFill>
                <a:latin typeface="Calibri"/>
              </a:rPr>
              <a:t>dE</a:t>
            </a:r>
            <a:r>
              <a:rPr sz="1400" b="0" dirty="0">
                <a:solidFill>
                  <a:srgbClr val="5B6472"/>
                </a:solidFill>
                <a:latin typeface="Calibri"/>
              </a:rPr>
              <a:t>, dL/dh, dL/</a:t>
            </a:r>
            <a:r>
              <a:rPr sz="1400" b="0" dirty="0" err="1">
                <a:solidFill>
                  <a:srgbClr val="5B6472"/>
                </a:solidFill>
                <a:latin typeface="Calibri"/>
              </a:rPr>
              <a:t>dθ</a:t>
            </a:r>
            <a:endParaRPr sz="1400" b="0" dirty="0">
              <a:solidFill>
                <a:srgbClr val="5B6472"/>
              </a:solidFill>
              <a:latin typeface="Calibri"/>
            </a:endParaRPr>
          </a:p>
          <a:p>
            <a:pPr algn="l">
              <a:spcBef>
                <a:spcPts val="600"/>
              </a:spcBef>
            </a:pPr>
            <a:r>
              <a:rPr sz="1200" b="0" dirty="0" err="1">
                <a:solidFill>
                  <a:srgbClr val="1A1A2E"/>
                </a:solidFill>
                <a:latin typeface="Calibri"/>
              </a:rPr>
              <a:t>Multihead</a:t>
            </a:r>
            <a:r>
              <a:rPr sz="1200" b="0" dirty="0">
                <a:solidFill>
                  <a:srgbClr val="1A1A2E"/>
                </a:solidFill>
                <a:latin typeface="Calibri"/>
              </a:rPr>
              <a:t> net  ·  6-layer </a:t>
            </a:r>
            <a:r>
              <a:rPr sz="1200" b="0" dirty="0" err="1">
                <a:solidFill>
                  <a:srgbClr val="1A1A2E"/>
                </a:solidFill>
                <a:latin typeface="Calibri"/>
              </a:rPr>
              <a:t>SiLU</a:t>
            </a:r>
            <a:r>
              <a:rPr lang="en-CA" sz="1200" b="0" dirty="0">
                <a:solidFill>
                  <a:srgbClr val="1A1A2E"/>
                </a:solidFill>
                <a:latin typeface="Calibri"/>
              </a:rPr>
              <a:t> </a:t>
            </a:r>
            <a:r>
              <a:rPr sz="1200" b="0" dirty="0">
                <a:solidFill>
                  <a:srgbClr val="1A1A2E"/>
                </a:solidFill>
                <a:latin typeface="Calibri"/>
              </a:rPr>
              <a:t> + per-target heads</a:t>
            </a:r>
          </a:p>
          <a:p>
            <a:pPr algn="l">
              <a:spcBef>
                <a:spcPts val="1200"/>
              </a:spcBef>
            </a:pPr>
            <a:r>
              <a:rPr lang="en-CA" sz="1200" b="1" dirty="0">
                <a:solidFill>
                  <a:srgbClr val="B37F00"/>
                </a:solidFill>
                <a:latin typeface="Calibri"/>
              </a:rPr>
              <a:t>	</a:t>
            </a:r>
            <a:r>
              <a:rPr sz="1200" b="0" dirty="0">
                <a:solidFill>
                  <a:srgbClr val="5B6472"/>
                </a:solidFill>
                <a:latin typeface="Calibri"/>
              </a:rPr>
              <a:t>   split g into  v = log(1+L),  m = log₁₀(|g|+1),  s = 1[g&gt;0]</a:t>
            </a:r>
          </a:p>
          <a:p>
            <a:pPr algn="ctr">
              <a:spcBef>
                <a:spcPts val="400"/>
              </a:spcBef>
            </a:pPr>
            <a:r>
              <a:rPr sz="1600" b="1" dirty="0">
                <a:solidFill>
                  <a:srgbClr val="1A1A2E"/>
                </a:solidFill>
                <a:latin typeface="Cambria"/>
              </a:rPr>
              <a:t>L  =  MSE(v) + </a:t>
            </a:r>
            <a:r>
              <a:rPr sz="1600" b="1" dirty="0" err="1">
                <a:solidFill>
                  <a:srgbClr val="1A1A2E"/>
                </a:solidFill>
                <a:latin typeface="Cambria"/>
              </a:rPr>
              <a:t>λ</a:t>
            </a:r>
            <a:r>
              <a:rPr sz="1600" b="1" dirty="0">
                <a:solidFill>
                  <a:srgbClr val="1A1A2E"/>
                </a:solidFill>
                <a:latin typeface="Cambria"/>
              </a:rPr>
              <a:t>(t)·[ 3·MSE(m) + 1.5·BCE(s) ]</a:t>
            </a:r>
          </a:p>
          <a:p>
            <a:pPr algn="ctr">
              <a:spcBef>
                <a:spcPts val="400"/>
              </a:spcBef>
            </a:pPr>
            <a:r>
              <a:rPr sz="1100" b="0" dirty="0" err="1">
                <a:solidFill>
                  <a:srgbClr val="5B6472"/>
                </a:solidFill>
                <a:latin typeface="Calibri"/>
              </a:rPr>
              <a:t>h+θ</a:t>
            </a:r>
            <a:r>
              <a:rPr sz="1100" b="0" dirty="0">
                <a:solidFill>
                  <a:srgbClr val="5B6472"/>
                </a:solidFill>
                <a:latin typeface="Calibri"/>
              </a:rPr>
              <a:t> variant: 2·MSE+1·BCE (h),  3·MSE+1.5·BCE (</a:t>
            </a:r>
            <a:r>
              <a:rPr sz="1100" b="0" dirty="0" err="1">
                <a:solidFill>
                  <a:srgbClr val="5B6472"/>
                </a:solidFill>
                <a:latin typeface="Calibri"/>
              </a:rPr>
              <a:t>θ</a:t>
            </a:r>
            <a:r>
              <a:rPr sz="1100" b="0" dirty="0">
                <a:solidFill>
                  <a:srgbClr val="5B6472"/>
                </a:solidFill>
                <a:latin typeface="Calibri"/>
              </a:rPr>
              <a:t>)   ·   </a:t>
            </a:r>
            <a:r>
              <a:rPr sz="1100" b="0" dirty="0" err="1">
                <a:solidFill>
                  <a:srgbClr val="5B6472"/>
                </a:solidFill>
                <a:latin typeface="Calibri"/>
              </a:rPr>
              <a:t>λ</a:t>
            </a:r>
            <a:r>
              <a:rPr sz="1100" b="0" dirty="0">
                <a:solidFill>
                  <a:srgbClr val="5B6472"/>
                </a:solidFill>
                <a:latin typeface="Calibri"/>
              </a:rPr>
              <a:t>(t)=clip((t−30)/40,0,1)</a:t>
            </a:r>
          </a:p>
          <a:p>
            <a:pPr algn="ctr">
              <a:spcBef>
                <a:spcPts val="400"/>
              </a:spcBef>
            </a:pPr>
            <a:r>
              <a:rPr sz="1200" b="1" dirty="0">
                <a:solidFill>
                  <a:srgbClr val="002858"/>
                </a:solidFill>
                <a:latin typeface="Cambria"/>
              </a:rPr>
              <a:t>recombine:  </a:t>
            </a:r>
            <a:r>
              <a:rPr sz="1200" b="1" dirty="0" err="1">
                <a:solidFill>
                  <a:srgbClr val="002858"/>
                </a:solidFill>
                <a:latin typeface="Cambria"/>
              </a:rPr>
              <a:t>ĝ</a:t>
            </a:r>
            <a:r>
              <a:rPr sz="1200" b="1" dirty="0">
                <a:solidFill>
                  <a:srgbClr val="002858"/>
                </a:solidFill>
                <a:latin typeface="Cambria"/>
              </a:rPr>
              <a:t> = sign(ŝ−0.5)·(10^m̂ − 1)</a:t>
            </a:r>
          </a:p>
          <a:p>
            <a:pPr algn="l">
              <a:spcBef>
                <a:spcPts val="1200"/>
              </a:spcBef>
            </a:pPr>
            <a:r>
              <a:rPr sz="1400" b="1" dirty="0">
                <a:solidFill>
                  <a:srgbClr val="5B6472"/>
                </a:solidFill>
                <a:latin typeface="Calibri"/>
              </a:rPr>
              <a:t>SETUP</a:t>
            </a:r>
          </a:p>
          <a:p>
            <a:pPr algn="l">
              <a:spcBef>
                <a:spcPts val="400"/>
              </a:spcBef>
            </a:pPr>
            <a:r>
              <a:rPr sz="1400" b="1" dirty="0">
                <a:solidFill>
                  <a:srgbClr val="002858"/>
                </a:solidFill>
                <a:latin typeface="Calibri"/>
              </a:rPr>
              <a:t>Optimizer   </a:t>
            </a:r>
            <a:r>
              <a:rPr sz="1400" b="0" dirty="0" err="1">
                <a:solidFill>
                  <a:srgbClr val="1A1A2E"/>
                </a:solidFill>
                <a:latin typeface="Calibri"/>
              </a:rPr>
              <a:t>AdamW</a:t>
            </a:r>
            <a:r>
              <a:rPr sz="1400" b="0" dirty="0">
                <a:solidFill>
                  <a:srgbClr val="1A1A2E"/>
                </a:solidFill>
                <a:latin typeface="Calibri"/>
              </a:rPr>
              <a:t> </a:t>
            </a:r>
            <a:r>
              <a:rPr sz="1400" b="0" dirty="0" err="1">
                <a:solidFill>
                  <a:srgbClr val="1A1A2E"/>
                </a:solidFill>
                <a:latin typeface="Calibri"/>
              </a:rPr>
              <a:t>lr</a:t>
            </a:r>
            <a:r>
              <a:rPr sz="1400" b="0" dirty="0">
                <a:solidFill>
                  <a:srgbClr val="1A1A2E"/>
                </a:solidFill>
                <a:latin typeface="Calibri"/>
              </a:rPr>
              <a:t> 5e-4, 400 ep</a:t>
            </a:r>
            <a:r>
              <a:rPr lang="en-CA" sz="1400" b="0" dirty="0">
                <a:solidFill>
                  <a:srgbClr val="1A1A2E"/>
                </a:solidFill>
                <a:latin typeface="Calibri"/>
              </a:rPr>
              <a:t>och</a:t>
            </a:r>
            <a:r>
              <a:rPr sz="1400" b="0" dirty="0">
                <a:solidFill>
                  <a:srgbClr val="1A1A2E"/>
                </a:solidFill>
                <a:latin typeface="Calibri"/>
              </a:rPr>
              <a:t>, batch </a:t>
            </a:r>
            <a:r>
              <a:rPr lang="en-CA" sz="1400" b="0" dirty="0">
                <a:solidFill>
                  <a:srgbClr val="1A1A2E"/>
                </a:solidFill>
                <a:latin typeface="Calibri"/>
              </a:rPr>
              <a:t>size </a:t>
            </a:r>
            <a:r>
              <a:rPr sz="1400" b="0" dirty="0">
                <a:solidFill>
                  <a:srgbClr val="1A1A2E"/>
                </a:solidFill>
                <a:latin typeface="Calibri"/>
              </a:rPr>
              <a:t>512, clip 1</a:t>
            </a:r>
          </a:p>
          <a:p>
            <a:pPr algn="l">
              <a:spcBef>
                <a:spcPts val="300"/>
              </a:spcBef>
            </a:pPr>
            <a:r>
              <a:rPr sz="1400" b="1" dirty="0">
                <a:solidFill>
                  <a:srgbClr val="002858"/>
                </a:solidFill>
                <a:latin typeface="Calibri"/>
              </a:rPr>
              <a:t>Size   </a:t>
            </a:r>
            <a:r>
              <a:rPr sz="1400" b="0" dirty="0">
                <a:solidFill>
                  <a:srgbClr val="1A1A2E"/>
                </a:solidFill>
                <a:latin typeface="Calibri"/>
              </a:rPr>
              <a:t>~2.1M params (dL/</a:t>
            </a:r>
            <a:r>
              <a:rPr sz="1400" b="0" dirty="0" err="1">
                <a:solidFill>
                  <a:srgbClr val="1A1A2E"/>
                </a:solidFill>
                <a:latin typeface="Calibri"/>
              </a:rPr>
              <a:t>dE</a:t>
            </a:r>
            <a:r>
              <a:rPr sz="1400" b="0" dirty="0">
                <a:solidFill>
                  <a:srgbClr val="1A1A2E"/>
                </a:solidFill>
                <a:latin typeface="Calibri"/>
              </a:rPr>
              <a:t>) to ~2.6M (</a:t>
            </a:r>
            <a:r>
              <a:rPr sz="1400" b="0" dirty="0" err="1">
                <a:solidFill>
                  <a:srgbClr val="1A1A2E"/>
                </a:solidFill>
                <a:latin typeface="Calibri"/>
              </a:rPr>
              <a:t>h+θ</a:t>
            </a:r>
            <a:r>
              <a:rPr sz="1400" b="0" dirty="0">
                <a:solidFill>
                  <a:srgbClr val="1A1A2E"/>
                </a:solidFill>
                <a:latin typeface="Calibri"/>
              </a:rPr>
              <a:t>)</a:t>
            </a:r>
          </a:p>
          <a:p>
            <a:pPr algn="l">
              <a:spcBef>
                <a:spcPts val="300"/>
              </a:spcBef>
            </a:pPr>
            <a:r>
              <a:rPr sz="1400" b="1" dirty="0">
                <a:solidFill>
                  <a:srgbClr val="002858"/>
                </a:solidFill>
                <a:latin typeface="Calibri"/>
              </a:rPr>
              <a:t>Cost   </a:t>
            </a:r>
            <a:r>
              <a:rPr sz="1400" b="0" dirty="0">
                <a:solidFill>
                  <a:srgbClr val="1A1A2E"/>
                </a:solidFill>
                <a:latin typeface="Calibri"/>
              </a:rPr>
              <a:t>ensemble ×5, train ~45 min  ·  infer &lt;0.1 </a:t>
            </a:r>
            <a:r>
              <a:rPr sz="1400" b="0" dirty="0" err="1">
                <a:solidFill>
                  <a:srgbClr val="1A1A2E"/>
                </a:solidFill>
                <a:latin typeface="Calibri"/>
              </a:rPr>
              <a:t>ms</a:t>
            </a:r>
            <a:endParaRPr sz="1400" b="0" dirty="0">
              <a:solidFill>
                <a:srgbClr val="1A1A2E"/>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Users/I772771/jc/poly/slides/brand/uvic_stripe_white.png"/>
          <p:cNvPicPr>
            <a:picLocks noChangeAspect="1"/>
          </p:cNvPicPr>
          <p:nvPr/>
        </p:nvPicPr>
        <p:blipFill>
          <a:blip r:embed="rId2"/>
          <a:stretch>
            <a:fillRect/>
          </a:stretch>
        </p:blipFill>
        <p:spPr>
          <a:xfrm>
            <a:off x="0" y="0"/>
            <a:ext cx="12191695" cy="6858000"/>
          </a:xfrm>
          <a:prstGeom prst="rect">
            <a:avLst/>
          </a:prstGeom>
        </p:spPr>
      </p:pic>
      <p:sp>
        <p:nvSpPr>
          <p:cNvPr id="3" name="Text 0"/>
          <p:cNvSpPr/>
          <p:nvPr/>
        </p:nvSpPr>
        <p:spPr>
          <a:xfrm>
            <a:off x="548640" y="475488"/>
            <a:ext cx="11155680" cy="777240"/>
          </a:xfrm>
          <a:prstGeom prst="rect">
            <a:avLst/>
          </a:prstGeom>
          <a:noFill/>
          <a:ln/>
        </p:spPr>
        <p:txBody>
          <a:bodyPr wrap="square" lIns="0" tIns="0" rIns="0" bIns="0" rtlCol="0" anchor="t"/>
          <a:lstStyle/>
          <a:p>
            <a:pPr marL="0" indent="0">
              <a:buNone/>
            </a:pPr>
            <a:r>
              <a:rPr sz="2600" b="1" dirty="0">
                <a:solidFill>
                  <a:srgbClr val="0073BC"/>
                </a:solidFill>
                <a:latin typeface="Cambria"/>
              </a:rPr>
              <a:t>Training Losses </a:t>
            </a:r>
            <a:endParaRPr lang="en-US" sz="2600" dirty="0"/>
          </a:p>
        </p:txBody>
      </p:sp>
      <p:sp>
        <p:nvSpPr>
          <p:cNvPr id="4" name="Text 1"/>
          <p:cNvSpPr/>
          <p:nvPr/>
        </p:nvSpPr>
        <p:spPr>
          <a:xfrm>
            <a:off x="548640" y="6199632"/>
            <a:ext cx="82296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Jiacheng Zhao · MSc Defense · University of Victoria</a:t>
            </a:r>
            <a:endParaRPr lang="en-US" sz="900" dirty="0"/>
          </a:p>
        </p:txBody>
      </p:sp>
      <p:sp>
        <p:nvSpPr>
          <p:cNvPr id="5" name="Text 2"/>
          <p:cNvSpPr/>
          <p:nvPr/>
        </p:nvSpPr>
        <p:spPr>
          <a:xfrm>
            <a:off x="11338560" y="6199632"/>
            <a:ext cx="457200" cy="274320"/>
          </a:xfrm>
          <a:prstGeom prst="rect">
            <a:avLst/>
          </a:prstGeom>
          <a:noFill/>
          <a:ln/>
        </p:spPr>
        <p:txBody>
          <a:bodyPr wrap="square" lIns="0" tIns="0" rIns="0" bIns="0" rtlCol="0" anchor="ctr"/>
          <a:lstStyle/>
          <a:p>
            <a:pPr marL="0" indent="0" algn="r">
              <a:buNone/>
            </a:pPr>
            <a:r>
              <a:rPr sz="900">
                <a:solidFill>
                  <a:srgbClr val="5B6472"/>
                </a:solidFill>
                <a:latin typeface="Calibri"/>
              </a:rPr>
              <a:t>6</a:t>
            </a:r>
            <a:endParaRPr lang="en-US" sz="900" dirty="0"/>
          </a:p>
        </p:txBody>
      </p:sp>
      <p:sp>
        <p:nvSpPr>
          <p:cNvPr id="7" name="Rounded Rectangle 6"/>
          <p:cNvSpPr/>
          <p:nvPr/>
        </p:nvSpPr>
        <p:spPr>
          <a:xfrm>
            <a:off x="640080" y="1828800"/>
            <a:ext cx="5349240" cy="3977639"/>
          </a:xfrm>
          <a:prstGeom prst="roundRect">
            <a:avLst/>
          </a:prstGeom>
          <a:solidFill>
            <a:srgbClr val="EAF2F9"/>
          </a:solidFill>
          <a:ln w="19050">
            <a:solidFill>
              <a:srgbClr val="0073BC"/>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rtlCol="0" anchor="ctr"/>
          <a:lstStyle/>
          <a:p>
            <a:pPr algn="l">
              <a:spcBef>
                <a:spcPts val="0"/>
              </a:spcBef>
            </a:pPr>
            <a:r>
              <a:rPr sz="1800" b="1" dirty="0">
                <a:solidFill>
                  <a:srgbClr val="0073BC"/>
                </a:solidFill>
                <a:latin typeface="Cambria"/>
              </a:rPr>
              <a:t>Forward</a:t>
            </a:r>
            <a:r>
              <a:rPr sz="1500" b="0" dirty="0">
                <a:solidFill>
                  <a:srgbClr val="5B6472"/>
                </a:solidFill>
                <a:latin typeface="Calibri"/>
              </a:rPr>
              <a:t>  peak stress  </a:t>
            </a:r>
            <a:r>
              <a:rPr sz="1500" b="0" dirty="0" err="1">
                <a:solidFill>
                  <a:srgbClr val="5B6472"/>
                </a:solidFill>
                <a:latin typeface="Calibri"/>
              </a:rPr>
              <a:t>σ</a:t>
            </a:r>
            <a:endParaRPr sz="1500" b="0" dirty="0">
              <a:solidFill>
                <a:srgbClr val="5B6472"/>
              </a:solidFill>
              <a:latin typeface="Calibri"/>
            </a:endParaRPr>
          </a:p>
          <a:p>
            <a:pPr algn="l">
              <a:spcBef>
                <a:spcPts val="800"/>
              </a:spcBef>
            </a:pPr>
            <a:r>
              <a:rPr sz="1300" b="0" dirty="0">
                <a:solidFill>
                  <a:srgbClr val="1A1A2E"/>
                </a:solidFill>
                <a:latin typeface="Calibri"/>
              </a:rPr>
              <a:t>Squared error on a log target</a:t>
            </a:r>
          </a:p>
          <a:p>
            <a:pPr algn="ctr">
              <a:spcBef>
                <a:spcPts val="1200"/>
              </a:spcBef>
            </a:pPr>
            <a:r>
              <a:rPr sz="1900" b="1" dirty="0">
                <a:solidFill>
                  <a:srgbClr val="1A1A2E"/>
                </a:solidFill>
                <a:latin typeface="Cambria"/>
              </a:rPr>
              <a:t>L  =  (1/N) </a:t>
            </a:r>
            <a:r>
              <a:rPr sz="1900" b="1" dirty="0" err="1">
                <a:solidFill>
                  <a:srgbClr val="1A1A2E"/>
                </a:solidFill>
                <a:latin typeface="Cambria"/>
              </a:rPr>
              <a:t>Σ</a:t>
            </a:r>
            <a:r>
              <a:rPr sz="1900" b="1" dirty="0">
                <a:solidFill>
                  <a:srgbClr val="1A1A2E"/>
                </a:solidFill>
                <a:latin typeface="Cambria"/>
              </a:rPr>
              <a:t> ( log(1+y) − </a:t>
            </a:r>
            <a:r>
              <a:rPr sz="1900" b="1" dirty="0" err="1">
                <a:solidFill>
                  <a:srgbClr val="1A1A2E"/>
                </a:solidFill>
                <a:latin typeface="Cambria"/>
              </a:rPr>
              <a:t>ẑ</a:t>
            </a:r>
            <a:r>
              <a:rPr sz="1900" b="1" dirty="0">
                <a:solidFill>
                  <a:srgbClr val="1A1A2E"/>
                </a:solidFill>
                <a:latin typeface="Cambria"/>
              </a:rPr>
              <a:t> )²</a:t>
            </a:r>
          </a:p>
          <a:p>
            <a:pPr algn="ctr">
              <a:spcBef>
                <a:spcPts val="1000"/>
              </a:spcBef>
            </a:pPr>
            <a:r>
              <a:rPr sz="1200" b="0" dirty="0">
                <a:solidFill>
                  <a:srgbClr val="5B6472"/>
                </a:solidFill>
                <a:latin typeface="Calibri"/>
              </a:rPr>
              <a:t>y = true peak stress    </a:t>
            </a:r>
            <a:r>
              <a:rPr sz="1200" b="0" dirty="0" err="1">
                <a:solidFill>
                  <a:srgbClr val="5B6472"/>
                </a:solidFill>
                <a:latin typeface="Calibri"/>
              </a:rPr>
              <a:t>ẑ</a:t>
            </a:r>
            <a:r>
              <a:rPr sz="1200" b="0" dirty="0">
                <a:solidFill>
                  <a:srgbClr val="5B6472"/>
                </a:solidFill>
                <a:latin typeface="Calibri"/>
              </a:rPr>
              <a:t> = model output (log space)</a:t>
            </a:r>
          </a:p>
          <a:p>
            <a:pPr algn="ctr">
              <a:spcBef>
                <a:spcPts val="800"/>
              </a:spcBef>
            </a:pPr>
            <a:r>
              <a:rPr sz="1300" b="1" dirty="0">
                <a:solidFill>
                  <a:srgbClr val="002858"/>
                </a:solidFill>
                <a:latin typeface="Cambria"/>
              </a:rPr>
              <a:t>invert at inference:   </a:t>
            </a:r>
            <a:r>
              <a:rPr sz="1300" b="1" dirty="0" err="1">
                <a:solidFill>
                  <a:srgbClr val="002858"/>
                </a:solidFill>
                <a:latin typeface="Cambria"/>
              </a:rPr>
              <a:t>σ</a:t>
            </a:r>
            <a:r>
              <a:rPr sz="1300" b="1" dirty="0">
                <a:solidFill>
                  <a:srgbClr val="002858"/>
                </a:solidFill>
                <a:latin typeface="Cambria"/>
              </a:rPr>
              <a:t> = exp(</a:t>
            </a:r>
            <a:r>
              <a:rPr sz="1300" b="1" dirty="0" err="1">
                <a:solidFill>
                  <a:srgbClr val="002858"/>
                </a:solidFill>
                <a:latin typeface="Cambria"/>
              </a:rPr>
              <a:t>ẑ</a:t>
            </a:r>
            <a:r>
              <a:rPr sz="1300" b="1" dirty="0">
                <a:solidFill>
                  <a:srgbClr val="002858"/>
                </a:solidFill>
                <a:latin typeface="Cambria"/>
              </a:rPr>
              <a:t>) − 1</a:t>
            </a:r>
            <a:endParaRPr lang="en-CA" sz="1300" b="1" dirty="0">
              <a:solidFill>
                <a:srgbClr val="002858"/>
              </a:solidFill>
              <a:latin typeface="Cambria"/>
            </a:endParaRPr>
          </a:p>
          <a:p>
            <a:pPr algn="ctr">
              <a:spcBef>
                <a:spcPts val="800"/>
              </a:spcBef>
            </a:pPr>
            <a:endParaRPr lang="en-CA" sz="1300" b="1" dirty="0">
              <a:solidFill>
                <a:srgbClr val="002858"/>
              </a:solidFill>
              <a:latin typeface="Cambria"/>
            </a:endParaRPr>
          </a:p>
        </p:txBody>
      </p:sp>
      <p:sp>
        <p:nvSpPr>
          <p:cNvPr id="8" name="Rounded Rectangle 7"/>
          <p:cNvSpPr/>
          <p:nvPr/>
        </p:nvSpPr>
        <p:spPr>
          <a:xfrm>
            <a:off x="6199632" y="1828800"/>
            <a:ext cx="5367528" cy="3977639"/>
          </a:xfrm>
          <a:prstGeom prst="roundRect">
            <a:avLst/>
          </a:prstGeom>
          <a:solidFill>
            <a:srgbClr val="FAF3E2"/>
          </a:solidFill>
          <a:ln w="19050">
            <a:solidFill>
              <a:srgbClr val="B37F00"/>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rtlCol="0" anchor="ctr"/>
          <a:lstStyle/>
          <a:p>
            <a:pPr algn="l">
              <a:spcBef>
                <a:spcPts val="0"/>
              </a:spcBef>
            </a:pPr>
            <a:r>
              <a:rPr sz="1800" b="1" dirty="0">
                <a:solidFill>
                  <a:srgbClr val="B37F00"/>
                </a:solidFill>
                <a:latin typeface="Cambria"/>
              </a:rPr>
              <a:t>Gradient</a:t>
            </a:r>
            <a:r>
              <a:rPr sz="1500" b="0" dirty="0">
                <a:solidFill>
                  <a:srgbClr val="5B6472"/>
                </a:solidFill>
                <a:latin typeface="Calibri"/>
              </a:rPr>
              <a:t>  dL/</a:t>
            </a:r>
            <a:r>
              <a:rPr sz="1500" b="0" dirty="0" err="1">
                <a:solidFill>
                  <a:srgbClr val="5B6472"/>
                </a:solidFill>
                <a:latin typeface="Calibri"/>
              </a:rPr>
              <a:t>dE</a:t>
            </a:r>
            <a:r>
              <a:rPr sz="1500" b="0" dirty="0">
                <a:solidFill>
                  <a:srgbClr val="5B6472"/>
                </a:solidFill>
                <a:latin typeface="Calibri"/>
              </a:rPr>
              <a:t>, dL/dh, dL/</a:t>
            </a:r>
            <a:r>
              <a:rPr sz="1500" b="0" dirty="0" err="1">
                <a:solidFill>
                  <a:srgbClr val="5B6472"/>
                </a:solidFill>
                <a:latin typeface="Calibri"/>
              </a:rPr>
              <a:t>dθ</a:t>
            </a:r>
            <a:endParaRPr sz="1500" b="0" dirty="0">
              <a:solidFill>
                <a:srgbClr val="5B6472"/>
              </a:solidFill>
              <a:latin typeface="Calibri"/>
            </a:endParaRPr>
          </a:p>
          <a:p>
            <a:pPr algn="l">
              <a:spcBef>
                <a:spcPts val="800"/>
              </a:spcBef>
            </a:pPr>
            <a:r>
              <a:rPr sz="1300" b="1" dirty="0">
                <a:solidFill>
                  <a:srgbClr val="FF0000"/>
                </a:solidFill>
                <a:latin typeface="Calibri"/>
              </a:rPr>
              <a:t>Split each gradient g into three easy parts</a:t>
            </a:r>
            <a:r>
              <a:rPr sz="1300" b="0" dirty="0">
                <a:solidFill>
                  <a:srgbClr val="1A1A2E"/>
                </a:solidFill>
                <a:latin typeface="Calibri"/>
              </a:rPr>
              <a:t>:</a:t>
            </a:r>
          </a:p>
          <a:p>
            <a:pPr algn="ctr">
              <a:spcBef>
                <a:spcPts val="600"/>
              </a:spcBef>
            </a:pPr>
            <a:r>
              <a:rPr sz="1300" b="1" dirty="0">
                <a:solidFill>
                  <a:srgbClr val="1A1A2E"/>
                </a:solidFill>
                <a:latin typeface="Cambria"/>
              </a:rPr>
              <a:t>v = log(1+L)    m = log₁₀(|g|+1)    s = 1[g&gt;0]</a:t>
            </a:r>
          </a:p>
          <a:p>
            <a:pPr algn="ctr">
              <a:spcBef>
                <a:spcPts val="1200"/>
              </a:spcBef>
            </a:pPr>
            <a:r>
              <a:rPr sz="1700" b="1" dirty="0">
                <a:solidFill>
                  <a:srgbClr val="1A1A2E"/>
                </a:solidFill>
                <a:latin typeface="Cambria"/>
              </a:rPr>
              <a:t>L  =  MSE(v) + </a:t>
            </a:r>
            <a:r>
              <a:rPr sz="1700" b="1" dirty="0" err="1">
                <a:solidFill>
                  <a:srgbClr val="1A1A2E"/>
                </a:solidFill>
                <a:latin typeface="Cambria"/>
              </a:rPr>
              <a:t>λ</a:t>
            </a:r>
            <a:r>
              <a:rPr sz="1700" b="1" dirty="0">
                <a:solidFill>
                  <a:srgbClr val="1A1A2E"/>
                </a:solidFill>
                <a:latin typeface="Cambria"/>
              </a:rPr>
              <a:t>(t) · [ 3·MSE(m) + 1.5·BCE(s) ]</a:t>
            </a:r>
          </a:p>
          <a:p>
            <a:pPr algn="ctr">
              <a:spcBef>
                <a:spcPts val="1000"/>
              </a:spcBef>
            </a:pPr>
            <a:r>
              <a:rPr sz="1200" b="0" dirty="0" err="1">
                <a:solidFill>
                  <a:srgbClr val="5B6472"/>
                </a:solidFill>
                <a:latin typeface="Calibri"/>
              </a:rPr>
              <a:t>λ</a:t>
            </a:r>
            <a:r>
              <a:rPr sz="1200" b="0" dirty="0">
                <a:solidFill>
                  <a:srgbClr val="5B6472"/>
                </a:solidFill>
                <a:latin typeface="Calibri"/>
              </a:rPr>
              <a:t>(t) = clip( (t − 30) / 40, 0, 1 )   ramp warmup</a:t>
            </a:r>
          </a:p>
          <a:p>
            <a:pPr algn="ctr">
              <a:spcBef>
                <a:spcPts val="800"/>
              </a:spcBef>
            </a:pPr>
            <a:r>
              <a:rPr sz="1300" b="1" dirty="0">
                <a:solidFill>
                  <a:srgbClr val="002858"/>
                </a:solidFill>
                <a:latin typeface="Cambria"/>
              </a:rPr>
              <a:t>recombine:   </a:t>
            </a:r>
            <a:r>
              <a:rPr sz="1300" b="1" dirty="0" err="1">
                <a:solidFill>
                  <a:srgbClr val="002858"/>
                </a:solidFill>
                <a:latin typeface="Cambria"/>
              </a:rPr>
              <a:t>ĝ</a:t>
            </a:r>
            <a:r>
              <a:rPr sz="1300" b="1" dirty="0">
                <a:solidFill>
                  <a:srgbClr val="002858"/>
                </a:solidFill>
                <a:latin typeface="Cambria"/>
              </a:rPr>
              <a:t> = sign(</a:t>
            </a:r>
            <a:r>
              <a:rPr sz="1300" b="1" dirty="0" err="1">
                <a:solidFill>
                  <a:srgbClr val="002858"/>
                </a:solidFill>
                <a:latin typeface="Cambria"/>
              </a:rPr>
              <a:t>ŝ</a:t>
            </a:r>
            <a:r>
              <a:rPr sz="1300" b="1" dirty="0">
                <a:solidFill>
                  <a:srgbClr val="002858"/>
                </a:solidFill>
                <a:latin typeface="Cambria"/>
              </a:rPr>
              <a:t> − 0.5) · (10^m̂ − 1)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Users/I772771/jc/poly/slides/brand/uvic_stripe_white.png"/>
          <p:cNvPicPr>
            <a:picLocks noChangeAspect="1"/>
          </p:cNvPicPr>
          <p:nvPr/>
        </p:nvPicPr>
        <p:blipFill>
          <a:blip r:embed="rId2"/>
          <a:stretch>
            <a:fillRect/>
          </a:stretch>
        </p:blipFill>
        <p:spPr>
          <a:xfrm>
            <a:off x="0" y="72514"/>
            <a:ext cx="12191695" cy="6858000"/>
          </a:xfrm>
          <a:prstGeom prst="rect">
            <a:avLst/>
          </a:prstGeom>
        </p:spPr>
      </p:pic>
      <p:sp>
        <p:nvSpPr>
          <p:cNvPr id="3" name="Text 0"/>
          <p:cNvSpPr/>
          <p:nvPr/>
        </p:nvSpPr>
        <p:spPr>
          <a:xfrm>
            <a:off x="548640" y="475488"/>
            <a:ext cx="11155680" cy="777240"/>
          </a:xfrm>
          <a:prstGeom prst="rect">
            <a:avLst/>
          </a:prstGeom>
          <a:noFill/>
          <a:ln/>
        </p:spPr>
        <p:txBody>
          <a:bodyPr wrap="square" lIns="0" tIns="0" rIns="0" bIns="0" rtlCol="0" anchor="t"/>
          <a:lstStyle/>
          <a:p>
            <a:pPr marL="0" indent="0">
              <a:buNone/>
            </a:pPr>
            <a:r>
              <a:rPr sz="2600" b="1" dirty="0">
                <a:solidFill>
                  <a:srgbClr val="0073BC"/>
                </a:solidFill>
                <a:latin typeface="Cambria"/>
              </a:rPr>
              <a:t>Metrics</a:t>
            </a:r>
            <a:endParaRPr lang="en-US" sz="2600" dirty="0"/>
          </a:p>
        </p:txBody>
      </p:sp>
      <p:sp>
        <p:nvSpPr>
          <p:cNvPr id="4" name="Text 1"/>
          <p:cNvSpPr/>
          <p:nvPr/>
        </p:nvSpPr>
        <p:spPr>
          <a:xfrm>
            <a:off x="548640" y="6199632"/>
            <a:ext cx="82296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Jiacheng Zhao · MSc Defense · University of Victoria</a:t>
            </a:r>
            <a:endParaRPr lang="en-US" sz="900" dirty="0"/>
          </a:p>
        </p:txBody>
      </p:sp>
      <p:sp>
        <p:nvSpPr>
          <p:cNvPr id="5" name="Text 2"/>
          <p:cNvSpPr/>
          <p:nvPr/>
        </p:nvSpPr>
        <p:spPr>
          <a:xfrm>
            <a:off x="11338560" y="6199632"/>
            <a:ext cx="457200" cy="274320"/>
          </a:xfrm>
          <a:prstGeom prst="rect">
            <a:avLst/>
          </a:prstGeom>
          <a:noFill/>
          <a:ln/>
        </p:spPr>
        <p:txBody>
          <a:bodyPr wrap="square" lIns="0" tIns="0" rIns="0" bIns="0" rtlCol="0" anchor="ctr"/>
          <a:lstStyle/>
          <a:p>
            <a:pPr marL="0" indent="0" algn="r">
              <a:buNone/>
            </a:pPr>
            <a:r>
              <a:rPr sz="900">
                <a:solidFill>
                  <a:srgbClr val="5B6472"/>
                </a:solidFill>
                <a:latin typeface="Calibri"/>
              </a:rPr>
              <a:t>5</a:t>
            </a:r>
            <a:endParaRPr lang="en-US" sz="900" dirty="0"/>
          </a:p>
        </p:txBody>
      </p:sp>
      <p:graphicFrame>
        <p:nvGraphicFramePr>
          <p:cNvPr id="7" name="Table 6"/>
          <p:cNvGraphicFramePr>
            <a:graphicFrameLocks noGrp="1"/>
          </p:cNvGraphicFramePr>
          <p:nvPr>
            <p:extLst>
              <p:ext uri="{D42A27DB-BD31-4B8C-83A1-F6EECF244321}">
                <p14:modId xmlns:p14="http://schemas.microsoft.com/office/powerpoint/2010/main" val="1264104321"/>
              </p:ext>
            </p:extLst>
          </p:nvPr>
        </p:nvGraphicFramePr>
        <p:xfrm>
          <a:off x="411480" y="1480457"/>
          <a:ext cx="11155680" cy="1994264"/>
        </p:xfrm>
        <a:graphic>
          <a:graphicData uri="http://schemas.openxmlformats.org/drawingml/2006/table">
            <a:tbl>
              <a:tblPr firstRow="1" bandRow="1">
                <a:tableStyleId>{5C22544A-7EE6-4342-B048-85BDC9FD1C3A}</a:tableStyleId>
              </a:tblPr>
              <a:tblGrid>
                <a:gridCol w="1166912">
                  <a:extLst>
                    <a:ext uri="{9D8B030D-6E8A-4147-A177-3AD203B41FA5}">
                      <a16:colId xmlns:a16="http://schemas.microsoft.com/office/drawing/2014/main" val="20000"/>
                    </a:ext>
                  </a:extLst>
                </a:gridCol>
                <a:gridCol w="5181090">
                  <a:extLst>
                    <a:ext uri="{9D8B030D-6E8A-4147-A177-3AD203B41FA5}">
                      <a16:colId xmlns:a16="http://schemas.microsoft.com/office/drawing/2014/main" val="20001"/>
                    </a:ext>
                  </a:extLst>
                </a:gridCol>
                <a:gridCol w="2567207">
                  <a:extLst>
                    <a:ext uri="{9D8B030D-6E8A-4147-A177-3AD203B41FA5}">
                      <a16:colId xmlns:a16="http://schemas.microsoft.com/office/drawing/2014/main" val="20002"/>
                    </a:ext>
                  </a:extLst>
                </a:gridCol>
                <a:gridCol w="2240471">
                  <a:extLst>
                    <a:ext uri="{9D8B030D-6E8A-4147-A177-3AD203B41FA5}">
                      <a16:colId xmlns:a16="http://schemas.microsoft.com/office/drawing/2014/main" val="20003"/>
                    </a:ext>
                  </a:extLst>
                </a:gridCol>
              </a:tblGrid>
              <a:tr h="443170">
                <a:tc>
                  <a:txBody>
                    <a:bodyPr/>
                    <a:lstStyle/>
                    <a:p>
                      <a:r>
                        <a:rPr sz="1300" b="1">
                          <a:solidFill>
                            <a:srgbClr val="FFFFFF"/>
                          </a:solidFill>
                          <a:latin typeface="Calibri"/>
                        </a:rPr>
                        <a:t>Model</a:t>
                      </a:r>
                    </a:p>
                  </a:txBody>
                  <a:tcPr marL="88900" marR="63500" marT="38100" marB="38100">
                    <a:solidFill>
                      <a:srgbClr val="0073BC"/>
                    </a:solidFill>
                  </a:tcPr>
                </a:tc>
                <a:tc>
                  <a:txBody>
                    <a:bodyPr/>
                    <a:lstStyle/>
                    <a:p>
                      <a:pPr algn="ctr"/>
                      <a:r>
                        <a:rPr sz="1300" b="1">
                          <a:solidFill>
                            <a:srgbClr val="FFFFFF"/>
                          </a:solidFill>
                          <a:latin typeface="Calibri"/>
                        </a:rPr>
                        <a:t>Training loss</a:t>
                      </a:r>
                    </a:p>
                  </a:txBody>
                  <a:tcPr marL="88900" marR="63500" marT="38100" marB="38100">
                    <a:solidFill>
                      <a:srgbClr val="0073BC"/>
                    </a:solidFill>
                  </a:tcPr>
                </a:tc>
                <a:tc>
                  <a:txBody>
                    <a:bodyPr/>
                    <a:lstStyle/>
                    <a:p>
                      <a:pPr algn="ctr"/>
                      <a:r>
                        <a:rPr lang="en-CA" sz="1300" b="1" dirty="0">
                          <a:solidFill>
                            <a:srgbClr val="FFFFFF"/>
                          </a:solidFill>
                          <a:latin typeface="Calibri"/>
                        </a:rPr>
                        <a:t>Evaluation</a:t>
                      </a:r>
                      <a:endParaRPr sz="1300" b="1" dirty="0">
                        <a:solidFill>
                          <a:srgbClr val="FFFFFF"/>
                        </a:solidFill>
                        <a:latin typeface="Calibri"/>
                      </a:endParaRPr>
                    </a:p>
                  </a:txBody>
                  <a:tcPr marL="88900" marR="63500" marT="38100" marB="38100">
                    <a:solidFill>
                      <a:srgbClr val="0073BC"/>
                    </a:solidFill>
                  </a:tcPr>
                </a:tc>
                <a:tc>
                  <a:txBody>
                    <a:bodyPr/>
                    <a:lstStyle/>
                    <a:p>
                      <a:pPr algn="ctr"/>
                      <a:r>
                        <a:rPr sz="1300" b="1">
                          <a:solidFill>
                            <a:srgbClr val="FFFFFF"/>
                          </a:solidFill>
                          <a:latin typeface="Calibri"/>
                        </a:rPr>
                        <a:t>Diagnostic</a:t>
                      </a:r>
                    </a:p>
                  </a:txBody>
                  <a:tcPr marL="88900" marR="63500" marT="38100" marB="38100">
                    <a:solidFill>
                      <a:srgbClr val="0073BC"/>
                    </a:solidFill>
                  </a:tcPr>
                </a:tc>
                <a:extLst>
                  <a:ext uri="{0D108BD9-81ED-4DB2-BD59-A6C34878D82A}">
                    <a16:rowId xmlns:a16="http://schemas.microsoft.com/office/drawing/2014/main" val="10000"/>
                  </a:ext>
                </a:extLst>
              </a:tr>
              <a:tr h="553962">
                <a:tc>
                  <a:txBody>
                    <a:bodyPr/>
                    <a:lstStyle/>
                    <a:p>
                      <a:r>
                        <a:rPr sz="1300" b="1">
                          <a:solidFill>
                            <a:srgbClr val="002858"/>
                          </a:solidFill>
                          <a:latin typeface="Calibri"/>
                        </a:rPr>
                        <a:t>Forward</a:t>
                      </a:r>
                    </a:p>
                  </a:txBody>
                  <a:tcPr marL="88900" marR="63500" marT="38100" marB="38100">
                    <a:solidFill>
                      <a:srgbClr val="FFFFFF"/>
                    </a:solidFill>
                  </a:tcPr>
                </a:tc>
                <a:tc>
                  <a:txBody>
                    <a:bodyPr/>
                    <a:lstStyle/>
                    <a:p>
                      <a:r>
                        <a:rPr sz="1300" b="0" dirty="0">
                          <a:solidFill>
                            <a:srgbClr val="1A1A2E"/>
                          </a:solidFill>
                          <a:latin typeface="Calibri"/>
                        </a:rPr>
                        <a:t>MSE on log(1+y) target</a:t>
                      </a:r>
                    </a:p>
                  </a:txBody>
                  <a:tcPr marL="88900" marR="63500" marT="38100" marB="38100">
                    <a:solidFill>
                      <a:srgbClr val="FFFFFF"/>
                    </a:solidFill>
                  </a:tcPr>
                </a:tc>
                <a:tc>
                  <a:txBody>
                    <a:bodyPr/>
                    <a:lstStyle/>
                    <a:p>
                      <a:pPr algn="ctr"/>
                      <a:r>
                        <a:rPr sz="1300" b="1">
                          <a:solidFill>
                            <a:srgbClr val="1A1A2E"/>
                          </a:solidFill>
                          <a:latin typeface="Calibri"/>
                        </a:rPr>
                        <a:t>Acc@10%</a:t>
                      </a:r>
                    </a:p>
                  </a:txBody>
                  <a:tcPr marL="88900" marR="63500" marT="38100" marB="38100">
                    <a:solidFill>
                      <a:srgbClr val="FFFFFF"/>
                    </a:solidFill>
                  </a:tcPr>
                </a:tc>
                <a:tc>
                  <a:txBody>
                    <a:bodyPr/>
                    <a:lstStyle/>
                    <a:p>
                      <a:r>
                        <a:rPr sz="1300" b="0">
                          <a:solidFill>
                            <a:srgbClr val="5B6472"/>
                          </a:solidFill>
                          <a:latin typeface="Calibri"/>
                        </a:rPr>
                        <a:t>R², MAPE</a:t>
                      </a:r>
                    </a:p>
                  </a:txBody>
                  <a:tcPr marL="88900" marR="63500" marT="38100" marB="38100">
                    <a:solidFill>
                      <a:srgbClr val="FFFFFF"/>
                    </a:solidFill>
                  </a:tcPr>
                </a:tc>
                <a:extLst>
                  <a:ext uri="{0D108BD9-81ED-4DB2-BD59-A6C34878D82A}">
                    <a16:rowId xmlns:a16="http://schemas.microsoft.com/office/drawing/2014/main" val="10001"/>
                  </a:ext>
                </a:extLst>
              </a:tr>
              <a:tr h="997132">
                <a:tc>
                  <a:txBody>
                    <a:bodyPr/>
                    <a:lstStyle/>
                    <a:p>
                      <a:r>
                        <a:rPr sz="1300" b="1">
                          <a:solidFill>
                            <a:srgbClr val="002858"/>
                          </a:solidFill>
                          <a:latin typeface="Calibri"/>
                        </a:rPr>
                        <a:t>Gradient</a:t>
                      </a:r>
                    </a:p>
                  </a:txBody>
                  <a:tcPr marL="88900" marR="63500" marT="38100" marB="38100">
                    <a:solidFill>
                      <a:srgbClr val="EEF3F8"/>
                    </a:solidFill>
                  </a:tcPr>
                </a:tc>
                <a:tc>
                  <a:txBody>
                    <a:bodyPr/>
                    <a:lstStyle/>
                    <a:p>
                      <a:r>
                        <a:rPr sz="1300" b="0" dirty="0">
                          <a:solidFill>
                            <a:srgbClr val="1A1A2E"/>
                          </a:solidFill>
                          <a:latin typeface="Calibri"/>
                        </a:rPr>
                        <a:t>BCE(sign) + MSE(log₁₀-magnitude) + MSE(aux </a:t>
                      </a:r>
                      <a:r>
                        <a:rPr sz="1300" b="0" dirty="0" err="1">
                          <a:solidFill>
                            <a:srgbClr val="1A1A2E"/>
                          </a:solidFill>
                          <a:latin typeface="Calibri"/>
                        </a:rPr>
                        <a:t>valu</a:t>
                      </a:r>
                      <a:endParaRPr sz="1300" b="0" dirty="0">
                        <a:solidFill>
                          <a:srgbClr val="1A1A2E"/>
                        </a:solidFill>
                        <a:latin typeface="Calibri"/>
                      </a:endParaRPr>
                    </a:p>
                  </a:txBody>
                  <a:tcPr marL="88900" marR="63500" marT="38100" marB="38100">
                    <a:solidFill>
                      <a:srgbClr val="EEF3F8"/>
                    </a:solidFill>
                  </a:tcPr>
                </a:tc>
                <a:tc>
                  <a:txBody>
                    <a:bodyPr/>
                    <a:lstStyle/>
                    <a:p>
                      <a:pPr algn="ctr"/>
                      <a:r>
                        <a:rPr sz="1300" b="1">
                          <a:solidFill>
                            <a:srgbClr val="1A1A2E"/>
                          </a:solidFill>
                          <a:latin typeface="Calibri"/>
                        </a:rPr>
                        <a:t>Acc@20%, Sign%</a:t>
                      </a:r>
                    </a:p>
                  </a:txBody>
                  <a:tcPr marL="88900" marR="63500" marT="38100" marB="38100">
                    <a:solidFill>
                      <a:srgbClr val="EEF3F8"/>
                    </a:solidFill>
                  </a:tcPr>
                </a:tc>
                <a:tc>
                  <a:txBody>
                    <a:bodyPr/>
                    <a:lstStyle/>
                    <a:p>
                      <a:r>
                        <a:rPr sz="1300" b="0" dirty="0">
                          <a:solidFill>
                            <a:srgbClr val="5B6472"/>
                          </a:solidFill>
                          <a:latin typeface="Calibri"/>
                        </a:rPr>
                        <a:t>R²_log, R², MAPE</a:t>
                      </a:r>
                    </a:p>
                  </a:txBody>
                  <a:tcPr marL="88900" marR="63500" marT="38100" marB="38100">
                    <a:solidFill>
                      <a:srgbClr val="EEF3F8"/>
                    </a:solidFill>
                  </a:tcPr>
                </a:tc>
                <a:extLst>
                  <a:ext uri="{0D108BD9-81ED-4DB2-BD59-A6C34878D82A}">
                    <a16:rowId xmlns:a16="http://schemas.microsoft.com/office/drawing/2014/main" val="10002"/>
                  </a:ext>
                </a:extLst>
              </a:tr>
            </a:tbl>
          </a:graphicData>
        </a:graphic>
      </p:graphicFrame>
      <p:sp>
        <p:nvSpPr>
          <p:cNvPr id="8" name="TextBox 7"/>
          <p:cNvSpPr txBox="1"/>
          <p:nvPr/>
        </p:nvSpPr>
        <p:spPr>
          <a:xfrm>
            <a:off x="640080" y="3977639"/>
            <a:ext cx="10927080" cy="1154162"/>
          </a:xfrm>
          <a:prstGeom prst="rect">
            <a:avLst/>
          </a:prstGeom>
          <a:noFill/>
        </p:spPr>
        <p:txBody>
          <a:bodyPr wrap="square">
            <a:spAutoFit/>
          </a:bodyPr>
          <a:lstStyle/>
          <a:p>
            <a:r>
              <a:rPr sz="1700" b="1" dirty="0" err="1">
                <a:solidFill>
                  <a:srgbClr val="5B6472"/>
                </a:solidFill>
                <a:latin typeface="Calibri"/>
              </a:rPr>
              <a:t>Acc@K</a:t>
            </a:r>
            <a:r>
              <a:rPr sz="1700" b="1" dirty="0">
                <a:solidFill>
                  <a:srgbClr val="5B6472"/>
                </a:solidFill>
                <a:latin typeface="Calibri"/>
              </a:rPr>
              <a:t>% </a:t>
            </a:r>
            <a:r>
              <a:rPr sz="1700" b="0" dirty="0">
                <a:solidFill>
                  <a:srgbClr val="5B6472"/>
                </a:solidFill>
                <a:latin typeface="Calibri"/>
              </a:rPr>
              <a:t>within ±K% of truth</a:t>
            </a:r>
            <a:r>
              <a:rPr sz="1700" b="1" dirty="0">
                <a:solidFill>
                  <a:srgbClr val="5B6472"/>
                </a:solidFill>
                <a:latin typeface="Calibri"/>
              </a:rPr>
              <a:t>      Sign% </a:t>
            </a:r>
            <a:r>
              <a:rPr sz="1700" b="0" dirty="0">
                <a:solidFill>
                  <a:srgbClr val="5B6472"/>
                </a:solidFill>
                <a:latin typeface="Calibri"/>
              </a:rPr>
              <a:t>correct gradient direction</a:t>
            </a:r>
            <a:r>
              <a:rPr sz="1700" b="1" dirty="0">
                <a:solidFill>
                  <a:srgbClr val="5B6472"/>
                </a:solidFill>
                <a:latin typeface="Calibri"/>
              </a:rPr>
              <a:t>      </a:t>
            </a:r>
            <a:endParaRPr lang="en-CA" sz="1700" b="1" dirty="0">
              <a:solidFill>
                <a:srgbClr val="5B6472"/>
              </a:solidFill>
              <a:latin typeface="Calibri"/>
            </a:endParaRPr>
          </a:p>
          <a:p>
            <a:r>
              <a:rPr sz="1700" b="1" dirty="0">
                <a:solidFill>
                  <a:srgbClr val="5B6472"/>
                </a:solidFill>
                <a:latin typeface="Calibri"/>
              </a:rPr>
              <a:t>MAPE </a:t>
            </a:r>
            <a:r>
              <a:rPr sz="1700" b="0" dirty="0">
                <a:solidFill>
                  <a:srgbClr val="5B6472"/>
                </a:solidFill>
                <a:latin typeface="Calibri"/>
              </a:rPr>
              <a:t>mean absolute % error</a:t>
            </a:r>
            <a:r>
              <a:rPr lang="en-CA" sz="1700" dirty="0">
                <a:solidFill>
                  <a:srgbClr val="5B6472"/>
                </a:solidFill>
                <a:latin typeface="Calibri"/>
              </a:rPr>
              <a:t>     </a:t>
            </a:r>
            <a:r>
              <a:rPr sz="1700" b="1" dirty="0">
                <a:solidFill>
                  <a:srgbClr val="5B6472"/>
                </a:solidFill>
                <a:latin typeface="Calibri"/>
              </a:rPr>
              <a:t>R²</a:t>
            </a:r>
            <a:r>
              <a:rPr sz="1700" dirty="0">
                <a:solidFill>
                  <a:srgbClr val="5B6472"/>
                </a:solidFill>
                <a:latin typeface="Calibri"/>
              </a:rPr>
              <a:t> </a:t>
            </a:r>
            <a:r>
              <a:rPr sz="1700" b="0" dirty="0">
                <a:solidFill>
                  <a:srgbClr val="5B6472"/>
                </a:solidFill>
                <a:latin typeface="Calibri"/>
              </a:rPr>
              <a:t>variance explained</a:t>
            </a:r>
            <a:r>
              <a:rPr sz="1700" b="1" dirty="0">
                <a:solidFill>
                  <a:srgbClr val="5B6472"/>
                </a:solidFill>
                <a:latin typeface="Calibri"/>
              </a:rPr>
              <a:t>    R²_log </a:t>
            </a:r>
            <a:r>
              <a:rPr sz="1700" b="0" dirty="0">
                <a:solidFill>
                  <a:srgbClr val="5B6472"/>
                </a:solidFill>
                <a:latin typeface="Calibri"/>
              </a:rPr>
              <a:t>variance explained in log space (order of magnitude)</a:t>
            </a:r>
            <a:endParaRPr lang="en-CA" sz="1700" b="0" dirty="0">
              <a:solidFill>
                <a:srgbClr val="5B6472"/>
              </a:solidFill>
              <a:latin typeface="Calibri"/>
            </a:endParaRPr>
          </a:p>
          <a:p>
            <a:r>
              <a:rPr lang="en-CA" sz="1700" b="1" dirty="0">
                <a:solidFill>
                  <a:srgbClr val="5B6472"/>
                </a:solidFill>
                <a:latin typeface="Calibri"/>
              </a:rPr>
              <a:t>MSE </a:t>
            </a:r>
            <a:r>
              <a:rPr lang="en-CA" sz="1700" dirty="0">
                <a:solidFill>
                  <a:srgbClr val="5B6472"/>
                </a:solidFill>
                <a:latin typeface="Calibri"/>
              </a:rPr>
              <a:t>mean squared error	  </a:t>
            </a:r>
            <a:r>
              <a:rPr lang="en-CA" sz="1700" b="1" dirty="0">
                <a:solidFill>
                  <a:srgbClr val="5B6472"/>
                </a:solidFill>
                <a:latin typeface="Calibri"/>
              </a:rPr>
              <a:t>BCE  </a:t>
            </a:r>
            <a:r>
              <a:rPr lang="en-CA" sz="1700" dirty="0">
                <a:solidFill>
                  <a:srgbClr val="5B6472"/>
                </a:solidFill>
                <a:latin typeface="Calibri"/>
              </a:rPr>
              <a:t>Binary Cross Entropy</a:t>
            </a:r>
          </a:p>
          <a:p>
            <a:endParaRPr sz="1700" b="1" dirty="0">
              <a:solidFill>
                <a:srgbClr val="5B6472"/>
              </a:solidFill>
              <a:latin typeface="Calibri"/>
            </a:endParaRPr>
          </a:p>
        </p:txBody>
      </p:sp>
      <p:pic>
        <p:nvPicPr>
          <p:cNvPr id="10" name="Picture 9">
            <a:extLst>
              <a:ext uri="{FF2B5EF4-FFF2-40B4-BE49-F238E27FC236}">
                <a16:creationId xmlns:a16="http://schemas.microsoft.com/office/drawing/2014/main" id="{3D2E4F58-6300-7C84-B5B5-7E3E90715172}"/>
              </a:ext>
            </a:extLst>
          </p:cNvPr>
          <p:cNvPicPr>
            <a:picLocks noChangeAspect="1"/>
          </p:cNvPicPr>
          <p:nvPr/>
        </p:nvPicPr>
        <p:blipFill>
          <a:blip r:embed="rId3"/>
          <a:stretch>
            <a:fillRect/>
          </a:stretch>
        </p:blipFill>
        <p:spPr>
          <a:xfrm>
            <a:off x="1608111" y="2516967"/>
            <a:ext cx="4060615" cy="462516"/>
          </a:xfrm>
          <a:prstGeom prst="rect">
            <a:avLst/>
          </a:prstGeom>
        </p:spPr>
      </p:pic>
      <p:sp>
        <p:nvSpPr>
          <p:cNvPr id="11" name="Text 10">
            <a:extLst>
              <a:ext uri="{FF2B5EF4-FFF2-40B4-BE49-F238E27FC236}">
                <a16:creationId xmlns:a16="http://schemas.microsoft.com/office/drawing/2014/main" id="{A903D78F-C6D9-E152-F7D2-E63DD0CE1A25}"/>
              </a:ext>
            </a:extLst>
          </p:cNvPr>
          <p:cNvSpPr/>
          <p:nvPr/>
        </p:nvSpPr>
        <p:spPr>
          <a:xfrm>
            <a:off x="571500" y="5040834"/>
            <a:ext cx="10881360" cy="505097"/>
          </a:xfrm>
          <a:prstGeom prst="rect">
            <a:avLst/>
          </a:prstGeom>
          <a:noFill/>
          <a:ln/>
        </p:spPr>
        <p:txBody>
          <a:bodyPr wrap="square" lIns="0" tIns="0" rIns="0" bIns="0" rtlCol="0" anchor="t"/>
          <a:lstStyle/>
          <a:p>
            <a:pPr marL="228600" indent="-228600">
              <a:buSzPct val="100000"/>
              <a:buChar char="▪"/>
            </a:pPr>
            <a:r>
              <a:rPr sz="2000" b="1" dirty="0">
                <a:solidFill>
                  <a:srgbClr val="1A1A2E"/>
                </a:solidFill>
                <a:latin typeface="Calibri"/>
              </a:rPr>
              <a:t>Acc@10% (forward)</a:t>
            </a:r>
            <a:r>
              <a:rPr sz="2000" b="0" dirty="0">
                <a:solidFill>
                  <a:srgbClr val="1A1A2E"/>
                </a:solidFill>
                <a:latin typeface="Calibri"/>
              </a:rPr>
              <a:t> and </a:t>
            </a:r>
            <a:r>
              <a:rPr sz="2000" b="1" dirty="0">
                <a:solidFill>
                  <a:srgbClr val="1A1A2E"/>
                </a:solidFill>
                <a:latin typeface="Calibri"/>
              </a:rPr>
              <a:t>Acc@20% + Sign% (gradient)</a:t>
            </a:r>
            <a:r>
              <a:rPr sz="2000" b="0" dirty="0">
                <a:solidFill>
                  <a:srgbClr val="1A1A2E"/>
                </a:solidFill>
                <a:latin typeface="Calibri"/>
              </a:rPr>
              <a:t>: is each prediction close enough to actually use</a:t>
            </a:r>
            <a:endParaRPr lang="en-CA" sz="2000" dirty="0">
              <a:solidFill>
                <a:srgbClr val="1A1A2E"/>
              </a:solidFill>
              <a:latin typeface="Calibri"/>
            </a:endParaRPr>
          </a:p>
          <a:p>
            <a:pPr marL="228600" indent="-228600">
              <a:buSzPct val="100000"/>
              <a:buChar char="▪"/>
            </a:pPr>
            <a:r>
              <a:rPr lang="en-CA" sz="2000" b="0" dirty="0">
                <a:solidFill>
                  <a:srgbClr val="1A1A2E"/>
                </a:solidFill>
                <a:latin typeface="Calibri"/>
              </a:rPr>
              <a:t>Acc</a:t>
            </a:r>
            <a:endParaRPr sz="2000" b="0" dirty="0">
              <a:solidFill>
                <a:srgbClr val="1A1A2E"/>
              </a:solidFill>
              <a:latin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002858"/>
        </a:solidFill>
        <a:effectLst/>
      </p:bgPr>
    </p:bg>
    <p:spTree>
      <p:nvGrpSpPr>
        <p:cNvPr id="1" name=""/>
        <p:cNvGrpSpPr/>
        <p:nvPr/>
      </p:nvGrpSpPr>
      <p:grpSpPr>
        <a:xfrm>
          <a:off x="0" y="0"/>
          <a:ext cx="0" cy="0"/>
          <a:chOff x="0" y="0"/>
          <a:chExt cx="0" cy="0"/>
        </a:xfrm>
      </p:grpSpPr>
      <p:pic>
        <p:nvPicPr>
          <p:cNvPr id="2" name="Image 0" descr="/Users/I772771/jc/poly/slides/brand/uvic_stripe_navy.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743200"/>
            <a:ext cx="10515600" cy="109728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Results</a:t>
            </a:r>
            <a:endParaRPr lang="en-US" sz="4400" dirty="0"/>
          </a:p>
        </p:txBody>
      </p:sp>
      <p:sp>
        <p:nvSpPr>
          <p:cNvPr id="4" name="Text 1"/>
          <p:cNvSpPr/>
          <p:nvPr/>
        </p:nvSpPr>
        <p:spPr>
          <a:xfrm>
            <a:off x="841248" y="3840480"/>
            <a:ext cx="10058400" cy="548640"/>
          </a:xfrm>
          <a:prstGeom prst="rect">
            <a:avLst/>
          </a:prstGeom>
          <a:noFill/>
          <a:ln/>
        </p:spPr>
        <p:txBody>
          <a:bodyPr wrap="square" lIns="0" tIns="0" rIns="0" bIns="0" rtlCol="0" anchor="ctr"/>
          <a:lstStyle/>
          <a:p>
            <a:pPr marL="0" indent="0">
              <a:buNone/>
            </a:pP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Users/I772771/jc/poly/slides/brand/uvic_stripe_white.png"/>
          <p:cNvPicPr>
            <a:picLocks noChangeAspect="1"/>
          </p:cNvPicPr>
          <p:nvPr/>
        </p:nvPicPr>
        <p:blipFill>
          <a:blip r:embed="rId2"/>
          <a:stretch>
            <a:fillRect/>
          </a:stretch>
        </p:blipFill>
        <p:spPr>
          <a:xfrm>
            <a:off x="305" y="384048"/>
            <a:ext cx="12191695" cy="6858000"/>
          </a:xfrm>
          <a:prstGeom prst="rect">
            <a:avLst/>
          </a:prstGeom>
        </p:spPr>
      </p:pic>
      <p:sp>
        <p:nvSpPr>
          <p:cNvPr id="3" name="Text 0"/>
          <p:cNvSpPr/>
          <p:nvPr/>
        </p:nvSpPr>
        <p:spPr>
          <a:xfrm>
            <a:off x="548640" y="475488"/>
            <a:ext cx="11155680" cy="777240"/>
          </a:xfrm>
          <a:prstGeom prst="rect">
            <a:avLst/>
          </a:prstGeom>
          <a:noFill/>
          <a:ln/>
        </p:spPr>
        <p:txBody>
          <a:bodyPr wrap="square" lIns="0" tIns="0" rIns="0" bIns="0" rtlCol="0" anchor="t"/>
          <a:lstStyle/>
          <a:p>
            <a:pPr marL="0" indent="0">
              <a:buNone/>
            </a:pPr>
            <a:r>
              <a:rPr lang="en-CA" sz="2600" b="1" dirty="0">
                <a:solidFill>
                  <a:srgbClr val="0073BC"/>
                </a:solidFill>
                <a:latin typeface="Cambria"/>
              </a:rPr>
              <a:t>Performance</a:t>
            </a:r>
            <a:endParaRPr lang="en-US" sz="2600" dirty="0"/>
          </a:p>
        </p:txBody>
      </p:sp>
      <p:sp>
        <p:nvSpPr>
          <p:cNvPr id="4" name="Text 1"/>
          <p:cNvSpPr/>
          <p:nvPr/>
        </p:nvSpPr>
        <p:spPr>
          <a:xfrm>
            <a:off x="548640" y="6199632"/>
            <a:ext cx="82296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Jiacheng Zhao · MSc Defense · University of Victoria</a:t>
            </a:r>
            <a:endParaRPr lang="en-US" sz="900" dirty="0"/>
          </a:p>
        </p:txBody>
      </p:sp>
      <p:sp>
        <p:nvSpPr>
          <p:cNvPr id="5" name="Text 2"/>
          <p:cNvSpPr/>
          <p:nvPr/>
        </p:nvSpPr>
        <p:spPr>
          <a:xfrm>
            <a:off x="11338560" y="6199632"/>
            <a:ext cx="457200" cy="274320"/>
          </a:xfrm>
          <a:prstGeom prst="rect">
            <a:avLst/>
          </a:prstGeom>
          <a:noFill/>
          <a:ln/>
        </p:spPr>
        <p:txBody>
          <a:bodyPr wrap="square" lIns="0" tIns="0" rIns="0" bIns="0" rtlCol="0" anchor="ctr"/>
          <a:lstStyle/>
          <a:p>
            <a:pPr marL="0" indent="0" algn="r">
              <a:buNone/>
            </a:pPr>
            <a:r>
              <a:rPr sz="900">
                <a:solidFill>
                  <a:srgbClr val="5B6472"/>
                </a:solidFill>
                <a:latin typeface="Calibri"/>
              </a:rPr>
              <a:t>2</a:t>
            </a:r>
            <a:endParaRPr lang="en-US" sz="900" dirty="0"/>
          </a:p>
        </p:txBody>
      </p:sp>
      <p:sp>
        <p:nvSpPr>
          <p:cNvPr id="7" name="TextBox 6"/>
          <p:cNvSpPr txBox="1"/>
          <p:nvPr/>
        </p:nvSpPr>
        <p:spPr>
          <a:xfrm>
            <a:off x="640080" y="1764792"/>
            <a:ext cx="6309360" cy="320040"/>
          </a:xfrm>
          <a:prstGeom prst="rect">
            <a:avLst/>
          </a:prstGeom>
          <a:noFill/>
        </p:spPr>
        <p:txBody>
          <a:bodyPr wrap="none">
            <a:spAutoFit/>
          </a:bodyPr>
          <a:lstStyle/>
          <a:p>
            <a:r>
              <a:rPr sz="1500" b="1" dirty="0">
                <a:solidFill>
                  <a:srgbClr val="002858"/>
                </a:solidFill>
                <a:latin typeface="Cambria"/>
              </a:rPr>
              <a:t>Forward: peak stress  (Acc@10% = within 10%)</a:t>
            </a:r>
          </a:p>
        </p:txBody>
      </p:sp>
      <p:graphicFrame>
        <p:nvGraphicFramePr>
          <p:cNvPr id="8" name="Table 7"/>
          <p:cNvGraphicFramePr>
            <a:graphicFrameLocks noGrp="1"/>
          </p:cNvGraphicFramePr>
          <p:nvPr/>
        </p:nvGraphicFramePr>
        <p:xfrm>
          <a:off x="640080" y="2148840"/>
          <a:ext cx="6309360" cy="246888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11480">
                <a:tc>
                  <a:txBody>
                    <a:bodyPr/>
                    <a:lstStyle/>
                    <a:p>
                      <a:r>
                        <a:rPr sz="1200" b="1">
                          <a:solidFill>
                            <a:srgbClr val="FFFFFF"/>
                          </a:solidFill>
                          <a:latin typeface="Calibri"/>
                        </a:rPr>
                        <a:t>Forward model</a:t>
                      </a:r>
                    </a:p>
                  </a:txBody>
                  <a:tcPr marL="76200" marR="50800" marT="25400" marB="25400">
                    <a:solidFill>
                      <a:srgbClr val="0073BC"/>
                    </a:solidFill>
                  </a:tcPr>
                </a:tc>
                <a:tc>
                  <a:txBody>
                    <a:bodyPr/>
                    <a:lstStyle/>
                    <a:p>
                      <a:pPr algn="ctr"/>
                      <a:r>
                        <a:rPr sz="1200" b="1">
                          <a:solidFill>
                            <a:srgbClr val="FFFFFF"/>
                          </a:solidFill>
                          <a:latin typeface="Calibri"/>
                        </a:rPr>
                        <a:t>R²</a:t>
                      </a:r>
                    </a:p>
                  </a:txBody>
                  <a:tcPr marL="76200" marR="50800" marT="25400" marB="25400">
                    <a:solidFill>
                      <a:srgbClr val="0073BC"/>
                    </a:solidFill>
                  </a:tcPr>
                </a:tc>
                <a:tc>
                  <a:txBody>
                    <a:bodyPr/>
                    <a:lstStyle/>
                    <a:p>
                      <a:pPr algn="ctr"/>
                      <a:r>
                        <a:rPr sz="1200" b="1">
                          <a:solidFill>
                            <a:srgbClr val="FFFFFF"/>
                          </a:solidFill>
                          <a:latin typeface="Calibri"/>
                        </a:rPr>
                        <a:t>Acc@10%</a:t>
                      </a:r>
                    </a:p>
                  </a:txBody>
                  <a:tcPr marL="76200" marR="50800" marT="25400" marB="25400">
                    <a:solidFill>
                      <a:srgbClr val="0073BC"/>
                    </a:solidFill>
                  </a:tcPr>
                </a:tc>
                <a:tc>
                  <a:txBody>
                    <a:bodyPr/>
                    <a:lstStyle/>
                    <a:p>
                      <a:pPr algn="ctr"/>
                      <a:r>
                        <a:rPr sz="1200" b="1">
                          <a:solidFill>
                            <a:srgbClr val="FFFFFF"/>
                          </a:solidFill>
                          <a:latin typeface="Calibri"/>
                        </a:rPr>
                        <a:t>Acc@20%</a:t>
                      </a:r>
                    </a:p>
                  </a:txBody>
                  <a:tcPr marL="76200" marR="50800" marT="25400" marB="25400">
                    <a:solidFill>
                      <a:srgbClr val="0073BC"/>
                    </a:solidFill>
                  </a:tcPr>
                </a:tc>
                <a:extLst>
                  <a:ext uri="{0D108BD9-81ED-4DB2-BD59-A6C34878D82A}">
                    <a16:rowId xmlns:a16="http://schemas.microsoft.com/office/drawing/2014/main" val="10000"/>
                  </a:ext>
                </a:extLst>
              </a:tr>
              <a:tr h="411480">
                <a:tc>
                  <a:txBody>
                    <a:bodyPr/>
                    <a:lstStyle/>
                    <a:p>
                      <a:r>
                        <a:rPr sz="1200" b="1" dirty="0" err="1">
                          <a:solidFill>
                            <a:srgbClr val="0073BC"/>
                          </a:solidFill>
                          <a:latin typeface="Calibri"/>
                        </a:rPr>
                        <a:t>XGBoost</a:t>
                      </a:r>
                      <a:r>
                        <a:rPr sz="1200" b="1" dirty="0">
                          <a:solidFill>
                            <a:srgbClr val="0073BC"/>
                          </a:solidFill>
                          <a:latin typeface="Calibri"/>
                        </a:rPr>
                        <a:t>  (chosen)</a:t>
                      </a:r>
                    </a:p>
                  </a:txBody>
                  <a:tcPr marL="76200" marR="50800" marT="25400" marB="25400">
                    <a:solidFill>
                      <a:srgbClr val="FFFFFF"/>
                    </a:solidFill>
                  </a:tcPr>
                </a:tc>
                <a:tc>
                  <a:txBody>
                    <a:bodyPr/>
                    <a:lstStyle/>
                    <a:p>
                      <a:pPr algn="ctr"/>
                      <a:r>
                        <a:rPr sz="1200" b="1">
                          <a:solidFill>
                            <a:srgbClr val="1A1A2E"/>
                          </a:solidFill>
                          <a:latin typeface="Calibri"/>
                        </a:rPr>
                        <a:t>0.97</a:t>
                      </a:r>
                    </a:p>
                  </a:txBody>
                  <a:tcPr marL="76200" marR="50800" marT="25400" marB="25400">
                    <a:solidFill>
                      <a:srgbClr val="FFFFFF"/>
                    </a:solidFill>
                  </a:tcPr>
                </a:tc>
                <a:tc>
                  <a:txBody>
                    <a:bodyPr/>
                    <a:lstStyle/>
                    <a:p>
                      <a:pPr algn="ctr"/>
                      <a:r>
                        <a:rPr sz="1200" b="1" dirty="0">
                          <a:solidFill>
                            <a:srgbClr val="1A1A2E"/>
                          </a:solidFill>
                          <a:latin typeface="Calibri"/>
                        </a:rPr>
                        <a:t>74.1%</a:t>
                      </a:r>
                    </a:p>
                  </a:txBody>
                  <a:tcPr marL="76200" marR="50800" marT="25400" marB="25400">
                    <a:solidFill>
                      <a:srgbClr val="FFFFFF"/>
                    </a:solidFill>
                  </a:tcPr>
                </a:tc>
                <a:tc>
                  <a:txBody>
                    <a:bodyPr/>
                    <a:lstStyle/>
                    <a:p>
                      <a:pPr algn="ctr"/>
                      <a:r>
                        <a:rPr sz="1200" b="1" dirty="0">
                          <a:solidFill>
                            <a:srgbClr val="1A1A2E"/>
                          </a:solidFill>
                          <a:latin typeface="Calibri"/>
                        </a:rPr>
                        <a:t>86.9%</a:t>
                      </a:r>
                    </a:p>
                  </a:txBody>
                  <a:tcPr marL="76200" marR="50800" marT="25400" marB="25400">
                    <a:solidFill>
                      <a:srgbClr val="FFFFFF"/>
                    </a:solidFill>
                  </a:tcPr>
                </a:tc>
                <a:extLst>
                  <a:ext uri="{0D108BD9-81ED-4DB2-BD59-A6C34878D82A}">
                    <a16:rowId xmlns:a16="http://schemas.microsoft.com/office/drawing/2014/main" val="10001"/>
                  </a:ext>
                </a:extLst>
              </a:tr>
              <a:tr h="411480">
                <a:tc>
                  <a:txBody>
                    <a:bodyPr/>
                    <a:lstStyle/>
                    <a:p>
                      <a:r>
                        <a:rPr sz="1200" b="0">
                          <a:solidFill>
                            <a:srgbClr val="1A1A2E"/>
                          </a:solidFill>
                          <a:latin typeface="Calibri"/>
                        </a:rPr>
                        <a:t>Random Forest</a:t>
                      </a:r>
                    </a:p>
                  </a:txBody>
                  <a:tcPr marL="76200" marR="50800" marT="25400" marB="25400">
                    <a:solidFill>
                      <a:srgbClr val="EEF3F8"/>
                    </a:solidFill>
                  </a:tcPr>
                </a:tc>
                <a:tc>
                  <a:txBody>
                    <a:bodyPr/>
                    <a:lstStyle/>
                    <a:p>
                      <a:pPr algn="ctr"/>
                      <a:r>
                        <a:rPr sz="1200" b="0">
                          <a:solidFill>
                            <a:srgbClr val="1A1A2E"/>
                          </a:solidFill>
                          <a:latin typeface="Calibri"/>
                        </a:rPr>
                        <a:t>0.97</a:t>
                      </a:r>
                    </a:p>
                  </a:txBody>
                  <a:tcPr marL="76200" marR="50800" marT="25400" marB="25400">
                    <a:solidFill>
                      <a:srgbClr val="EEF3F8"/>
                    </a:solidFill>
                  </a:tcPr>
                </a:tc>
                <a:tc>
                  <a:txBody>
                    <a:bodyPr/>
                    <a:lstStyle/>
                    <a:p>
                      <a:pPr algn="ctr"/>
                      <a:r>
                        <a:rPr sz="1200" b="0">
                          <a:solidFill>
                            <a:srgbClr val="1A1A2E"/>
                          </a:solidFill>
                          <a:latin typeface="Calibri"/>
                        </a:rPr>
                        <a:t>73.3%</a:t>
                      </a:r>
                    </a:p>
                  </a:txBody>
                  <a:tcPr marL="76200" marR="50800" marT="25400" marB="25400">
                    <a:solidFill>
                      <a:srgbClr val="EEF3F8"/>
                    </a:solidFill>
                  </a:tcPr>
                </a:tc>
                <a:tc>
                  <a:txBody>
                    <a:bodyPr/>
                    <a:lstStyle/>
                    <a:p>
                      <a:pPr algn="ctr"/>
                      <a:r>
                        <a:rPr sz="1200" b="0">
                          <a:solidFill>
                            <a:srgbClr val="1A1A2E"/>
                          </a:solidFill>
                          <a:latin typeface="Calibri"/>
                        </a:rPr>
                        <a:t>87.5%</a:t>
                      </a:r>
                    </a:p>
                  </a:txBody>
                  <a:tcPr marL="76200" marR="50800" marT="25400" marB="25400">
                    <a:solidFill>
                      <a:srgbClr val="EEF3F8"/>
                    </a:solidFill>
                  </a:tcPr>
                </a:tc>
                <a:extLst>
                  <a:ext uri="{0D108BD9-81ED-4DB2-BD59-A6C34878D82A}">
                    <a16:rowId xmlns:a16="http://schemas.microsoft.com/office/drawing/2014/main" val="10002"/>
                  </a:ext>
                </a:extLst>
              </a:tr>
              <a:tr h="411480">
                <a:tc>
                  <a:txBody>
                    <a:bodyPr/>
                    <a:lstStyle/>
                    <a:p>
                      <a:r>
                        <a:rPr sz="1200" b="0">
                          <a:solidFill>
                            <a:srgbClr val="1A1A2E"/>
                          </a:solidFill>
                          <a:latin typeface="Calibri"/>
                        </a:rPr>
                        <a:t>Grad. Boosting</a:t>
                      </a:r>
                    </a:p>
                  </a:txBody>
                  <a:tcPr marL="76200" marR="50800" marT="25400" marB="25400">
                    <a:solidFill>
                      <a:srgbClr val="FFFFFF"/>
                    </a:solidFill>
                  </a:tcPr>
                </a:tc>
                <a:tc>
                  <a:txBody>
                    <a:bodyPr/>
                    <a:lstStyle/>
                    <a:p>
                      <a:pPr algn="ctr"/>
                      <a:r>
                        <a:rPr sz="1200" b="0">
                          <a:solidFill>
                            <a:srgbClr val="1A1A2E"/>
                          </a:solidFill>
                          <a:latin typeface="Calibri"/>
                        </a:rPr>
                        <a:t>0.97</a:t>
                      </a:r>
                    </a:p>
                  </a:txBody>
                  <a:tcPr marL="76200" marR="50800" marT="25400" marB="25400">
                    <a:solidFill>
                      <a:srgbClr val="FFFFFF"/>
                    </a:solidFill>
                  </a:tcPr>
                </a:tc>
                <a:tc>
                  <a:txBody>
                    <a:bodyPr/>
                    <a:lstStyle/>
                    <a:p>
                      <a:pPr algn="ctr"/>
                      <a:r>
                        <a:rPr sz="1200" b="0">
                          <a:solidFill>
                            <a:srgbClr val="1A1A2E"/>
                          </a:solidFill>
                          <a:latin typeface="Calibri"/>
                        </a:rPr>
                        <a:t>72.9%</a:t>
                      </a:r>
                    </a:p>
                  </a:txBody>
                  <a:tcPr marL="76200" marR="50800" marT="25400" marB="25400">
                    <a:solidFill>
                      <a:srgbClr val="FFFFFF"/>
                    </a:solidFill>
                  </a:tcPr>
                </a:tc>
                <a:tc>
                  <a:txBody>
                    <a:bodyPr/>
                    <a:lstStyle/>
                    <a:p>
                      <a:pPr algn="ctr"/>
                      <a:r>
                        <a:rPr sz="1200" b="0">
                          <a:solidFill>
                            <a:srgbClr val="1A1A2E"/>
                          </a:solidFill>
                          <a:latin typeface="Calibri"/>
                        </a:rPr>
                        <a:t>86.4%</a:t>
                      </a:r>
                    </a:p>
                  </a:txBody>
                  <a:tcPr marL="76200" marR="50800" marT="25400" marB="25400">
                    <a:solidFill>
                      <a:srgbClr val="FFFFFF"/>
                    </a:solidFill>
                  </a:tcPr>
                </a:tc>
                <a:extLst>
                  <a:ext uri="{0D108BD9-81ED-4DB2-BD59-A6C34878D82A}">
                    <a16:rowId xmlns:a16="http://schemas.microsoft.com/office/drawing/2014/main" val="10003"/>
                  </a:ext>
                </a:extLst>
              </a:tr>
              <a:tr h="411480">
                <a:tc>
                  <a:txBody>
                    <a:bodyPr/>
                    <a:lstStyle/>
                    <a:p>
                      <a:r>
                        <a:rPr sz="1200" b="0">
                          <a:solidFill>
                            <a:srgbClr val="5B6472"/>
                          </a:solidFill>
                          <a:latin typeface="Calibri"/>
                        </a:rPr>
                        <a:t>SVR</a:t>
                      </a:r>
                    </a:p>
                  </a:txBody>
                  <a:tcPr marL="76200" marR="50800" marT="25400" marB="25400">
                    <a:solidFill>
                      <a:srgbClr val="EEF3F8"/>
                    </a:solidFill>
                  </a:tcPr>
                </a:tc>
                <a:tc>
                  <a:txBody>
                    <a:bodyPr/>
                    <a:lstStyle/>
                    <a:p>
                      <a:pPr algn="ctr"/>
                      <a:r>
                        <a:rPr sz="1200" b="0">
                          <a:solidFill>
                            <a:srgbClr val="5B6472"/>
                          </a:solidFill>
                          <a:latin typeface="Calibri"/>
                        </a:rPr>
                        <a:t>0.84</a:t>
                      </a:r>
                    </a:p>
                  </a:txBody>
                  <a:tcPr marL="76200" marR="50800" marT="25400" marB="25400">
                    <a:solidFill>
                      <a:srgbClr val="EEF3F8"/>
                    </a:solidFill>
                  </a:tcPr>
                </a:tc>
                <a:tc>
                  <a:txBody>
                    <a:bodyPr/>
                    <a:lstStyle/>
                    <a:p>
                      <a:pPr algn="ctr"/>
                      <a:r>
                        <a:rPr sz="1200" b="0">
                          <a:solidFill>
                            <a:srgbClr val="5B6472"/>
                          </a:solidFill>
                          <a:latin typeface="Calibri"/>
                        </a:rPr>
                        <a:t>27.2%</a:t>
                      </a:r>
                    </a:p>
                  </a:txBody>
                  <a:tcPr marL="76200" marR="50800" marT="25400" marB="25400">
                    <a:solidFill>
                      <a:srgbClr val="EEF3F8"/>
                    </a:solidFill>
                  </a:tcPr>
                </a:tc>
                <a:tc>
                  <a:txBody>
                    <a:bodyPr/>
                    <a:lstStyle/>
                    <a:p>
                      <a:pPr algn="ctr"/>
                      <a:r>
                        <a:rPr sz="1200" b="0">
                          <a:solidFill>
                            <a:srgbClr val="5B6472"/>
                          </a:solidFill>
                          <a:latin typeface="Calibri"/>
                        </a:rPr>
                        <a:t>49.0%</a:t>
                      </a:r>
                    </a:p>
                  </a:txBody>
                  <a:tcPr marL="76200" marR="50800" marT="25400" marB="25400">
                    <a:solidFill>
                      <a:srgbClr val="EEF3F8"/>
                    </a:solidFill>
                  </a:tcPr>
                </a:tc>
                <a:extLst>
                  <a:ext uri="{0D108BD9-81ED-4DB2-BD59-A6C34878D82A}">
                    <a16:rowId xmlns:a16="http://schemas.microsoft.com/office/drawing/2014/main" val="10004"/>
                  </a:ext>
                </a:extLst>
              </a:tr>
              <a:tr h="411480">
                <a:tc>
                  <a:txBody>
                    <a:bodyPr/>
                    <a:lstStyle/>
                    <a:p>
                      <a:r>
                        <a:rPr sz="1200" b="0" dirty="0">
                          <a:solidFill>
                            <a:srgbClr val="5B6472"/>
                          </a:solidFill>
                          <a:latin typeface="Calibri"/>
                        </a:rPr>
                        <a:t>MLP (neural net)</a:t>
                      </a:r>
                    </a:p>
                  </a:txBody>
                  <a:tcPr marL="76200" marR="50800" marT="25400" marB="25400">
                    <a:solidFill>
                      <a:srgbClr val="FFFFFF"/>
                    </a:solidFill>
                  </a:tcPr>
                </a:tc>
                <a:tc>
                  <a:txBody>
                    <a:bodyPr/>
                    <a:lstStyle/>
                    <a:p>
                      <a:pPr algn="ctr"/>
                      <a:r>
                        <a:rPr sz="1200" b="0">
                          <a:solidFill>
                            <a:srgbClr val="5B6472"/>
                          </a:solidFill>
                          <a:latin typeface="Calibri"/>
                        </a:rPr>
                        <a:t>0.75</a:t>
                      </a:r>
                    </a:p>
                  </a:txBody>
                  <a:tcPr marL="76200" marR="50800" marT="25400" marB="25400">
                    <a:solidFill>
                      <a:srgbClr val="FFFFFF"/>
                    </a:solidFill>
                  </a:tcPr>
                </a:tc>
                <a:tc>
                  <a:txBody>
                    <a:bodyPr/>
                    <a:lstStyle/>
                    <a:p>
                      <a:pPr algn="ctr"/>
                      <a:r>
                        <a:rPr sz="1200" b="0">
                          <a:solidFill>
                            <a:srgbClr val="5B6472"/>
                          </a:solidFill>
                          <a:latin typeface="Calibri"/>
                        </a:rPr>
                        <a:t>14.6%</a:t>
                      </a:r>
                    </a:p>
                  </a:txBody>
                  <a:tcPr marL="76200" marR="50800" marT="25400" marB="25400">
                    <a:solidFill>
                      <a:srgbClr val="FFFFFF"/>
                    </a:solidFill>
                  </a:tcPr>
                </a:tc>
                <a:tc>
                  <a:txBody>
                    <a:bodyPr/>
                    <a:lstStyle/>
                    <a:p>
                      <a:pPr algn="ctr"/>
                      <a:r>
                        <a:rPr sz="1200" b="0" dirty="0">
                          <a:solidFill>
                            <a:srgbClr val="5B6472"/>
                          </a:solidFill>
                          <a:latin typeface="Calibri"/>
                        </a:rPr>
                        <a:t>31.2%</a:t>
                      </a:r>
                    </a:p>
                  </a:txBody>
                  <a:tcPr marL="76200" marR="50800" marT="25400" marB="25400">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7178040" y="1764792"/>
            <a:ext cx="4983480" cy="320040"/>
          </a:xfrm>
          <a:prstGeom prst="rect">
            <a:avLst/>
          </a:prstGeom>
          <a:noFill/>
        </p:spPr>
        <p:txBody>
          <a:bodyPr wrap="none">
            <a:spAutoFit/>
          </a:bodyPr>
          <a:lstStyle/>
          <a:p>
            <a:r>
              <a:rPr sz="1500" b="1">
                <a:solidFill>
                  <a:srgbClr val="002858"/>
                </a:solidFill>
                <a:latin typeface="Cambria"/>
              </a:rPr>
              <a:t>Gradient: Acc@20% per component</a:t>
            </a:r>
          </a:p>
        </p:txBody>
      </p:sp>
      <p:graphicFrame>
        <p:nvGraphicFramePr>
          <p:cNvPr id="10" name="Table 9"/>
          <p:cNvGraphicFramePr>
            <a:graphicFrameLocks noGrp="1"/>
          </p:cNvGraphicFramePr>
          <p:nvPr/>
        </p:nvGraphicFramePr>
        <p:xfrm>
          <a:off x="7178040" y="2148840"/>
          <a:ext cx="4983480" cy="182880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tblGrid>
              <a:tr h="457200">
                <a:tc>
                  <a:txBody>
                    <a:bodyPr/>
                    <a:lstStyle/>
                    <a:p>
                      <a:r>
                        <a:rPr sz="1200" b="1">
                          <a:solidFill>
                            <a:srgbClr val="FFFFFF"/>
                          </a:solidFill>
                          <a:latin typeface="Calibri"/>
                        </a:rPr>
                        <a:t>Gradient method</a:t>
                      </a:r>
                    </a:p>
                  </a:txBody>
                  <a:tcPr marL="76200" marR="50800" marT="25400" marB="25400">
                    <a:solidFill>
                      <a:srgbClr val="B37F00"/>
                    </a:solidFill>
                  </a:tcPr>
                </a:tc>
                <a:tc>
                  <a:txBody>
                    <a:bodyPr/>
                    <a:lstStyle/>
                    <a:p>
                      <a:pPr algn="ctr"/>
                      <a:r>
                        <a:rPr sz="1200" b="1">
                          <a:solidFill>
                            <a:srgbClr val="FFFFFF"/>
                          </a:solidFill>
                          <a:latin typeface="Calibri"/>
                        </a:rPr>
                        <a:t>dL/dE</a:t>
                      </a:r>
                    </a:p>
                  </a:txBody>
                  <a:tcPr marL="76200" marR="50800" marT="25400" marB="25400">
                    <a:solidFill>
                      <a:srgbClr val="B37F00"/>
                    </a:solidFill>
                  </a:tcPr>
                </a:tc>
                <a:tc>
                  <a:txBody>
                    <a:bodyPr/>
                    <a:lstStyle/>
                    <a:p>
                      <a:pPr algn="ctr"/>
                      <a:r>
                        <a:rPr sz="1200" b="1">
                          <a:solidFill>
                            <a:srgbClr val="FFFFFF"/>
                          </a:solidFill>
                          <a:latin typeface="Calibri"/>
                        </a:rPr>
                        <a:t>dL/dh</a:t>
                      </a:r>
                    </a:p>
                  </a:txBody>
                  <a:tcPr marL="76200" marR="50800" marT="25400" marB="25400">
                    <a:solidFill>
                      <a:srgbClr val="B37F00"/>
                    </a:solidFill>
                  </a:tcPr>
                </a:tc>
                <a:tc>
                  <a:txBody>
                    <a:bodyPr/>
                    <a:lstStyle/>
                    <a:p>
                      <a:pPr algn="ctr"/>
                      <a:r>
                        <a:rPr sz="1200" b="1">
                          <a:solidFill>
                            <a:srgbClr val="FFFFFF"/>
                          </a:solidFill>
                          <a:latin typeface="Calibri"/>
                        </a:rPr>
                        <a:t>dL/dθ</a:t>
                      </a:r>
                    </a:p>
                  </a:txBody>
                  <a:tcPr marL="76200" marR="50800" marT="25400" marB="25400">
                    <a:solidFill>
                      <a:srgbClr val="B37F00"/>
                    </a:solidFill>
                  </a:tcPr>
                </a:tc>
                <a:extLst>
                  <a:ext uri="{0D108BD9-81ED-4DB2-BD59-A6C34878D82A}">
                    <a16:rowId xmlns:a16="http://schemas.microsoft.com/office/drawing/2014/main" val="10000"/>
                  </a:ext>
                </a:extLst>
              </a:tr>
              <a:tr h="457200">
                <a:tc>
                  <a:txBody>
                    <a:bodyPr/>
                    <a:lstStyle/>
                    <a:p>
                      <a:r>
                        <a:rPr sz="1200" b="1">
                          <a:solidFill>
                            <a:srgbClr val="0073BC"/>
                          </a:solidFill>
                          <a:latin typeface="Calibri"/>
                        </a:rPr>
                        <a:t>Multihead NN  (chosen)</a:t>
                      </a:r>
                    </a:p>
                  </a:txBody>
                  <a:tcPr marL="76200" marR="50800" marT="25400" marB="25400">
                    <a:solidFill>
                      <a:srgbClr val="FFFFFF"/>
                    </a:solidFill>
                  </a:tcPr>
                </a:tc>
                <a:tc>
                  <a:txBody>
                    <a:bodyPr/>
                    <a:lstStyle/>
                    <a:p>
                      <a:pPr algn="ctr"/>
                      <a:r>
                        <a:rPr sz="1200" b="1">
                          <a:solidFill>
                            <a:srgbClr val="1A1A2E"/>
                          </a:solidFill>
                          <a:latin typeface="Calibri"/>
                        </a:rPr>
                        <a:t>68.7%</a:t>
                      </a:r>
                    </a:p>
                  </a:txBody>
                  <a:tcPr marL="76200" marR="50800" marT="25400" marB="25400">
                    <a:solidFill>
                      <a:srgbClr val="FFFFFF"/>
                    </a:solidFill>
                  </a:tcPr>
                </a:tc>
                <a:tc>
                  <a:txBody>
                    <a:bodyPr/>
                    <a:lstStyle/>
                    <a:p>
                      <a:pPr algn="ctr"/>
                      <a:r>
                        <a:rPr sz="1200" b="1">
                          <a:solidFill>
                            <a:srgbClr val="1A1A2E"/>
                          </a:solidFill>
                          <a:latin typeface="Calibri"/>
                        </a:rPr>
                        <a:t>80.5%</a:t>
                      </a:r>
                    </a:p>
                  </a:txBody>
                  <a:tcPr marL="76200" marR="50800" marT="25400" marB="25400">
                    <a:solidFill>
                      <a:srgbClr val="FFFFFF"/>
                    </a:solidFill>
                  </a:tcPr>
                </a:tc>
                <a:tc>
                  <a:txBody>
                    <a:bodyPr/>
                    <a:lstStyle/>
                    <a:p>
                      <a:pPr algn="ctr"/>
                      <a:r>
                        <a:rPr sz="1200" b="1">
                          <a:solidFill>
                            <a:srgbClr val="1A1A2E"/>
                          </a:solidFill>
                          <a:latin typeface="Calibri"/>
                        </a:rPr>
                        <a:t>56.8%</a:t>
                      </a:r>
                    </a:p>
                  </a:txBody>
                  <a:tcPr marL="76200" marR="50800" marT="25400" marB="25400">
                    <a:solidFill>
                      <a:srgbClr val="FFFFFF"/>
                    </a:solidFill>
                  </a:tcPr>
                </a:tc>
                <a:extLst>
                  <a:ext uri="{0D108BD9-81ED-4DB2-BD59-A6C34878D82A}">
                    <a16:rowId xmlns:a16="http://schemas.microsoft.com/office/drawing/2014/main" val="10001"/>
                  </a:ext>
                </a:extLst>
              </a:tr>
              <a:tr h="457200">
                <a:tc>
                  <a:txBody>
                    <a:bodyPr/>
                    <a:lstStyle/>
                    <a:p>
                      <a:r>
                        <a:rPr sz="1200" b="0">
                          <a:solidFill>
                            <a:srgbClr val="1A1A2E"/>
                          </a:solidFill>
                          <a:latin typeface="Calibri"/>
                        </a:rPr>
                        <a:t>XGBoost split</a:t>
                      </a:r>
                    </a:p>
                  </a:txBody>
                  <a:tcPr marL="76200" marR="50800" marT="25400" marB="25400">
                    <a:solidFill>
                      <a:srgbClr val="EEF3F8"/>
                    </a:solidFill>
                  </a:tcPr>
                </a:tc>
                <a:tc>
                  <a:txBody>
                    <a:bodyPr/>
                    <a:lstStyle/>
                    <a:p>
                      <a:pPr algn="ctr"/>
                      <a:r>
                        <a:rPr sz="1200" b="0">
                          <a:solidFill>
                            <a:srgbClr val="1A1A2E"/>
                          </a:solidFill>
                          <a:latin typeface="Calibri"/>
                        </a:rPr>
                        <a:t>66.9%</a:t>
                      </a:r>
                    </a:p>
                  </a:txBody>
                  <a:tcPr marL="76200" marR="50800" marT="25400" marB="25400">
                    <a:solidFill>
                      <a:srgbClr val="EEF3F8"/>
                    </a:solidFill>
                  </a:tcPr>
                </a:tc>
                <a:tc>
                  <a:txBody>
                    <a:bodyPr/>
                    <a:lstStyle/>
                    <a:p>
                      <a:pPr algn="ctr"/>
                      <a:r>
                        <a:rPr sz="1200" b="0">
                          <a:solidFill>
                            <a:srgbClr val="1A1A2E"/>
                          </a:solidFill>
                          <a:latin typeface="Calibri"/>
                        </a:rPr>
                        <a:t>75.8%</a:t>
                      </a:r>
                    </a:p>
                  </a:txBody>
                  <a:tcPr marL="76200" marR="50800" marT="25400" marB="25400">
                    <a:solidFill>
                      <a:srgbClr val="EEF3F8"/>
                    </a:solidFill>
                  </a:tcPr>
                </a:tc>
                <a:tc>
                  <a:txBody>
                    <a:bodyPr/>
                    <a:lstStyle/>
                    <a:p>
                      <a:pPr algn="ctr"/>
                      <a:r>
                        <a:rPr sz="1200" b="0">
                          <a:solidFill>
                            <a:srgbClr val="1A1A2E"/>
                          </a:solidFill>
                          <a:latin typeface="Calibri"/>
                        </a:rPr>
                        <a:t>57.4%</a:t>
                      </a:r>
                    </a:p>
                  </a:txBody>
                  <a:tcPr marL="76200" marR="50800" marT="25400" marB="25400">
                    <a:solidFill>
                      <a:srgbClr val="EEF3F8"/>
                    </a:solidFill>
                  </a:tcPr>
                </a:tc>
                <a:extLst>
                  <a:ext uri="{0D108BD9-81ED-4DB2-BD59-A6C34878D82A}">
                    <a16:rowId xmlns:a16="http://schemas.microsoft.com/office/drawing/2014/main" val="10002"/>
                  </a:ext>
                </a:extLst>
              </a:tr>
              <a:tr h="457200">
                <a:tc>
                  <a:txBody>
                    <a:bodyPr/>
                    <a:lstStyle/>
                    <a:p>
                      <a:r>
                        <a:rPr sz="1200" b="0">
                          <a:solidFill>
                            <a:srgbClr val="5B6472"/>
                          </a:solidFill>
                          <a:latin typeface="Calibri"/>
                        </a:rPr>
                        <a:t>Sobolev / value-MLP</a:t>
                      </a:r>
                    </a:p>
                  </a:txBody>
                  <a:tcPr marL="76200" marR="50800" marT="25400" marB="25400">
                    <a:solidFill>
                      <a:srgbClr val="FFFFFF"/>
                    </a:solidFill>
                  </a:tcPr>
                </a:tc>
                <a:tc>
                  <a:txBody>
                    <a:bodyPr/>
                    <a:lstStyle/>
                    <a:p>
                      <a:pPr algn="ctr"/>
                      <a:r>
                        <a:rPr sz="1200" b="0">
                          <a:solidFill>
                            <a:srgbClr val="5B6472"/>
                          </a:solidFill>
                          <a:latin typeface="Calibri"/>
                        </a:rPr>
                        <a:t>~37%</a:t>
                      </a:r>
                    </a:p>
                  </a:txBody>
                  <a:tcPr marL="76200" marR="50800" marT="25400" marB="25400">
                    <a:solidFill>
                      <a:srgbClr val="FFFFFF"/>
                    </a:solidFill>
                  </a:tcPr>
                </a:tc>
                <a:tc>
                  <a:txBody>
                    <a:bodyPr/>
                    <a:lstStyle/>
                    <a:p>
                      <a:pPr algn="ctr"/>
                      <a:r>
                        <a:rPr sz="1200" b="0">
                          <a:solidFill>
                            <a:srgbClr val="5B6472"/>
                          </a:solidFill>
                          <a:latin typeface="Calibri"/>
                        </a:rPr>
                        <a:t>--</a:t>
                      </a:r>
                    </a:p>
                  </a:txBody>
                  <a:tcPr marL="76200" marR="50800" marT="25400" marB="25400">
                    <a:solidFill>
                      <a:srgbClr val="FFFFFF"/>
                    </a:solidFill>
                  </a:tcPr>
                </a:tc>
                <a:tc>
                  <a:txBody>
                    <a:bodyPr/>
                    <a:lstStyle/>
                    <a:p>
                      <a:pPr algn="ctr"/>
                      <a:r>
                        <a:rPr sz="1200" b="0" dirty="0">
                          <a:solidFill>
                            <a:srgbClr val="5B6472"/>
                          </a:solidFill>
                          <a:latin typeface="Calibri"/>
                        </a:rPr>
                        <a:t>--</a:t>
                      </a:r>
                    </a:p>
                  </a:txBody>
                  <a:tcPr marL="76200" marR="50800" marT="25400" marB="25400">
                    <a:solidFill>
                      <a:srgbClr val="FFFFFF"/>
                    </a:solidFill>
                  </a:tcPr>
                </a:tc>
                <a:extLst>
                  <a:ext uri="{0D108BD9-81ED-4DB2-BD59-A6C34878D82A}">
                    <a16:rowId xmlns:a16="http://schemas.microsoft.com/office/drawing/2014/main" val="10003"/>
                  </a:ext>
                </a:extLst>
              </a:tr>
            </a:tbl>
          </a:graphicData>
        </a:graphic>
      </p:graphicFrame>
      <p:sp>
        <p:nvSpPr>
          <p:cNvPr id="12" name="Rectangle 11">
            <a:extLst>
              <a:ext uri="{FF2B5EF4-FFF2-40B4-BE49-F238E27FC236}">
                <a16:creationId xmlns:a16="http://schemas.microsoft.com/office/drawing/2014/main" id="{BB1C9297-21BC-70A1-7DB5-CBAB1C8C67C8}"/>
              </a:ext>
            </a:extLst>
          </p:cNvPr>
          <p:cNvSpPr/>
          <p:nvPr/>
        </p:nvSpPr>
        <p:spPr>
          <a:xfrm>
            <a:off x="640079" y="2596896"/>
            <a:ext cx="4916659" cy="32004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3" name="Rectangle 12">
            <a:extLst>
              <a:ext uri="{FF2B5EF4-FFF2-40B4-BE49-F238E27FC236}">
                <a16:creationId xmlns:a16="http://schemas.microsoft.com/office/drawing/2014/main" id="{51061CA1-D2D2-4018-D92D-163CE100CAF7}"/>
              </a:ext>
            </a:extLst>
          </p:cNvPr>
          <p:cNvSpPr/>
          <p:nvPr/>
        </p:nvSpPr>
        <p:spPr>
          <a:xfrm>
            <a:off x="7112390" y="2596896"/>
            <a:ext cx="4927210" cy="32004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6" name="Text 3">
            <a:extLst>
              <a:ext uri="{FF2B5EF4-FFF2-40B4-BE49-F238E27FC236}">
                <a16:creationId xmlns:a16="http://schemas.microsoft.com/office/drawing/2014/main" id="{609E6D33-D096-DD88-D3D9-EFA84A41A3E3}"/>
              </a:ext>
            </a:extLst>
          </p:cNvPr>
          <p:cNvSpPr/>
          <p:nvPr/>
        </p:nvSpPr>
        <p:spPr>
          <a:xfrm>
            <a:off x="285221" y="5047488"/>
            <a:ext cx="2286000" cy="640080"/>
          </a:xfrm>
          <a:prstGeom prst="rect">
            <a:avLst/>
          </a:prstGeom>
          <a:noFill/>
          <a:ln/>
        </p:spPr>
        <p:txBody>
          <a:bodyPr wrap="square" lIns="0" tIns="0" rIns="0" bIns="0" rtlCol="0" anchor="ctr"/>
          <a:lstStyle/>
          <a:p>
            <a:pPr marL="0" indent="0" algn="ctr">
              <a:buNone/>
            </a:pPr>
            <a:r>
              <a:rPr lang="en-US" b="1" dirty="0">
                <a:solidFill>
                  <a:srgbClr val="FF0000"/>
                </a:solidFill>
                <a:latin typeface="Cambria" pitchFamily="34" charset="0"/>
                <a:ea typeface="Cambria" pitchFamily="34" charset="-122"/>
                <a:cs typeface="Cambria" pitchFamily="34" charset="-120"/>
              </a:rPr>
              <a:t> 70%</a:t>
            </a:r>
            <a:r>
              <a:rPr lang="zh-CN" altLang="en-US" b="1" dirty="0">
                <a:solidFill>
                  <a:srgbClr val="FF0000"/>
                </a:solidFill>
                <a:latin typeface="Cambria" pitchFamily="34" charset="0"/>
                <a:ea typeface="Cambria" pitchFamily="34" charset="-122"/>
                <a:cs typeface="Cambria" pitchFamily="34" charset="-120"/>
              </a:rPr>
              <a:t> </a:t>
            </a:r>
            <a:r>
              <a:rPr lang="en-CA" altLang="zh-CN" b="1" dirty="0">
                <a:latin typeface="Cambria" pitchFamily="34" charset="0"/>
                <a:ea typeface="Cambria" pitchFamily="34" charset="-122"/>
                <a:cs typeface="Cambria" pitchFamily="34" charset="-120"/>
              </a:rPr>
              <a:t>around</a:t>
            </a:r>
            <a:endParaRPr lang="en-US" dirty="0"/>
          </a:p>
        </p:txBody>
      </p:sp>
      <p:sp>
        <p:nvSpPr>
          <p:cNvPr id="11" name="Text 3">
            <a:extLst>
              <a:ext uri="{FF2B5EF4-FFF2-40B4-BE49-F238E27FC236}">
                <a16:creationId xmlns:a16="http://schemas.microsoft.com/office/drawing/2014/main" id="{C055D977-4DD7-85F9-2CA5-599A7D934F87}"/>
              </a:ext>
            </a:extLst>
          </p:cNvPr>
          <p:cNvSpPr/>
          <p:nvPr/>
        </p:nvSpPr>
        <p:spPr>
          <a:xfrm>
            <a:off x="7576207" y="4744630"/>
            <a:ext cx="4219553" cy="1245796"/>
          </a:xfrm>
          <a:prstGeom prst="rect">
            <a:avLst/>
          </a:prstGeom>
          <a:noFill/>
          <a:ln/>
        </p:spPr>
        <p:txBody>
          <a:bodyPr wrap="square" lIns="0" tIns="0" rIns="0" bIns="0" rtlCol="0" anchor="ctr"/>
          <a:lstStyle/>
          <a:p>
            <a:pPr marL="228600" indent="-228600">
              <a:spcBef>
                <a:spcPts val="1000"/>
              </a:spcBef>
              <a:buSzPct val="100000"/>
              <a:buFontTx/>
              <a:buChar char="▪"/>
            </a:pPr>
            <a:r>
              <a:rPr lang="en-US" sz="1600" b="1" dirty="0">
                <a:solidFill>
                  <a:srgbClr val="FF0000"/>
                </a:solidFill>
                <a:latin typeface="Calibri" pitchFamily="34" charset="0"/>
                <a:ea typeface="Calibri" pitchFamily="34" charset="-122"/>
                <a:cs typeface="Calibri" pitchFamily="34" charset="-120"/>
              </a:rPr>
              <a:t>RECAP</a:t>
            </a:r>
          </a:p>
          <a:p>
            <a:pPr marL="228600" indent="-228600">
              <a:spcBef>
                <a:spcPts val="1000"/>
              </a:spcBef>
              <a:buSzPct val="100000"/>
              <a:buFontTx/>
              <a:buChar char="▪"/>
            </a:pPr>
            <a:r>
              <a:rPr lang="en-US" sz="1600" b="1" dirty="0">
                <a:solidFill>
                  <a:srgbClr val="FF0000"/>
                </a:solidFill>
                <a:latin typeface="Calibri" pitchFamily="34" charset="0"/>
                <a:ea typeface="Calibri" pitchFamily="34" charset="-122"/>
                <a:cs typeface="Calibri" pitchFamily="34" charset="-120"/>
              </a:rPr>
              <a:t>Apex Angle </a:t>
            </a:r>
            <a:r>
              <a:rPr lang="en-US" sz="1600" b="1" dirty="0" err="1">
                <a:solidFill>
                  <a:srgbClr val="FF0000"/>
                </a:solidFill>
                <a:latin typeface="Calibri" pitchFamily="34" charset="0"/>
                <a:ea typeface="Calibri" pitchFamily="34" charset="-122"/>
                <a:cs typeface="Calibri" pitchFamily="34" charset="-120"/>
              </a:rPr>
              <a:t>θ</a:t>
            </a:r>
            <a:r>
              <a:rPr lang="en-US" sz="1600" b="1" dirty="0">
                <a:solidFill>
                  <a:srgbClr val="FF0000"/>
                </a:solidFill>
                <a:latin typeface="Calibri" pitchFamily="34" charset="0"/>
                <a:ea typeface="Calibri" pitchFamily="34" charset="-122"/>
                <a:cs typeface="Calibri" pitchFamily="34" charset="-120"/>
              </a:rPr>
              <a:t>,  </a:t>
            </a:r>
          </a:p>
          <a:p>
            <a:pPr marL="228600" indent="-228600">
              <a:spcBef>
                <a:spcPts val="1000"/>
              </a:spcBef>
              <a:buSzPct val="100000"/>
              <a:buFontTx/>
              <a:buChar char="▪"/>
            </a:pPr>
            <a:r>
              <a:rPr lang="en-US" sz="1600" b="1" dirty="0">
                <a:solidFill>
                  <a:srgbClr val="FF0000"/>
                </a:solidFill>
                <a:latin typeface="Calibri" pitchFamily="34" charset="0"/>
                <a:ea typeface="Calibri" pitchFamily="34" charset="-122"/>
                <a:cs typeface="Calibri" pitchFamily="34" charset="-120"/>
              </a:rPr>
              <a:t>Wall </a:t>
            </a:r>
            <a:r>
              <a:rPr lang="en-US" sz="1600" b="1" dirty="0" err="1">
                <a:solidFill>
                  <a:srgbClr val="FF0000"/>
                </a:solidFill>
                <a:latin typeface="Calibri" pitchFamily="34" charset="0"/>
                <a:ea typeface="Calibri" pitchFamily="34" charset="-122"/>
                <a:cs typeface="Calibri" pitchFamily="34" charset="-120"/>
              </a:rPr>
              <a:t>Thickaness</a:t>
            </a:r>
            <a:r>
              <a:rPr lang="en-US" sz="1600" b="1" dirty="0">
                <a:solidFill>
                  <a:srgbClr val="FF0000"/>
                </a:solidFill>
                <a:latin typeface="Calibri" pitchFamily="34" charset="0"/>
                <a:ea typeface="Calibri" pitchFamily="34" charset="-122"/>
                <a:cs typeface="Calibri" pitchFamily="34" charset="-120"/>
              </a:rPr>
              <a:t> h</a:t>
            </a:r>
          </a:p>
          <a:p>
            <a:pPr marL="228600" indent="-228600">
              <a:spcBef>
                <a:spcPts val="1000"/>
              </a:spcBef>
              <a:buSzPct val="100000"/>
              <a:buFontTx/>
              <a:buChar char="▪"/>
            </a:pPr>
            <a:r>
              <a:rPr lang="en-US" sz="1600" b="1" dirty="0">
                <a:solidFill>
                  <a:srgbClr val="FF0000"/>
                </a:solidFill>
                <a:latin typeface="Calibri" pitchFamily="34" charset="0"/>
                <a:ea typeface="Calibri" pitchFamily="34" charset="-122"/>
                <a:cs typeface="Calibri" pitchFamily="34" charset="-120"/>
              </a:rPr>
              <a:t>Material Stiffness E.</a:t>
            </a:r>
          </a:p>
          <a:p>
            <a:pPr marL="228600" indent="-228600">
              <a:spcBef>
                <a:spcPts val="1000"/>
              </a:spcBef>
              <a:buSzPct val="100000"/>
              <a:buFontTx/>
              <a:buChar char="▪"/>
            </a:pPr>
            <a:endParaRPr lang="en-US" sz="1600" dirty="0">
              <a:solidFill>
                <a:srgbClr val="FF0000"/>
              </a:solidFill>
            </a:endParaRPr>
          </a:p>
          <a:p>
            <a:pPr marL="228600" indent="-228600">
              <a:spcBef>
                <a:spcPts val="1000"/>
              </a:spcBef>
              <a:buSzPct val="100000"/>
              <a:buChar char="▪"/>
            </a:pPr>
            <a:endParaRPr lang="en-US" sz="1600" dirty="0">
              <a:solidFill>
                <a:srgbClr val="FF0000"/>
              </a:solidFill>
              <a:latin typeface="Calibri" pitchFamily="34" charset="0"/>
              <a:ea typeface="Calibri" pitchFamily="34" charset="-122"/>
              <a:cs typeface="Calibri" pitchFamily="34" charset="-120"/>
            </a:endParaRPr>
          </a:p>
          <a:p>
            <a:pPr marL="0" indent="0" algn="ctr">
              <a:buNone/>
            </a:pPr>
            <a:endParaRPr lang="en-US" sz="1500" b="1"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Users/I772771/jc/poly/slides/brand/uvic_stripe_white.png"/>
          <p:cNvPicPr>
            <a:picLocks noChangeAspect="1"/>
          </p:cNvPicPr>
          <p:nvPr/>
        </p:nvPicPr>
        <p:blipFill>
          <a:blip r:embed="rId3"/>
          <a:stretch>
            <a:fillRect/>
          </a:stretch>
        </p:blipFill>
        <p:spPr>
          <a:xfrm>
            <a:off x="305" y="384048"/>
            <a:ext cx="12191695" cy="6858000"/>
          </a:xfrm>
          <a:prstGeom prst="rect">
            <a:avLst/>
          </a:prstGeom>
        </p:spPr>
      </p:pic>
      <p:sp>
        <p:nvSpPr>
          <p:cNvPr id="3" name="Text 0"/>
          <p:cNvSpPr/>
          <p:nvPr/>
        </p:nvSpPr>
        <p:spPr>
          <a:xfrm>
            <a:off x="548640" y="475488"/>
            <a:ext cx="11155680" cy="777240"/>
          </a:xfrm>
          <a:prstGeom prst="rect">
            <a:avLst/>
          </a:prstGeom>
          <a:noFill/>
          <a:ln/>
        </p:spPr>
        <p:txBody>
          <a:bodyPr wrap="square" lIns="0" tIns="0" rIns="0" bIns="0" rtlCol="0" anchor="t"/>
          <a:lstStyle/>
          <a:p>
            <a:r>
              <a:rPr lang="en-US" sz="2600" b="1" dirty="0">
                <a:solidFill>
                  <a:schemeClr val="accent5"/>
                </a:solidFill>
                <a:latin typeface="Cambria" pitchFamily="34" charset="0"/>
                <a:ea typeface="Cambria" pitchFamily="34" charset="-122"/>
                <a:cs typeface="Cambria" pitchFamily="34" charset="-120"/>
              </a:rPr>
              <a:t>Forward: Peak Stress</a:t>
            </a:r>
            <a:r>
              <a:rPr lang="en-US" sz="2600" b="1" dirty="0">
                <a:solidFill>
                  <a:schemeClr val="tx2"/>
                </a:solidFill>
                <a:latin typeface="Cambria" pitchFamily="34" charset="0"/>
                <a:ea typeface="Cambria" pitchFamily="34" charset="-122"/>
                <a:cs typeface="Cambria" pitchFamily="34" charset="-120"/>
              </a:rPr>
              <a:t> </a:t>
            </a:r>
            <a:r>
              <a:rPr lang="en-US" sz="2600" b="1" dirty="0">
                <a:solidFill>
                  <a:srgbClr val="FF0000"/>
                </a:solidFill>
                <a:latin typeface="Cambria" pitchFamily="34" charset="0"/>
                <a:ea typeface="Cambria" pitchFamily="34" charset="-122"/>
                <a:cs typeface="Cambria" pitchFamily="34" charset="-120"/>
              </a:rPr>
              <a:t>Analyze angle region</a:t>
            </a:r>
          </a:p>
        </p:txBody>
      </p:sp>
      <p:sp>
        <p:nvSpPr>
          <p:cNvPr id="4" name="Text 1"/>
          <p:cNvSpPr/>
          <p:nvPr/>
        </p:nvSpPr>
        <p:spPr>
          <a:xfrm>
            <a:off x="548640" y="6199632"/>
            <a:ext cx="82296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Jiacheng Zhao · MSc Defense · University of Victoria</a:t>
            </a:r>
            <a:endParaRPr lang="en-US" sz="900" dirty="0"/>
          </a:p>
        </p:txBody>
      </p:sp>
      <p:sp>
        <p:nvSpPr>
          <p:cNvPr id="5" name="Text 2"/>
          <p:cNvSpPr/>
          <p:nvPr/>
        </p:nvSpPr>
        <p:spPr>
          <a:xfrm>
            <a:off x="11338560" y="619963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pic>
        <p:nvPicPr>
          <p:cNvPr id="6" name="Image 1" descr="/Users/I772771/jc/poly/slides/defense_assets/figs/fig_forward_regional.png"/>
          <p:cNvPicPr>
            <a:picLocks noChangeAspect="1"/>
          </p:cNvPicPr>
          <p:nvPr/>
        </p:nvPicPr>
        <p:blipFill>
          <a:blip r:embed="rId4"/>
          <a:stretch>
            <a:fillRect/>
          </a:stretch>
        </p:blipFill>
        <p:spPr>
          <a:xfrm>
            <a:off x="502920" y="2008682"/>
            <a:ext cx="6035040" cy="3297836"/>
          </a:xfrm>
          <a:prstGeom prst="rect">
            <a:avLst/>
          </a:prstGeom>
        </p:spPr>
      </p:pic>
      <p:sp>
        <p:nvSpPr>
          <p:cNvPr id="7" name="Text 3"/>
          <p:cNvSpPr/>
          <p:nvPr/>
        </p:nvSpPr>
        <p:spPr>
          <a:xfrm>
            <a:off x="6766407" y="3337560"/>
            <a:ext cx="2286000" cy="640080"/>
          </a:xfrm>
          <a:prstGeom prst="rect">
            <a:avLst/>
          </a:prstGeom>
          <a:noFill/>
          <a:ln/>
        </p:spPr>
        <p:txBody>
          <a:bodyPr wrap="square" lIns="0" tIns="0" rIns="0" bIns="0" rtlCol="0" anchor="ctr"/>
          <a:lstStyle/>
          <a:p>
            <a:pPr marL="0" indent="0" algn="ctr">
              <a:buNone/>
            </a:pPr>
            <a:r>
              <a:rPr lang="en-US" sz="4000" b="1" dirty="0">
                <a:solidFill>
                  <a:srgbClr val="0073BC"/>
                </a:solidFill>
                <a:latin typeface="Cambria" pitchFamily="34" charset="0"/>
                <a:ea typeface="Cambria" pitchFamily="34" charset="-122"/>
                <a:cs typeface="Cambria" pitchFamily="34" charset="-120"/>
              </a:rPr>
              <a:t>99%</a:t>
            </a:r>
            <a:endParaRPr lang="en-US" sz="4000" dirty="0"/>
          </a:p>
        </p:txBody>
      </p:sp>
      <p:sp>
        <p:nvSpPr>
          <p:cNvPr id="8" name="Text 4"/>
          <p:cNvSpPr/>
          <p:nvPr/>
        </p:nvSpPr>
        <p:spPr>
          <a:xfrm>
            <a:off x="6858000" y="4055364"/>
            <a:ext cx="2286000" cy="457200"/>
          </a:xfrm>
          <a:prstGeom prst="rect">
            <a:avLst/>
          </a:prstGeom>
          <a:noFill/>
          <a:ln/>
        </p:spPr>
        <p:txBody>
          <a:bodyPr wrap="square" lIns="0" tIns="0" rIns="0" bIns="0" rtlCol="0" anchor="ctr"/>
          <a:lstStyle/>
          <a:p>
            <a:pPr marL="0" indent="0" algn="ctr">
              <a:buNone/>
            </a:pPr>
            <a:r>
              <a:rPr lang="en-US" sz="1200" dirty="0">
                <a:solidFill>
                  <a:srgbClr val="5B6472"/>
                </a:solidFill>
                <a:latin typeface="Calibri" pitchFamily="34" charset="0"/>
                <a:ea typeface="Calibri" pitchFamily="34" charset="-122"/>
                <a:cs typeface="Calibri" pitchFamily="34" charset="-120"/>
              </a:rPr>
              <a:t>away from the switch</a:t>
            </a:r>
            <a:endParaRPr lang="en-US" sz="1200" dirty="0"/>
          </a:p>
        </p:txBody>
      </p:sp>
      <p:sp>
        <p:nvSpPr>
          <p:cNvPr id="9" name="Text 5"/>
          <p:cNvSpPr/>
          <p:nvPr/>
        </p:nvSpPr>
        <p:spPr>
          <a:xfrm>
            <a:off x="9281160" y="3396996"/>
            <a:ext cx="2286000" cy="640080"/>
          </a:xfrm>
          <a:prstGeom prst="rect">
            <a:avLst/>
          </a:prstGeom>
          <a:noFill/>
          <a:ln/>
        </p:spPr>
        <p:txBody>
          <a:bodyPr wrap="square" lIns="0" tIns="0" rIns="0" bIns="0" rtlCol="0" anchor="ctr"/>
          <a:lstStyle/>
          <a:p>
            <a:pPr marL="0" indent="0" algn="ctr">
              <a:buNone/>
            </a:pPr>
            <a:r>
              <a:rPr lang="en-US" sz="4000" b="1" dirty="0">
                <a:solidFill>
                  <a:srgbClr val="B37F00"/>
                </a:solidFill>
                <a:latin typeface="Cambria" pitchFamily="34" charset="0"/>
                <a:ea typeface="Cambria" pitchFamily="34" charset="-122"/>
                <a:cs typeface="Cambria" pitchFamily="34" charset="-120"/>
              </a:rPr>
              <a:t>60%</a:t>
            </a:r>
            <a:endParaRPr lang="en-US" sz="4000" dirty="0"/>
          </a:p>
        </p:txBody>
      </p:sp>
      <p:sp>
        <p:nvSpPr>
          <p:cNvPr id="10" name="Text 6"/>
          <p:cNvSpPr/>
          <p:nvPr/>
        </p:nvSpPr>
        <p:spPr>
          <a:xfrm>
            <a:off x="9281160" y="4055364"/>
            <a:ext cx="2286000" cy="457200"/>
          </a:xfrm>
          <a:prstGeom prst="rect">
            <a:avLst/>
          </a:prstGeom>
          <a:noFill/>
          <a:ln/>
        </p:spPr>
        <p:txBody>
          <a:bodyPr wrap="square" lIns="0" tIns="0" rIns="0" bIns="0" rtlCol="0" anchor="ctr"/>
          <a:lstStyle/>
          <a:p>
            <a:pPr marL="0" indent="0" algn="ctr">
              <a:buNone/>
            </a:pPr>
            <a:r>
              <a:rPr lang="en-US" sz="1200" dirty="0">
                <a:solidFill>
                  <a:srgbClr val="5B6472"/>
                </a:solidFill>
                <a:latin typeface="Calibri" pitchFamily="34" charset="0"/>
                <a:ea typeface="Calibri" pitchFamily="34" charset="-122"/>
                <a:cs typeface="Calibri" pitchFamily="34" charset="-120"/>
              </a:rPr>
              <a:t>right at the switch</a:t>
            </a:r>
            <a:endParaRPr lang="en-US" sz="1200" dirty="0"/>
          </a:p>
        </p:txBody>
      </p:sp>
      <p:sp>
        <p:nvSpPr>
          <p:cNvPr id="11" name="Text 0">
            <a:extLst>
              <a:ext uri="{FF2B5EF4-FFF2-40B4-BE49-F238E27FC236}">
                <a16:creationId xmlns:a16="http://schemas.microsoft.com/office/drawing/2014/main" id="{7689D2A3-2FE4-F58B-24AE-2FF405B9D5B7}"/>
              </a:ext>
            </a:extLst>
          </p:cNvPr>
          <p:cNvSpPr/>
          <p:nvPr/>
        </p:nvSpPr>
        <p:spPr>
          <a:xfrm>
            <a:off x="7316342" y="2066544"/>
            <a:ext cx="3929636" cy="457200"/>
          </a:xfrm>
          <a:prstGeom prst="rect">
            <a:avLst/>
          </a:prstGeom>
          <a:noFill/>
          <a:ln/>
        </p:spPr>
        <p:txBody>
          <a:bodyPr wrap="square" lIns="0" tIns="0" rIns="0" bIns="0" rtlCol="0" anchor="t"/>
          <a:lstStyle/>
          <a:p>
            <a:r>
              <a:rPr lang="en-US" sz="2600" b="1" dirty="0">
                <a:solidFill>
                  <a:srgbClr val="1A1A2E"/>
                </a:solidFill>
                <a:latin typeface="Cambria" pitchFamily="34" charset="0"/>
                <a:ea typeface="Cambria" pitchFamily="34" charset="-122"/>
                <a:cs typeface="Cambria" pitchFamily="34" charset="-120"/>
              </a:rPr>
              <a:t>74% overall in </a:t>
            </a:r>
            <a:r>
              <a:rPr lang="en-US" sz="2600" b="1" dirty="0" err="1">
                <a:solidFill>
                  <a:srgbClr val="1A1A2E"/>
                </a:solidFill>
                <a:latin typeface="Cambria" pitchFamily="34" charset="0"/>
                <a:ea typeface="Cambria" pitchFamily="34" charset="-122"/>
                <a:cs typeface="Cambria" pitchFamily="34" charset="-120"/>
              </a:rPr>
              <a:t>XGBoost</a:t>
            </a:r>
            <a:endParaRPr lang="en-US" sz="2600" dirty="0"/>
          </a:p>
        </p:txBody>
      </p:sp>
      <p:sp>
        <p:nvSpPr>
          <p:cNvPr id="12" name="Text 0">
            <a:extLst>
              <a:ext uri="{FF2B5EF4-FFF2-40B4-BE49-F238E27FC236}">
                <a16:creationId xmlns:a16="http://schemas.microsoft.com/office/drawing/2014/main" id="{FD494720-7857-D190-01E7-AE3BACC10EAE}"/>
              </a:ext>
            </a:extLst>
          </p:cNvPr>
          <p:cNvSpPr/>
          <p:nvPr/>
        </p:nvSpPr>
        <p:spPr>
          <a:xfrm>
            <a:off x="7316341" y="4885182"/>
            <a:ext cx="4148827" cy="457200"/>
          </a:xfrm>
          <a:prstGeom prst="rect">
            <a:avLst/>
          </a:prstGeom>
          <a:noFill/>
          <a:ln/>
        </p:spPr>
        <p:txBody>
          <a:bodyPr wrap="square" lIns="0" tIns="0" rIns="0" bIns="0" rtlCol="0" anchor="t"/>
          <a:lstStyle/>
          <a:p>
            <a:pPr marL="228600" indent="-228600">
              <a:spcBef>
                <a:spcPts val="1000"/>
              </a:spcBef>
              <a:buSzPct val="100000"/>
              <a:buFontTx/>
              <a:buChar char="▪"/>
            </a:pPr>
            <a:r>
              <a:rPr lang="en-US" b="1" dirty="0">
                <a:latin typeface="Cambria" pitchFamily="34" charset="0"/>
              </a:rPr>
              <a:t>Other scope is good enough, around </a:t>
            </a:r>
            <a:r>
              <a:rPr lang="en-CA" b="1" dirty="0">
                <a:solidFill>
                  <a:srgbClr val="FF0000"/>
                </a:solidFill>
                <a:latin typeface="Cambria" pitchFamily="34" charset="0"/>
              </a:rPr>
              <a:t>buckling bifurcation </a:t>
            </a:r>
            <a:r>
              <a:rPr lang="en-CA" b="1" dirty="0">
                <a:latin typeface="Cambria" pitchFamily="34" charset="0"/>
              </a:rPr>
              <a:t>is </a:t>
            </a:r>
            <a:r>
              <a:rPr lang="en-US" b="1" dirty="0">
                <a:latin typeface="Cambria" pitchFamily="34" charset="0"/>
              </a:rPr>
              <a:t>still </a:t>
            </a:r>
            <a:r>
              <a:rPr lang="en-US" b="1" dirty="0">
                <a:solidFill>
                  <a:srgbClr val="FF0000"/>
                </a:solidFill>
                <a:latin typeface="Cambria" pitchFamily="34" charset="0"/>
              </a:rPr>
              <a:t>hard</a:t>
            </a:r>
            <a:endParaRPr lang="en-US" dirty="0">
              <a:solidFill>
                <a:srgbClr val="FF0000"/>
              </a:solidFill>
            </a:endParaRPr>
          </a:p>
          <a:p>
            <a:pPr marL="228600" indent="-228600">
              <a:spcBef>
                <a:spcPts val="1000"/>
              </a:spcBef>
              <a:buSzPct val="100000"/>
              <a:buChar char="▪"/>
            </a:pPr>
            <a:endParaRPr lang="en-US" dirty="0">
              <a:latin typeface="Calibri" pitchFamily="34" charset="0"/>
              <a:ea typeface="Calibri" pitchFamily="34" charset="-122"/>
              <a:cs typeface="Calibri" pitchFamily="34" charset="-12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Users/I772771/jc/poly/slides/brand/uvic_stripe_white.png"/>
          <p:cNvPicPr>
            <a:picLocks noChangeAspect="1"/>
          </p:cNvPicPr>
          <p:nvPr/>
        </p:nvPicPr>
        <p:blipFill>
          <a:blip r:embed="rId3"/>
          <a:stretch>
            <a:fillRect/>
          </a:stretch>
        </p:blipFill>
        <p:spPr>
          <a:xfrm>
            <a:off x="0" y="205257"/>
            <a:ext cx="12191695" cy="6858000"/>
          </a:xfrm>
          <a:prstGeom prst="rect">
            <a:avLst/>
          </a:prstGeom>
        </p:spPr>
      </p:pic>
      <p:sp>
        <p:nvSpPr>
          <p:cNvPr id="3" name="Text 0"/>
          <p:cNvSpPr/>
          <p:nvPr/>
        </p:nvSpPr>
        <p:spPr>
          <a:xfrm>
            <a:off x="548640" y="475488"/>
            <a:ext cx="11155680" cy="777240"/>
          </a:xfrm>
          <a:prstGeom prst="rect">
            <a:avLst/>
          </a:prstGeom>
          <a:noFill/>
          <a:ln/>
        </p:spPr>
        <p:txBody>
          <a:bodyPr wrap="square" lIns="0" tIns="0" rIns="0" bIns="0" rtlCol="0" anchor="t"/>
          <a:lstStyle/>
          <a:p>
            <a:pPr marL="0" indent="0">
              <a:buNone/>
            </a:pPr>
            <a:r>
              <a:rPr lang="en-US" sz="2600" b="1" dirty="0">
                <a:solidFill>
                  <a:srgbClr val="0073BC"/>
                </a:solidFill>
                <a:latin typeface="Cambria" pitchFamily="34" charset="0"/>
                <a:ea typeface="Cambria" pitchFamily="34" charset="-122"/>
                <a:cs typeface="Cambria" pitchFamily="34" charset="-120"/>
              </a:rPr>
              <a:t>Gradient </a:t>
            </a:r>
            <a:r>
              <a:rPr lang="en-US" sz="2600" b="1" dirty="0">
                <a:solidFill>
                  <a:srgbClr val="FF0000"/>
                </a:solidFill>
                <a:latin typeface="Cambria" pitchFamily="34" charset="0"/>
                <a:ea typeface="Cambria" pitchFamily="34" charset="-122"/>
                <a:cs typeface="Cambria" pitchFamily="34" charset="-120"/>
              </a:rPr>
              <a:t>Methods Comparison</a:t>
            </a:r>
            <a:endParaRPr lang="en-US" sz="2600" dirty="0">
              <a:solidFill>
                <a:srgbClr val="FF0000"/>
              </a:solidFill>
            </a:endParaRPr>
          </a:p>
        </p:txBody>
      </p:sp>
      <p:sp>
        <p:nvSpPr>
          <p:cNvPr id="4" name="Text 1"/>
          <p:cNvSpPr/>
          <p:nvPr/>
        </p:nvSpPr>
        <p:spPr>
          <a:xfrm>
            <a:off x="548640" y="6199632"/>
            <a:ext cx="82296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Jiacheng Zhao · MSc Defense · University of Victoria</a:t>
            </a:r>
            <a:endParaRPr lang="en-US" sz="900" dirty="0"/>
          </a:p>
        </p:txBody>
      </p:sp>
      <p:sp>
        <p:nvSpPr>
          <p:cNvPr id="5" name="Text 2"/>
          <p:cNvSpPr/>
          <p:nvPr/>
        </p:nvSpPr>
        <p:spPr>
          <a:xfrm>
            <a:off x="11338560" y="619963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14</a:t>
            </a:r>
            <a:endParaRPr lang="en-US" sz="900" dirty="0"/>
          </a:p>
        </p:txBody>
      </p:sp>
      <p:pic>
        <p:nvPicPr>
          <p:cNvPr id="6" name="Image 1" descr="/Users/I772771/jc/poly/slides/defense_assets/figs/fig_grad_progression.png"/>
          <p:cNvPicPr>
            <a:picLocks noChangeAspect="1"/>
          </p:cNvPicPr>
          <p:nvPr/>
        </p:nvPicPr>
        <p:blipFill>
          <a:blip r:embed="rId4"/>
          <a:stretch>
            <a:fillRect/>
          </a:stretch>
        </p:blipFill>
        <p:spPr>
          <a:xfrm>
            <a:off x="502920" y="2052536"/>
            <a:ext cx="6035040" cy="3210128"/>
          </a:xfrm>
          <a:prstGeom prst="rect">
            <a:avLst/>
          </a:prstGeom>
        </p:spPr>
      </p:pic>
      <p:sp>
        <p:nvSpPr>
          <p:cNvPr id="7" name="Text 3"/>
          <p:cNvSpPr/>
          <p:nvPr/>
        </p:nvSpPr>
        <p:spPr>
          <a:xfrm>
            <a:off x="6766560" y="2486346"/>
            <a:ext cx="4937760" cy="2817174"/>
          </a:xfrm>
          <a:prstGeom prst="rect">
            <a:avLst/>
          </a:prstGeom>
          <a:noFill/>
          <a:ln/>
        </p:spPr>
        <p:txBody>
          <a:bodyPr wrap="square" lIns="0" tIns="0" rIns="0" bIns="0" rtlCol="0" anchor="t"/>
          <a:lstStyle/>
          <a:p>
            <a:pPr marL="228600" indent="-228600">
              <a:buSzPct val="100000"/>
              <a:buChar char="▪"/>
            </a:pPr>
            <a:r>
              <a:rPr lang="en-US" sz="2000" b="1" dirty="0">
                <a:solidFill>
                  <a:srgbClr val="1A1A2E"/>
                </a:solidFill>
                <a:latin typeface="Calibri" pitchFamily="34" charset="0"/>
                <a:ea typeface="Calibri" pitchFamily="34" charset="-122"/>
                <a:cs typeface="Calibri" pitchFamily="34" charset="-120"/>
              </a:rPr>
              <a:t>Plain approach on raw numbers: ~30% correct</a:t>
            </a:r>
            <a:endParaRPr lang="en-US" sz="2000" dirty="0"/>
          </a:p>
          <a:p>
            <a:pPr marL="228600" indent="-228600">
              <a:spcBef>
                <a:spcPts val="1000"/>
              </a:spcBef>
              <a:buSzPct val="100000"/>
              <a:buChar char="▪"/>
            </a:pPr>
            <a:r>
              <a:rPr lang="en-US" sz="2000" b="1" dirty="0" err="1">
                <a:solidFill>
                  <a:srgbClr val="FF0000"/>
                </a:solidFill>
                <a:latin typeface="Calibri" pitchFamily="34" charset="0"/>
                <a:ea typeface="Calibri" pitchFamily="34" charset="-122"/>
                <a:cs typeface="Calibri" pitchFamily="34" charset="-120"/>
              </a:rPr>
              <a:t>XGBoost</a:t>
            </a:r>
            <a:r>
              <a:rPr lang="en-US" sz="2000" b="1" dirty="0">
                <a:solidFill>
                  <a:srgbClr val="FF0000"/>
                </a:solidFill>
                <a:latin typeface="Calibri" pitchFamily="34" charset="0"/>
                <a:ea typeface="Calibri" pitchFamily="34" charset="-122"/>
                <a:cs typeface="Calibri" pitchFamily="34" charset="-120"/>
              </a:rPr>
              <a:t> w/ decomposition </a:t>
            </a:r>
            <a:r>
              <a:rPr lang="en-US" sz="2000" b="1" dirty="0">
                <a:solidFill>
                  <a:srgbClr val="1A1A2E"/>
                </a:solidFill>
                <a:latin typeface="Calibri" pitchFamily="34" charset="0"/>
                <a:ea typeface="Calibri" pitchFamily="34" charset="-122"/>
                <a:cs typeface="Calibri" pitchFamily="34" charset="-120"/>
              </a:rPr>
              <a:t>jumps to 67%, +30% improved</a:t>
            </a:r>
          </a:p>
          <a:p>
            <a:pPr marL="228600" indent="-228600">
              <a:spcBef>
                <a:spcPts val="1000"/>
              </a:spcBef>
              <a:buSzPct val="100000"/>
              <a:buChar char="▪"/>
            </a:pPr>
            <a:r>
              <a:rPr lang="en-US" sz="2000" b="1" dirty="0">
                <a:solidFill>
                  <a:srgbClr val="1A1A2E"/>
                </a:solidFill>
                <a:latin typeface="Calibri" pitchFamily="34" charset="0"/>
                <a:ea typeface="Calibri" pitchFamily="34" charset="-122"/>
                <a:cs typeface="Calibri" pitchFamily="34" charset="-120"/>
              </a:rPr>
              <a:t>Then a bigger neural net: 69%, only 2% improved </a:t>
            </a:r>
          </a:p>
          <a:p>
            <a:pPr marL="228600" indent="-228600">
              <a:spcBef>
                <a:spcPts val="1000"/>
              </a:spcBef>
              <a:buSzPct val="100000"/>
              <a:buChar char="▪"/>
            </a:pPr>
            <a:r>
              <a:rPr lang="en-US" sz="2000" b="1" dirty="0">
                <a:solidFill>
                  <a:srgbClr val="FF0000"/>
                </a:solidFill>
                <a:latin typeface="Calibri" pitchFamily="34" charset="0"/>
                <a:cs typeface="Calibri" pitchFamily="34" charset="-120"/>
              </a:rPr>
              <a:t>Sign-magnitude decomposition works</a:t>
            </a:r>
            <a:endParaRPr lang="en-US" sz="2000"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Users/I772771/jc/poly/slides/brand/uvic_stripe_white.png"/>
          <p:cNvPicPr>
            <a:picLocks noChangeAspect="1"/>
          </p:cNvPicPr>
          <p:nvPr/>
        </p:nvPicPr>
        <p:blipFill>
          <a:blip r:embed="rId3"/>
          <a:stretch>
            <a:fillRect/>
          </a:stretch>
        </p:blipFill>
        <p:spPr>
          <a:xfrm>
            <a:off x="305" y="0"/>
            <a:ext cx="12191695" cy="6858000"/>
          </a:xfrm>
          <a:prstGeom prst="rect">
            <a:avLst/>
          </a:prstGeom>
        </p:spPr>
      </p:pic>
      <p:sp>
        <p:nvSpPr>
          <p:cNvPr id="3" name="Text 0"/>
          <p:cNvSpPr/>
          <p:nvPr/>
        </p:nvSpPr>
        <p:spPr>
          <a:xfrm>
            <a:off x="548640" y="475488"/>
            <a:ext cx="11155680" cy="777240"/>
          </a:xfrm>
          <a:prstGeom prst="rect">
            <a:avLst/>
          </a:prstGeom>
          <a:noFill/>
          <a:ln/>
        </p:spPr>
        <p:txBody>
          <a:bodyPr wrap="square" lIns="0" tIns="0" rIns="0" bIns="0" rtlCol="0" anchor="t"/>
          <a:lstStyle/>
          <a:p>
            <a:pPr marL="0" indent="0">
              <a:buNone/>
            </a:pPr>
            <a:r>
              <a:rPr lang="en-US" sz="2600" b="1" dirty="0">
                <a:solidFill>
                  <a:srgbClr val="0073BC"/>
                </a:solidFill>
                <a:latin typeface="Cambria" pitchFamily="34" charset="0"/>
                <a:ea typeface="Cambria" pitchFamily="34" charset="-122"/>
                <a:cs typeface="Cambria" pitchFamily="34" charset="-120"/>
              </a:rPr>
              <a:t>Gradient </a:t>
            </a:r>
            <a:r>
              <a:rPr lang="en-US" sz="2600" b="1" dirty="0">
                <a:solidFill>
                  <a:srgbClr val="FF0000"/>
                </a:solidFill>
                <a:latin typeface="Cambria" pitchFamily="34" charset="0"/>
                <a:ea typeface="Cambria" pitchFamily="34" charset="-122"/>
                <a:cs typeface="Cambria" pitchFamily="34" charset="-120"/>
              </a:rPr>
              <a:t>3 Predictions Performance Comparison </a:t>
            </a:r>
            <a:endParaRPr lang="en-US" sz="2600" dirty="0">
              <a:solidFill>
                <a:srgbClr val="FF0000"/>
              </a:solidFill>
            </a:endParaRPr>
          </a:p>
        </p:txBody>
      </p:sp>
      <p:sp>
        <p:nvSpPr>
          <p:cNvPr id="4" name="Text 1"/>
          <p:cNvSpPr/>
          <p:nvPr/>
        </p:nvSpPr>
        <p:spPr>
          <a:xfrm>
            <a:off x="548640" y="6199632"/>
            <a:ext cx="82296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Jiacheng Zhao · MSc Defense · University of Victoria</a:t>
            </a:r>
            <a:endParaRPr lang="en-US" sz="900" dirty="0"/>
          </a:p>
        </p:txBody>
      </p:sp>
      <p:sp>
        <p:nvSpPr>
          <p:cNvPr id="5" name="Text 2"/>
          <p:cNvSpPr/>
          <p:nvPr/>
        </p:nvSpPr>
        <p:spPr>
          <a:xfrm>
            <a:off x="11338560" y="619963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15</a:t>
            </a:r>
            <a:endParaRPr lang="en-US" sz="900" dirty="0"/>
          </a:p>
        </p:txBody>
      </p:sp>
      <p:pic>
        <p:nvPicPr>
          <p:cNvPr id="6" name="Image 1" descr="/Users/I772771/jc/poly/slides/defense_assets/figs/fig_grad_three.png"/>
          <p:cNvPicPr>
            <a:picLocks noChangeAspect="1"/>
          </p:cNvPicPr>
          <p:nvPr/>
        </p:nvPicPr>
        <p:blipFill>
          <a:blip r:embed="rId4"/>
          <a:stretch>
            <a:fillRect/>
          </a:stretch>
        </p:blipFill>
        <p:spPr>
          <a:xfrm>
            <a:off x="649224" y="1600200"/>
            <a:ext cx="6016752" cy="3200400"/>
          </a:xfrm>
          <a:prstGeom prst="rect">
            <a:avLst/>
          </a:prstGeom>
        </p:spPr>
      </p:pic>
      <p:sp>
        <p:nvSpPr>
          <p:cNvPr id="7" name="Text 3"/>
          <p:cNvSpPr/>
          <p:nvPr/>
        </p:nvSpPr>
        <p:spPr>
          <a:xfrm>
            <a:off x="502920" y="4846320"/>
            <a:ext cx="6309360" cy="320040"/>
          </a:xfrm>
          <a:prstGeom prst="rect">
            <a:avLst/>
          </a:prstGeom>
          <a:noFill/>
          <a:ln/>
        </p:spPr>
        <p:txBody>
          <a:bodyPr wrap="square" lIns="0" tIns="0" rIns="0" bIns="0"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Each knob’s accuracy tracks how rough its physics is.</a:t>
            </a:r>
            <a:endParaRPr lang="en-US" sz="1100" dirty="0"/>
          </a:p>
        </p:txBody>
      </p:sp>
      <p:sp>
        <p:nvSpPr>
          <p:cNvPr id="8" name="Text 4"/>
          <p:cNvSpPr/>
          <p:nvPr/>
        </p:nvSpPr>
        <p:spPr>
          <a:xfrm>
            <a:off x="7097115" y="2094614"/>
            <a:ext cx="4663440" cy="1128965"/>
          </a:xfrm>
          <a:prstGeom prst="rect">
            <a:avLst/>
          </a:prstGeom>
          <a:noFill/>
          <a:ln/>
        </p:spPr>
        <p:txBody>
          <a:bodyPr wrap="square" lIns="0" tIns="0" rIns="0" bIns="0" rtlCol="0" anchor="t"/>
          <a:lstStyle/>
          <a:p>
            <a:pPr marL="228600" indent="-228600">
              <a:buSzPct val="100000"/>
              <a:buChar char="▪"/>
            </a:pPr>
            <a:r>
              <a:rPr lang="en-US" sz="2000" b="1" dirty="0">
                <a:solidFill>
                  <a:srgbClr val="1A1A2E"/>
                </a:solidFill>
                <a:latin typeface="Calibri" pitchFamily="34" charset="0"/>
                <a:ea typeface="Calibri" pitchFamily="34" charset="-122"/>
                <a:cs typeface="Calibri" pitchFamily="34" charset="-120"/>
              </a:rPr>
              <a:t>Thickness dL/dh,  ~75%</a:t>
            </a:r>
          </a:p>
          <a:p>
            <a:pPr marL="228600" indent="-228600">
              <a:buSzPct val="100000"/>
              <a:buChar char="▪"/>
            </a:pPr>
            <a:r>
              <a:rPr lang="en-US" sz="2000" b="1" dirty="0">
                <a:solidFill>
                  <a:srgbClr val="1A1A2E"/>
                </a:solidFill>
                <a:latin typeface="Calibri" pitchFamily="34" charset="0"/>
                <a:ea typeface="Calibri" pitchFamily="34" charset="-122"/>
                <a:cs typeface="Calibri" pitchFamily="34" charset="-120"/>
              </a:rPr>
              <a:t>Angle dL/</a:t>
            </a:r>
            <a:r>
              <a:rPr lang="en-US" sz="2000" b="1" dirty="0" err="1">
                <a:solidFill>
                  <a:srgbClr val="1A1A2E"/>
                </a:solidFill>
                <a:latin typeface="Calibri" pitchFamily="34" charset="0"/>
                <a:ea typeface="Calibri" pitchFamily="34" charset="-122"/>
                <a:cs typeface="Calibri" pitchFamily="34" charset="-120"/>
              </a:rPr>
              <a:t>d</a:t>
            </a:r>
            <a:r>
              <a:rPr lang="en-US" sz="2000" b="1" dirty="0" err="1">
                <a:solidFill>
                  <a:srgbClr val="FF0000"/>
                </a:solidFill>
                <a:latin typeface="Calibri" pitchFamily="34" charset="0"/>
                <a:ea typeface="Calibri" pitchFamily="34" charset="-122"/>
                <a:cs typeface="Calibri" pitchFamily="34" charset="-120"/>
              </a:rPr>
              <a:t>θ</a:t>
            </a:r>
            <a:r>
              <a:rPr lang="en-US" sz="2000" b="1" dirty="0">
                <a:solidFill>
                  <a:srgbClr val="1A1A2E"/>
                </a:solidFill>
                <a:latin typeface="Calibri" pitchFamily="34" charset="0"/>
                <a:ea typeface="Calibri" pitchFamily="34" charset="-122"/>
                <a:cs typeface="Calibri" pitchFamily="34" charset="-120"/>
              </a:rPr>
              <a:t>,  ~47%, hard to predict</a:t>
            </a:r>
          </a:p>
        </p:txBody>
      </p:sp>
      <p:sp>
        <p:nvSpPr>
          <p:cNvPr id="9" name="Text 3">
            <a:extLst>
              <a:ext uri="{FF2B5EF4-FFF2-40B4-BE49-F238E27FC236}">
                <a16:creationId xmlns:a16="http://schemas.microsoft.com/office/drawing/2014/main" id="{AD7D3801-2B9D-E167-C167-6B3D1E034AC4}"/>
              </a:ext>
            </a:extLst>
          </p:cNvPr>
          <p:cNvSpPr/>
          <p:nvPr/>
        </p:nvSpPr>
        <p:spPr>
          <a:xfrm>
            <a:off x="7771060" y="3049631"/>
            <a:ext cx="2014360" cy="1531939"/>
          </a:xfrm>
          <a:prstGeom prst="rect">
            <a:avLst/>
          </a:prstGeom>
          <a:noFill/>
          <a:ln/>
        </p:spPr>
        <p:txBody>
          <a:bodyPr wrap="square" lIns="0" tIns="0" rIns="0" bIns="0" rtlCol="0" anchor="ctr"/>
          <a:lstStyle/>
          <a:p>
            <a:pPr marL="228600" indent="-228600">
              <a:spcBef>
                <a:spcPts val="1000"/>
              </a:spcBef>
              <a:buSzPct val="100000"/>
              <a:buFontTx/>
              <a:buChar char="▪"/>
            </a:pPr>
            <a:r>
              <a:rPr lang="en-US" sz="1400" b="1" dirty="0">
                <a:solidFill>
                  <a:srgbClr val="FF0000"/>
                </a:solidFill>
                <a:latin typeface="Calibri" pitchFamily="34" charset="0"/>
                <a:ea typeface="Calibri" pitchFamily="34" charset="-122"/>
                <a:cs typeface="Calibri" pitchFamily="34" charset="-120"/>
              </a:rPr>
              <a:t>RECAP</a:t>
            </a:r>
          </a:p>
          <a:p>
            <a:pPr marL="228600" indent="-228600">
              <a:spcBef>
                <a:spcPts val="1000"/>
              </a:spcBef>
              <a:buSzPct val="100000"/>
              <a:buFontTx/>
              <a:buChar char="▪"/>
            </a:pPr>
            <a:r>
              <a:rPr lang="en-US" sz="1400" b="1" dirty="0">
                <a:solidFill>
                  <a:srgbClr val="FF0000"/>
                </a:solidFill>
                <a:latin typeface="Calibri" pitchFamily="34" charset="0"/>
                <a:ea typeface="Calibri" pitchFamily="34" charset="-122"/>
                <a:cs typeface="Calibri" pitchFamily="34" charset="-120"/>
              </a:rPr>
              <a:t>Apex Angle </a:t>
            </a:r>
            <a:r>
              <a:rPr lang="en-US" sz="1400" b="1" dirty="0" err="1">
                <a:solidFill>
                  <a:srgbClr val="FF0000"/>
                </a:solidFill>
                <a:latin typeface="Calibri" pitchFamily="34" charset="0"/>
                <a:ea typeface="Calibri" pitchFamily="34" charset="-122"/>
                <a:cs typeface="Calibri" pitchFamily="34" charset="-120"/>
              </a:rPr>
              <a:t>θ</a:t>
            </a:r>
            <a:r>
              <a:rPr lang="en-US" sz="1400" b="1" dirty="0">
                <a:solidFill>
                  <a:srgbClr val="FF0000"/>
                </a:solidFill>
                <a:latin typeface="Calibri" pitchFamily="34" charset="0"/>
                <a:ea typeface="Calibri" pitchFamily="34" charset="-122"/>
                <a:cs typeface="Calibri" pitchFamily="34" charset="-120"/>
              </a:rPr>
              <a:t>,  </a:t>
            </a:r>
          </a:p>
          <a:p>
            <a:pPr marL="228600" indent="-228600">
              <a:spcBef>
                <a:spcPts val="1000"/>
              </a:spcBef>
              <a:buSzPct val="100000"/>
              <a:buFontTx/>
              <a:buChar char="▪"/>
            </a:pPr>
            <a:r>
              <a:rPr lang="en-US" sz="1400" b="1" dirty="0">
                <a:solidFill>
                  <a:srgbClr val="FF0000"/>
                </a:solidFill>
                <a:latin typeface="Calibri" pitchFamily="34" charset="0"/>
                <a:ea typeface="Calibri" pitchFamily="34" charset="-122"/>
                <a:cs typeface="Calibri" pitchFamily="34" charset="-120"/>
              </a:rPr>
              <a:t>Wall </a:t>
            </a:r>
            <a:r>
              <a:rPr lang="en-US" sz="1400" b="1" dirty="0" err="1">
                <a:solidFill>
                  <a:srgbClr val="FF0000"/>
                </a:solidFill>
                <a:latin typeface="Calibri" pitchFamily="34" charset="0"/>
                <a:ea typeface="Calibri" pitchFamily="34" charset="-122"/>
                <a:cs typeface="Calibri" pitchFamily="34" charset="-120"/>
              </a:rPr>
              <a:t>Thickaness</a:t>
            </a:r>
            <a:r>
              <a:rPr lang="en-US" sz="1400" b="1" dirty="0">
                <a:solidFill>
                  <a:srgbClr val="FF0000"/>
                </a:solidFill>
                <a:latin typeface="Calibri" pitchFamily="34" charset="0"/>
                <a:ea typeface="Calibri" pitchFamily="34" charset="-122"/>
                <a:cs typeface="Calibri" pitchFamily="34" charset="-120"/>
              </a:rPr>
              <a:t> h</a:t>
            </a:r>
          </a:p>
          <a:p>
            <a:pPr marL="228600" indent="-228600">
              <a:spcBef>
                <a:spcPts val="1000"/>
              </a:spcBef>
              <a:buSzPct val="100000"/>
              <a:buFontTx/>
              <a:buChar char="▪"/>
            </a:pPr>
            <a:r>
              <a:rPr lang="en-US" sz="1400" b="1" dirty="0">
                <a:solidFill>
                  <a:srgbClr val="FF0000"/>
                </a:solidFill>
                <a:latin typeface="Calibri" pitchFamily="34" charset="0"/>
                <a:ea typeface="Calibri" pitchFamily="34" charset="-122"/>
                <a:cs typeface="Calibri" pitchFamily="34" charset="-120"/>
              </a:rPr>
              <a:t>Material Stiffness E</a:t>
            </a:r>
            <a:endParaRPr lang="en-US" sz="1400" dirty="0">
              <a:solidFill>
                <a:srgbClr val="FF0000"/>
              </a:solidFill>
              <a:latin typeface="Calibri" pitchFamily="34" charset="0"/>
              <a:ea typeface="Calibri" pitchFamily="34" charset="-122"/>
              <a:cs typeface="Calibri" pitchFamily="34" charset="-12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Users/I772771/jc/poly/slides/brand/uvic_stripe_white.png"/>
          <p:cNvPicPr>
            <a:picLocks noChangeAspect="1"/>
          </p:cNvPicPr>
          <p:nvPr/>
        </p:nvPicPr>
        <p:blipFill>
          <a:blip r:embed="rId2"/>
          <a:stretch>
            <a:fillRect/>
          </a:stretch>
        </p:blipFill>
        <p:spPr>
          <a:xfrm>
            <a:off x="0" y="0"/>
            <a:ext cx="12191695" cy="6858000"/>
          </a:xfrm>
          <a:prstGeom prst="rect">
            <a:avLst/>
          </a:prstGeom>
        </p:spPr>
      </p:pic>
      <p:sp>
        <p:nvSpPr>
          <p:cNvPr id="3" name="Text 0"/>
          <p:cNvSpPr/>
          <p:nvPr/>
        </p:nvSpPr>
        <p:spPr>
          <a:xfrm>
            <a:off x="548640" y="475488"/>
            <a:ext cx="11155680" cy="777240"/>
          </a:xfrm>
          <a:prstGeom prst="rect">
            <a:avLst/>
          </a:prstGeom>
          <a:noFill/>
          <a:ln/>
        </p:spPr>
        <p:txBody>
          <a:bodyPr wrap="square" lIns="0" tIns="0" rIns="0" bIns="0" rtlCol="0" anchor="t"/>
          <a:lstStyle/>
          <a:p>
            <a:pPr marL="0" indent="0">
              <a:buNone/>
            </a:pPr>
            <a:r>
              <a:rPr sz="2600" b="1" dirty="0">
                <a:solidFill>
                  <a:srgbClr val="0073BC"/>
                </a:solidFill>
                <a:latin typeface="Cambria"/>
              </a:rPr>
              <a:t>Spee</a:t>
            </a:r>
            <a:r>
              <a:rPr lang="en-CA" sz="2600" b="1" dirty="0">
                <a:solidFill>
                  <a:srgbClr val="0073BC"/>
                </a:solidFill>
                <a:latin typeface="Cambria"/>
              </a:rPr>
              <a:t>ding</a:t>
            </a:r>
            <a:endParaRPr lang="en-US" sz="2600" dirty="0"/>
          </a:p>
        </p:txBody>
      </p:sp>
      <p:sp>
        <p:nvSpPr>
          <p:cNvPr id="4" name="Text 1"/>
          <p:cNvSpPr/>
          <p:nvPr/>
        </p:nvSpPr>
        <p:spPr>
          <a:xfrm>
            <a:off x="548640" y="6199632"/>
            <a:ext cx="82296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Jiacheng Zhao · MSc Defense · University of Victoria</a:t>
            </a:r>
            <a:endParaRPr lang="en-US" sz="900" dirty="0"/>
          </a:p>
        </p:txBody>
      </p:sp>
      <p:sp>
        <p:nvSpPr>
          <p:cNvPr id="5" name="Text 2"/>
          <p:cNvSpPr/>
          <p:nvPr/>
        </p:nvSpPr>
        <p:spPr>
          <a:xfrm>
            <a:off x="11338560" y="6199632"/>
            <a:ext cx="457200" cy="274320"/>
          </a:xfrm>
          <a:prstGeom prst="rect">
            <a:avLst/>
          </a:prstGeom>
          <a:noFill/>
          <a:ln/>
        </p:spPr>
        <p:txBody>
          <a:bodyPr wrap="square" lIns="0" tIns="0" rIns="0" bIns="0" rtlCol="0" anchor="ctr"/>
          <a:lstStyle/>
          <a:p>
            <a:pPr marL="0" indent="0" algn="r">
              <a:buNone/>
            </a:pPr>
            <a:r>
              <a:rPr sz="900">
                <a:solidFill>
                  <a:srgbClr val="5B6472"/>
                </a:solidFill>
                <a:latin typeface="Calibri"/>
              </a:rPr>
              <a:t>4</a:t>
            </a:r>
            <a:endParaRPr lang="en-US" sz="900" dirty="0"/>
          </a:p>
        </p:txBody>
      </p:sp>
      <p:pic>
        <p:nvPicPr>
          <p:cNvPr id="6" name="Picture 5" descr="timing.png"/>
          <p:cNvPicPr>
            <a:picLocks noChangeAspect="1"/>
          </p:cNvPicPr>
          <p:nvPr/>
        </p:nvPicPr>
        <p:blipFill>
          <a:blip r:embed="rId3"/>
          <a:stretch>
            <a:fillRect/>
          </a:stretch>
        </p:blipFill>
        <p:spPr>
          <a:xfrm>
            <a:off x="1280160" y="1417320"/>
            <a:ext cx="9601200" cy="3698045"/>
          </a:xfrm>
          <a:prstGeom prst="rect">
            <a:avLst/>
          </a:prstGeom>
        </p:spPr>
      </p:pic>
      <p:sp>
        <p:nvSpPr>
          <p:cNvPr id="7" name="TextBox 6"/>
          <p:cNvSpPr txBox="1"/>
          <p:nvPr/>
        </p:nvSpPr>
        <p:spPr>
          <a:xfrm>
            <a:off x="2545336" y="5623560"/>
            <a:ext cx="7070846" cy="400110"/>
          </a:xfrm>
          <a:prstGeom prst="rect">
            <a:avLst/>
          </a:prstGeom>
          <a:noFill/>
        </p:spPr>
        <p:txBody>
          <a:bodyPr wrap="none">
            <a:spAutoFit/>
          </a:bodyPr>
          <a:lstStyle/>
          <a:p>
            <a:pPr algn="ctr"/>
            <a:r>
              <a:rPr sz="2000" b="1" dirty="0">
                <a:solidFill>
                  <a:srgbClr val="1A1A2E"/>
                </a:solidFill>
                <a:latin typeface="Calibri"/>
              </a:rPr>
              <a:t>~10⁷x faster than FEM</a:t>
            </a:r>
            <a:r>
              <a:rPr lang="en-CA" sz="2000" b="1" dirty="0">
                <a:solidFill>
                  <a:srgbClr val="1A1A2E"/>
                </a:solidFill>
                <a:latin typeface="Calibri"/>
              </a:rPr>
              <a:t>. Make a million-design search affordable</a:t>
            </a:r>
            <a:endParaRPr sz="2000" b="1" dirty="0">
              <a:solidFill>
                <a:srgbClr val="1A1A2E"/>
              </a:solidFill>
              <a:latin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Users/I772771/jc/poly/slides/brand/uvic_stripe_white.png"/>
          <p:cNvPicPr>
            <a:picLocks noChangeAspect="1"/>
          </p:cNvPicPr>
          <p:nvPr/>
        </p:nvPicPr>
        <p:blipFill>
          <a:blip r:embed="rId3"/>
          <a:stretch>
            <a:fillRect/>
          </a:stretch>
        </p:blipFill>
        <p:spPr>
          <a:xfrm>
            <a:off x="138223" y="15949"/>
            <a:ext cx="12191695" cy="6858000"/>
          </a:xfrm>
          <a:prstGeom prst="rect">
            <a:avLst/>
          </a:prstGeom>
        </p:spPr>
      </p:pic>
      <p:sp>
        <p:nvSpPr>
          <p:cNvPr id="3" name="Text 0"/>
          <p:cNvSpPr/>
          <p:nvPr/>
        </p:nvSpPr>
        <p:spPr>
          <a:xfrm>
            <a:off x="548640" y="475488"/>
            <a:ext cx="11155680" cy="777240"/>
          </a:xfrm>
          <a:prstGeom prst="rect">
            <a:avLst/>
          </a:prstGeom>
          <a:noFill/>
          <a:ln/>
        </p:spPr>
        <p:txBody>
          <a:bodyPr wrap="square" lIns="0" tIns="0" rIns="0" bIns="0" rtlCol="0" anchor="t"/>
          <a:lstStyle/>
          <a:p>
            <a:pPr marL="0" indent="0">
              <a:buNone/>
            </a:pPr>
            <a:r>
              <a:rPr lang="en-US" sz="2600" b="1" dirty="0">
                <a:solidFill>
                  <a:srgbClr val="0073BC"/>
                </a:solidFill>
                <a:latin typeface="Cambria" pitchFamily="34" charset="0"/>
                <a:ea typeface="Cambria" pitchFamily="34" charset="-122"/>
                <a:cs typeface="Cambria" pitchFamily="34" charset="-120"/>
              </a:rPr>
              <a:t>Incorporation  </a:t>
            </a:r>
            <a:r>
              <a:rPr lang="en-US" sz="2600" b="1" dirty="0">
                <a:solidFill>
                  <a:srgbClr val="1A1A2E"/>
                </a:solidFill>
                <a:latin typeface="Cambria" pitchFamily="34" charset="0"/>
                <a:ea typeface="Cambria" pitchFamily="34" charset="-122"/>
                <a:cs typeface="Cambria" pitchFamily="34" charset="-120"/>
              </a:rPr>
              <a:t>Fast predictor first, simulator to confirm</a:t>
            </a:r>
            <a:endParaRPr lang="en-US" sz="2600" dirty="0"/>
          </a:p>
        </p:txBody>
      </p:sp>
      <p:sp>
        <p:nvSpPr>
          <p:cNvPr id="4" name="Text 1"/>
          <p:cNvSpPr/>
          <p:nvPr/>
        </p:nvSpPr>
        <p:spPr>
          <a:xfrm>
            <a:off x="548640" y="6199632"/>
            <a:ext cx="82296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Jiacheng Zhao · MSc Defense · University of Victoria</a:t>
            </a:r>
            <a:endParaRPr lang="en-US" sz="900" dirty="0"/>
          </a:p>
        </p:txBody>
      </p:sp>
      <p:sp>
        <p:nvSpPr>
          <p:cNvPr id="5" name="Text 2"/>
          <p:cNvSpPr/>
          <p:nvPr/>
        </p:nvSpPr>
        <p:spPr>
          <a:xfrm>
            <a:off x="11338560" y="619963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2969655256"/>
              </p:ext>
            </p:extLst>
          </p:nvPr>
        </p:nvGraphicFramePr>
        <p:xfrm>
          <a:off x="548640" y="4167963"/>
          <a:ext cx="7308820" cy="1927865"/>
        </p:xfrm>
        <a:graphic>
          <a:graphicData uri="http://schemas.openxmlformats.org/drawingml/2006/table">
            <a:tbl>
              <a:tblPr/>
              <a:tblGrid>
                <a:gridCol w="2840694">
                  <a:extLst>
                    <a:ext uri="{9D8B030D-6E8A-4147-A177-3AD203B41FA5}">
                      <a16:colId xmlns:a16="http://schemas.microsoft.com/office/drawing/2014/main" val="20000"/>
                    </a:ext>
                  </a:extLst>
                </a:gridCol>
                <a:gridCol w="1320889">
                  <a:extLst>
                    <a:ext uri="{9D8B030D-6E8A-4147-A177-3AD203B41FA5}">
                      <a16:colId xmlns:a16="http://schemas.microsoft.com/office/drawing/2014/main" val="20001"/>
                    </a:ext>
                  </a:extLst>
                </a:gridCol>
                <a:gridCol w="3147237">
                  <a:extLst>
                    <a:ext uri="{9D8B030D-6E8A-4147-A177-3AD203B41FA5}">
                      <a16:colId xmlns:a16="http://schemas.microsoft.com/office/drawing/2014/main" val="20002"/>
                    </a:ext>
                  </a:extLst>
                </a:gridCol>
              </a:tblGrid>
              <a:tr h="300956">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When</a:t>
                      </a:r>
                      <a:endParaRPr lang="en-US" sz="1400" dirty="0">
                        <a:latin typeface="Calibri" charset="0"/>
                        <a:ea typeface="Calibri" charset="0"/>
                        <a:cs typeface="Calibri" charset="0"/>
                      </a:endParaRPr>
                    </a:p>
                  </a:txBody>
                  <a:tcPr marL="50800" marR="50800" marT="50800" marB="50800"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002858"/>
                    </a:solidFill>
                  </a:tcPr>
                </a:tc>
                <a:tc>
                  <a:txBody>
                    <a:bodyPr/>
                    <a:lstStyle/>
                    <a:p>
                      <a:pPr marL="0" indent="0" algn="l">
                        <a:buNone/>
                      </a:pPr>
                      <a:r>
                        <a:rPr lang="en-US" sz="1400" b="1" dirty="0">
                          <a:solidFill>
                            <a:srgbClr val="FFFFFF"/>
                          </a:solidFill>
                          <a:latin typeface="Calibri" pitchFamily="34" charset="0"/>
                          <a:ea typeface="Calibri" charset="0"/>
                          <a:cs typeface="Calibri" pitchFamily="34" charset="-120"/>
                        </a:rPr>
                        <a:t>Confidence</a:t>
                      </a:r>
                      <a:endParaRPr lang="en-US" sz="1400" dirty="0">
                        <a:latin typeface="Calibri" charset="0"/>
                        <a:ea typeface="Calibri" charset="0"/>
                        <a:cs typeface="Calibri" charset="0"/>
                      </a:endParaRPr>
                    </a:p>
                  </a:txBody>
                  <a:tcPr marL="50800" marR="50800" marT="50800" marB="50800"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00285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What to do</a:t>
                      </a:r>
                      <a:endParaRPr lang="en-US" sz="1400" dirty="0">
                        <a:latin typeface="Calibri" charset="0"/>
                        <a:ea typeface="Calibri" charset="0"/>
                        <a:cs typeface="Calibri" charset="0"/>
                      </a:endParaRPr>
                    </a:p>
                  </a:txBody>
                  <a:tcPr marL="50800" marR="50800" marT="50800" marB="50800"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002858"/>
                    </a:solidFill>
                  </a:tcPr>
                </a:tc>
                <a:extLst>
                  <a:ext uri="{0D108BD9-81ED-4DB2-BD59-A6C34878D82A}">
                    <a16:rowId xmlns:a16="http://schemas.microsoft.com/office/drawing/2014/main" val="10000"/>
                  </a:ext>
                </a:extLst>
              </a:tr>
              <a:tr h="537635">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Away from the buckling zone</a:t>
                      </a:r>
                      <a:endParaRPr lang="en-US" sz="1400" dirty="0">
                        <a:latin typeface="Calibri" charset="0"/>
                        <a:ea typeface="Calibri" charset="0"/>
                        <a:cs typeface="Calibri" charset="0"/>
                      </a:endParaRPr>
                    </a:p>
                  </a:txBody>
                  <a:tcPr marL="50800" marR="50800" marT="50800" marB="50800"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tcPr>
                </a:tc>
                <a:tc>
                  <a:txBody>
                    <a:bodyPr/>
                    <a:lstStyle/>
                    <a:p>
                      <a:pPr marL="0" indent="0" algn="l">
                        <a:buNone/>
                      </a:pPr>
                      <a:r>
                        <a:rPr lang="en-US" sz="1400" b="1" dirty="0">
                          <a:solidFill>
                            <a:srgbClr val="2C7A2C"/>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50800" marR="50800" marT="50800" marB="50800"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Predictor alone</a:t>
                      </a:r>
                      <a:endParaRPr lang="en-US" sz="1400" dirty="0">
                        <a:latin typeface="Calibri" charset="0"/>
                        <a:ea typeface="Calibri" charset="0"/>
                        <a:cs typeface="Calibri" charset="0"/>
                      </a:endParaRPr>
                    </a:p>
                  </a:txBody>
                  <a:tcPr marL="50800" marR="50800" marT="50800" marB="50800"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tcPr>
                </a:tc>
                <a:extLst>
                  <a:ext uri="{0D108BD9-81ED-4DB2-BD59-A6C34878D82A}">
                    <a16:rowId xmlns:a16="http://schemas.microsoft.com/office/drawing/2014/main" val="10001"/>
                  </a:ext>
                </a:extLst>
              </a:tr>
              <a:tr h="537635">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Near the buckling zone</a:t>
                      </a:r>
                      <a:endParaRPr lang="en-US" sz="1400" dirty="0">
                        <a:latin typeface="Calibri" charset="0"/>
                        <a:ea typeface="Calibri" charset="0"/>
                        <a:cs typeface="Calibri" charset="0"/>
                      </a:endParaRPr>
                    </a:p>
                  </a:txBody>
                  <a:tcPr marL="50800" marR="50800" marT="50800" marB="50800"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tcPr>
                </a:tc>
                <a:tc>
                  <a:txBody>
                    <a:bodyPr/>
                    <a:lstStyle/>
                    <a:p>
                      <a:pPr marL="0" indent="0" algn="l">
                        <a:buNone/>
                      </a:pPr>
                      <a:r>
                        <a:rPr lang="en-US" sz="1400" b="1" dirty="0">
                          <a:solidFill>
                            <a:srgbClr val="B37F00"/>
                          </a:solidFill>
                          <a:latin typeface="Calibri" pitchFamily="34" charset="0"/>
                          <a:ea typeface="Calibri" pitchFamily="34" charset="-122"/>
                          <a:cs typeface="Calibri" pitchFamily="34" charset="-120"/>
                        </a:rPr>
                        <a:t>Medium</a:t>
                      </a:r>
                      <a:endParaRPr lang="en-US" sz="1400" dirty="0">
                        <a:latin typeface="Calibri" charset="0"/>
                        <a:ea typeface="Calibri" charset="0"/>
                        <a:cs typeface="Calibri" charset="0"/>
                      </a:endParaRPr>
                    </a:p>
                  </a:txBody>
                  <a:tcPr marL="50800" marR="50800" marT="50800" marB="50800"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Best to confirm with Simulator</a:t>
                      </a:r>
                      <a:endParaRPr lang="en-US" sz="1400" dirty="0">
                        <a:latin typeface="Calibri" charset="0"/>
                        <a:ea typeface="Calibri" charset="0"/>
                        <a:cs typeface="Calibri" charset="0"/>
                      </a:endParaRPr>
                    </a:p>
                  </a:txBody>
                  <a:tcPr marL="50800" marR="50800" marT="50800" marB="50800"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tcPr>
                </a:tc>
                <a:extLst>
                  <a:ext uri="{0D108BD9-81ED-4DB2-BD59-A6C34878D82A}">
                    <a16:rowId xmlns:a16="http://schemas.microsoft.com/office/drawing/2014/main" val="10002"/>
                  </a:ext>
                </a:extLst>
              </a:tr>
              <a:tr h="537635">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Buckling bifurcation zone</a:t>
                      </a:r>
                      <a:endParaRPr lang="en-US" sz="1400" dirty="0">
                        <a:latin typeface="Calibri" charset="0"/>
                        <a:ea typeface="Calibri" charset="0"/>
                        <a:cs typeface="Calibri" charset="0"/>
                      </a:endParaRPr>
                    </a:p>
                  </a:txBody>
                  <a:tcPr marL="50800" marR="50800" marT="50800" marB="50800"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tcPr>
                </a:tc>
                <a:tc>
                  <a:txBody>
                    <a:bodyPr/>
                    <a:lstStyle/>
                    <a:p>
                      <a:pPr marL="0" indent="0" algn="l">
                        <a:buNone/>
                      </a:pPr>
                      <a:r>
                        <a:rPr lang="en-US" sz="1400" b="1" dirty="0">
                          <a:solidFill>
                            <a:srgbClr val="B02A2A"/>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marL="50800" marR="50800" marT="50800" marB="50800"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Use only for ranking; let simulator decide</a:t>
                      </a:r>
                      <a:endParaRPr lang="en-US" sz="1400" dirty="0">
                        <a:latin typeface="Calibri" charset="0"/>
                        <a:ea typeface="Calibri" charset="0"/>
                        <a:cs typeface="Calibri" charset="0"/>
                      </a:endParaRPr>
                    </a:p>
                  </a:txBody>
                  <a:tcPr marL="50800" marR="50800" marT="50800" marB="50800"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3"/>
          <p:cNvSpPr/>
          <p:nvPr/>
        </p:nvSpPr>
        <p:spPr>
          <a:xfrm>
            <a:off x="8778240" y="3777110"/>
            <a:ext cx="3194020" cy="1737998"/>
          </a:xfrm>
          <a:prstGeom prst="rect">
            <a:avLst/>
          </a:prstGeom>
          <a:noFill/>
          <a:ln/>
        </p:spPr>
        <p:txBody>
          <a:bodyPr wrap="square" lIns="0" tIns="0" rIns="0" bIns="0" rtlCol="0" anchor="t"/>
          <a:lstStyle/>
          <a:p>
            <a:pPr marL="228600" indent="-228600">
              <a:buSzPct val="100000"/>
              <a:buChar char="▪"/>
            </a:pPr>
            <a:r>
              <a:rPr lang="en-US" sz="2000" dirty="0">
                <a:solidFill>
                  <a:srgbClr val="1A1A2E"/>
                </a:solidFill>
                <a:latin typeface="Calibri" pitchFamily="34" charset="0"/>
                <a:ea typeface="Calibri" pitchFamily="34" charset="-122"/>
                <a:cs typeface="Calibri" pitchFamily="34" charset="-120"/>
              </a:rPr>
              <a:t>Predictor is ~10 million times faster</a:t>
            </a:r>
          </a:p>
          <a:p>
            <a:pPr marL="228600" indent="-228600">
              <a:buSzPct val="100000"/>
              <a:buChar char="▪"/>
            </a:pPr>
            <a:r>
              <a:rPr lang="en-US" sz="2000" dirty="0">
                <a:solidFill>
                  <a:srgbClr val="1A1A2E"/>
                </a:solidFill>
                <a:latin typeface="Calibri" pitchFamily="34" charset="0"/>
                <a:ea typeface="Calibri" pitchFamily="34" charset="-122"/>
                <a:cs typeface="Calibri" pitchFamily="34" charset="-120"/>
              </a:rPr>
              <a:t>Predictor explores, simulator confirms</a:t>
            </a:r>
          </a:p>
          <a:p>
            <a:pPr marL="228600" indent="-228600">
              <a:buSzPct val="100000"/>
              <a:buChar char="▪"/>
            </a:pPr>
            <a:r>
              <a:rPr lang="en-US" sz="2000" dirty="0">
                <a:solidFill>
                  <a:srgbClr val="FF0000"/>
                </a:solidFill>
                <a:latin typeface="Calibri" pitchFamily="34" charset="0"/>
                <a:ea typeface="Calibri" pitchFamily="34" charset="-122"/>
                <a:cs typeface="Calibri" pitchFamily="34" charset="-120"/>
              </a:rPr>
              <a:t>Do not compete</a:t>
            </a:r>
            <a:endParaRPr lang="en-US" sz="2000" dirty="0">
              <a:solidFill>
                <a:srgbClr val="FF0000"/>
              </a:solidFill>
            </a:endParaRPr>
          </a:p>
        </p:txBody>
      </p:sp>
      <p:pic>
        <p:nvPicPr>
          <p:cNvPr id="6" name="Image 1" descr="/Users/I772771/jc/poly/slides/defense_assets/figs/fig_stress_vs_theta.png">
            <a:extLst>
              <a:ext uri="{FF2B5EF4-FFF2-40B4-BE49-F238E27FC236}">
                <a16:creationId xmlns:a16="http://schemas.microsoft.com/office/drawing/2014/main" id="{51278FD5-7346-21D5-3990-4996AD7A9D63}"/>
              </a:ext>
            </a:extLst>
          </p:cNvPr>
          <p:cNvPicPr>
            <a:picLocks noChangeAspect="1"/>
          </p:cNvPicPr>
          <p:nvPr/>
        </p:nvPicPr>
        <p:blipFill>
          <a:blip r:embed="rId4"/>
          <a:stretch>
            <a:fillRect/>
          </a:stretch>
        </p:blipFill>
        <p:spPr>
          <a:xfrm>
            <a:off x="487679" y="949640"/>
            <a:ext cx="5861061" cy="300567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002858"/>
        </a:solidFill>
        <a:effectLst/>
      </p:bgPr>
    </p:bg>
    <p:spTree>
      <p:nvGrpSpPr>
        <p:cNvPr id="1" name=""/>
        <p:cNvGrpSpPr/>
        <p:nvPr/>
      </p:nvGrpSpPr>
      <p:grpSpPr>
        <a:xfrm>
          <a:off x="0" y="0"/>
          <a:ext cx="0" cy="0"/>
          <a:chOff x="0" y="0"/>
          <a:chExt cx="0" cy="0"/>
        </a:xfrm>
      </p:grpSpPr>
      <p:pic>
        <p:nvPicPr>
          <p:cNvPr id="2" name="Image 0" descr="/Users/I772771/jc/poly/slides/brand/uvic_diag_navy.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651760"/>
            <a:ext cx="7315200" cy="100584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4" name="Text 1"/>
          <p:cNvSpPr/>
          <p:nvPr/>
        </p:nvSpPr>
        <p:spPr>
          <a:xfrm>
            <a:off x="841248" y="3749040"/>
            <a:ext cx="7315200" cy="457200"/>
          </a:xfrm>
          <a:prstGeom prst="rect">
            <a:avLst/>
          </a:prstGeom>
          <a:noFill/>
          <a:ln/>
        </p:spPr>
        <p:txBody>
          <a:bodyPr wrap="square" lIns="0" tIns="0" rIns="0" bIns="0" rtlCol="0" anchor="ctr"/>
          <a:lstStyle/>
          <a:p>
            <a:pPr marL="0" indent="0">
              <a:buNone/>
            </a:pPr>
            <a:r>
              <a:rPr lang="en-US" sz="1800" dirty="0">
                <a:solidFill>
                  <a:srgbClr val="FDB813"/>
                </a:solidFill>
                <a:latin typeface="Calibri" pitchFamily="34" charset="0"/>
                <a:ea typeface="Calibri" pitchFamily="34" charset="-122"/>
                <a:cs typeface="Calibri" pitchFamily="34" charset="-120"/>
              </a:rPr>
              <a:t>Questions welcome.</a:t>
            </a:r>
            <a:endParaRPr lang="en-US" sz="1800" dirty="0"/>
          </a:p>
        </p:txBody>
      </p:sp>
      <p:sp>
        <p:nvSpPr>
          <p:cNvPr id="5" name="Text 2"/>
          <p:cNvSpPr/>
          <p:nvPr/>
        </p:nvSpPr>
        <p:spPr>
          <a:xfrm>
            <a:off x="841248" y="4663440"/>
            <a:ext cx="8229600" cy="914400"/>
          </a:xfrm>
          <a:prstGeom prst="rect">
            <a:avLst/>
          </a:prstGeom>
          <a:noFill/>
          <a:ln/>
        </p:spPr>
        <p:txBody>
          <a:bodyPr wrap="square" lIns="0" tIns="0" rIns="0" bIns="0" rtlCol="0" anchor="t"/>
          <a:lstStyle/>
          <a:p>
            <a:pPr marL="0" indent="0">
              <a:spcAft>
                <a:spcPts val="400"/>
              </a:spcAft>
              <a:buNone/>
            </a:pPr>
            <a:r>
              <a:rPr lang="en-US" sz="1500" b="1" dirty="0">
                <a:solidFill>
                  <a:srgbClr val="FFFFFF"/>
                </a:solidFill>
                <a:latin typeface="Calibri" pitchFamily="34" charset="0"/>
                <a:ea typeface="Calibri" pitchFamily="34" charset="-122"/>
                <a:cs typeface="Calibri" pitchFamily="34" charset="-120"/>
              </a:rPr>
              <a:t>Jiacheng Zhao</a:t>
            </a:r>
            <a:endParaRPr lang="en-US" sz="1500" dirty="0"/>
          </a:p>
          <a:p>
            <a:pPr marL="0" indent="0">
              <a:spcAft>
                <a:spcPts val="400"/>
              </a:spcAft>
              <a:buNone/>
            </a:pPr>
            <a:r>
              <a:rPr lang="en-US" sz="1300" dirty="0">
                <a:solidFill>
                  <a:srgbClr val="AEC3DC"/>
                </a:solidFill>
                <a:latin typeface="Calibri" pitchFamily="34" charset="0"/>
                <a:ea typeface="Calibri" pitchFamily="34" charset="-122"/>
                <a:cs typeface="Calibri" pitchFamily="34" charset="-120"/>
              </a:rPr>
              <a:t>Supervisor: Dr. Teseo Schneider · University of Victoria</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cf7ac0a-4681-4823-ab0b-04ef02c5f873}" enabled="1" method="Standard" siteId="{42f7676c-f455-423c-82f6-dc2d99791af7}" contentBits="0" removed="0"/>
</clbl:labelList>
</file>

<file path=docProps/app.xml><?xml version="1.0" encoding="utf-8"?>
<Properties xmlns="http://schemas.openxmlformats.org/officeDocument/2006/extended-properties" xmlns:vt="http://schemas.openxmlformats.org/officeDocument/2006/docPropsVTypes">
  <TotalTime>377</TotalTime>
  <Words>3285</Words>
  <Application>Microsoft Macintosh PowerPoint</Application>
  <PresentationFormat>Widescreen</PresentationFormat>
  <Paragraphs>298</Paragraphs>
  <Slides>24</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Zhao, Jiacheng</cp:lastModifiedBy>
  <cp:revision>413</cp:revision>
  <dcterms:created xsi:type="dcterms:W3CDTF">2026-08-12T16:39:26Z</dcterms:created>
  <dcterms:modified xsi:type="dcterms:W3CDTF">2026-08-12T23:11:26Z</dcterms:modified>
</cp:coreProperties>
</file>